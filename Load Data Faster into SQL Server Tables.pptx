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85" r:id="rId2"/>
    <p:sldId id="371" r:id="rId3"/>
    <p:sldId id="378" r:id="rId4"/>
    <p:sldId id="388" r:id="rId5"/>
    <p:sldId id="389" r:id="rId6"/>
    <p:sldId id="394" r:id="rId7"/>
    <p:sldId id="446" r:id="rId8"/>
    <p:sldId id="396" r:id="rId9"/>
    <p:sldId id="398" r:id="rId10"/>
    <p:sldId id="408" r:id="rId11"/>
    <p:sldId id="416" r:id="rId12"/>
    <p:sldId id="384" r:id="rId13"/>
    <p:sldId id="417" r:id="rId14"/>
    <p:sldId id="380" r:id="rId15"/>
    <p:sldId id="375" r:id="rId16"/>
    <p:sldId id="376" r:id="rId17"/>
    <p:sldId id="412" r:id="rId18"/>
    <p:sldId id="404" r:id="rId19"/>
    <p:sldId id="407" r:id="rId20"/>
    <p:sldId id="424" r:id="rId21"/>
    <p:sldId id="438" r:id="rId22"/>
    <p:sldId id="448" r:id="rId23"/>
    <p:sldId id="409" r:id="rId24"/>
    <p:sldId id="439" r:id="rId25"/>
    <p:sldId id="418" r:id="rId26"/>
    <p:sldId id="395" r:id="rId27"/>
    <p:sldId id="397" r:id="rId28"/>
    <p:sldId id="430" r:id="rId29"/>
    <p:sldId id="431" r:id="rId30"/>
    <p:sldId id="432" r:id="rId31"/>
    <p:sldId id="428" r:id="rId32"/>
    <p:sldId id="425" r:id="rId33"/>
    <p:sldId id="440" r:id="rId34"/>
    <p:sldId id="426" r:id="rId35"/>
    <p:sldId id="433" r:id="rId36"/>
    <p:sldId id="427" r:id="rId37"/>
    <p:sldId id="441" r:id="rId38"/>
    <p:sldId id="413" r:id="rId39"/>
    <p:sldId id="421" r:id="rId40"/>
    <p:sldId id="419" r:id="rId41"/>
    <p:sldId id="420" r:id="rId42"/>
    <p:sldId id="422" r:id="rId43"/>
    <p:sldId id="442" r:id="rId44"/>
    <p:sldId id="450" r:id="rId45"/>
    <p:sldId id="414" r:id="rId46"/>
    <p:sldId id="445" r:id="rId47"/>
    <p:sldId id="399" r:id="rId48"/>
    <p:sldId id="449" r:id="rId49"/>
    <p:sldId id="411" r:id="rId50"/>
    <p:sldId id="434" r:id="rId51"/>
    <p:sldId id="443" r:id="rId52"/>
    <p:sldId id="444" r:id="rId53"/>
    <p:sldId id="447" r:id="rId54"/>
    <p:sldId id="437" r:id="rId55"/>
    <p:sldId id="436" r:id="rId56"/>
    <p:sldId id="262" r:id="rId57"/>
    <p:sldId id="381" r:id="rId58"/>
    <p:sldId id="406" r:id="rId59"/>
    <p:sldId id="423" r:id="rId60"/>
    <p:sldId id="391" r:id="rId61"/>
    <p:sldId id="392" r:id="rId62"/>
    <p:sldId id="39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snapToGrid="0">
      <p:cViewPr varScale="1">
        <p:scale>
          <a:sx n="97" d="100"/>
          <a:sy n="97" d="100"/>
        </p:scale>
        <p:origin x="112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31ABE4-4F88-439C-A33C-BD44BD1887E4}" type="datetimeFigureOut">
              <a:rPr lang="en-US" smtClean="0"/>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76A2-EEAC-41E7-966F-112C32910E08}" type="slidenum">
              <a:rPr lang="en-US" smtClean="0"/>
              <a:t>‹#›</a:t>
            </a:fld>
            <a:endParaRPr lang="en-US"/>
          </a:p>
        </p:txBody>
      </p:sp>
    </p:spTree>
    <p:extLst>
      <p:ext uri="{BB962C8B-B14F-4D97-AF65-F5344CB8AC3E}">
        <p14:creationId xmlns:p14="http://schemas.microsoft.com/office/powerpoint/2010/main" val="2315207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0576A2-EEAC-41E7-966F-112C32910E08}" type="slidenum">
              <a:rPr lang="en-US" smtClean="0"/>
              <a:t>1</a:t>
            </a:fld>
            <a:endParaRPr lang="en-US"/>
          </a:p>
        </p:txBody>
      </p:sp>
    </p:spTree>
    <p:extLst>
      <p:ext uri="{BB962C8B-B14F-4D97-AF65-F5344CB8AC3E}">
        <p14:creationId xmlns:p14="http://schemas.microsoft.com/office/powerpoint/2010/main" val="1295666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0576A2-EEAC-41E7-966F-112C32910E08}" type="slidenum">
              <a:rPr lang="en-US" smtClean="0"/>
              <a:t>26</a:t>
            </a:fld>
            <a:endParaRPr lang="en-US"/>
          </a:p>
        </p:txBody>
      </p:sp>
    </p:spTree>
    <p:extLst>
      <p:ext uri="{BB962C8B-B14F-4D97-AF65-F5344CB8AC3E}">
        <p14:creationId xmlns:p14="http://schemas.microsoft.com/office/powerpoint/2010/main" val="3468853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0576A2-EEAC-41E7-966F-112C32910E08}" type="slidenum">
              <a:rPr lang="en-US" smtClean="0"/>
              <a:t>54</a:t>
            </a:fld>
            <a:endParaRPr lang="en-US"/>
          </a:p>
        </p:txBody>
      </p:sp>
    </p:spTree>
    <p:extLst>
      <p:ext uri="{BB962C8B-B14F-4D97-AF65-F5344CB8AC3E}">
        <p14:creationId xmlns:p14="http://schemas.microsoft.com/office/powerpoint/2010/main" val="59974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CE876-0910-779E-2410-E05AF02AD0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5D865C-274A-37AF-81B5-6145D0A2C4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B0309B-3A6E-6E55-9081-85B51C151C77}"/>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5" name="Footer Placeholder 4">
            <a:extLst>
              <a:ext uri="{FF2B5EF4-FFF2-40B4-BE49-F238E27FC236}">
                <a16:creationId xmlns:a16="http://schemas.microsoft.com/office/drawing/2014/main" id="{48D55C2D-7872-FA67-C722-BD6D633536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26324-808B-E01B-D25E-6016D7BBC924}"/>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4185122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56A7-C430-314F-1278-1F9DDEBA9F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98BEEF-4CCA-6243-42B9-A16CEEF976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51B89-8DDF-0400-EBA5-51EBC8059D00}"/>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5" name="Footer Placeholder 4">
            <a:extLst>
              <a:ext uri="{FF2B5EF4-FFF2-40B4-BE49-F238E27FC236}">
                <a16:creationId xmlns:a16="http://schemas.microsoft.com/office/drawing/2014/main" id="{748944A6-F790-D569-E95A-D110A5C9A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E71EA-82A6-A7F4-E71C-7EAD65D4F499}"/>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2401822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5660-D865-982E-8DD1-E650857755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EF26BA-1C66-1724-CE80-B3B49501E3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034C4E-EA85-4CDB-C878-005BA625A9D9}"/>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5" name="Footer Placeholder 4">
            <a:extLst>
              <a:ext uri="{FF2B5EF4-FFF2-40B4-BE49-F238E27FC236}">
                <a16:creationId xmlns:a16="http://schemas.microsoft.com/office/drawing/2014/main" id="{69A86689-5706-4FBF-A78D-307090693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A06AF4-8C7C-26F8-3D77-F8B105D2F781}"/>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290582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17164-370E-19F2-FB1B-013E8FD4A7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9B01F1-B7FA-8D77-0FCC-9884E25FBF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FE62AA-4ECD-CA6A-E203-BED8E94AB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35362E-329F-5BAA-7261-924B4BE2D57D}"/>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6" name="Footer Placeholder 5">
            <a:extLst>
              <a:ext uri="{FF2B5EF4-FFF2-40B4-BE49-F238E27FC236}">
                <a16:creationId xmlns:a16="http://schemas.microsoft.com/office/drawing/2014/main" id="{88CE53C3-66F5-5480-307D-E726A39FD0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42CBC2-121D-6A97-B3F6-1F716A9351CB}"/>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925210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4E85-7322-BBF6-804A-B82C0BC277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098CC8-D4CC-1BB0-4E12-9FEA79112B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16CA53-BB93-5BC7-C2CB-E8B1AF4FB0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5DF87C-7D10-F791-A53D-947E31D231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91FC8C-8C0F-F97E-ABFF-916E23AA28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81C700-E563-BEDF-E2B1-3B56AEDDDA6F}"/>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8" name="Footer Placeholder 7">
            <a:extLst>
              <a:ext uri="{FF2B5EF4-FFF2-40B4-BE49-F238E27FC236}">
                <a16:creationId xmlns:a16="http://schemas.microsoft.com/office/drawing/2014/main" id="{CAE994FD-EDD7-5685-1DC1-59AFE4FD7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E93536-832C-3F1B-8009-BFCC8CF6F170}"/>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3841600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947A4-8C6A-2361-F31E-CC804E11D1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D7C916-914B-8A26-238B-C1D8A1BA21A0}"/>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4" name="Footer Placeholder 3">
            <a:extLst>
              <a:ext uri="{FF2B5EF4-FFF2-40B4-BE49-F238E27FC236}">
                <a16:creationId xmlns:a16="http://schemas.microsoft.com/office/drawing/2014/main" id="{47AA061F-CF9A-7EFE-E5FE-364E9B3EFF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C5C131-7633-C77D-512A-E2450DDA51FB}"/>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2184813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FD2C73-F94E-F7EE-C639-6886987409E3}"/>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3" name="Footer Placeholder 2">
            <a:extLst>
              <a:ext uri="{FF2B5EF4-FFF2-40B4-BE49-F238E27FC236}">
                <a16:creationId xmlns:a16="http://schemas.microsoft.com/office/drawing/2014/main" id="{2245A9A8-3A69-10B8-2940-CBE598ACBB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DB0BBF-B1FD-0B1A-75C2-08D87A24C567}"/>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188047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F516-26D5-781D-EA79-11CBC3E95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9B2E7E-9BFE-FB34-A96D-628729EF41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FB4B1D-71B3-8B48-8410-3E3664AFF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6598EA-554D-BB70-24DF-45AD480DB166}"/>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6" name="Footer Placeholder 5">
            <a:extLst>
              <a:ext uri="{FF2B5EF4-FFF2-40B4-BE49-F238E27FC236}">
                <a16:creationId xmlns:a16="http://schemas.microsoft.com/office/drawing/2014/main" id="{866CF7B7-C976-1293-95C5-0D4DA8B385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682A53-DBA4-A317-9417-64FD1D962DE7}"/>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1516330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1DD7B-89B3-243A-E5EE-20FE0DF31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64382F-47E1-745B-1105-2B3439C9E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44B18E-3257-CA39-58A2-3524CD803D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D0E73-1D6F-4D0F-B780-C352293E0393}"/>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6" name="Footer Placeholder 5">
            <a:extLst>
              <a:ext uri="{FF2B5EF4-FFF2-40B4-BE49-F238E27FC236}">
                <a16:creationId xmlns:a16="http://schemas.microsoft.com/office/drawing/2014/main" id="{2C27470F-573F-60E4-5D22-A8DC4C57D9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64BAD8-A166-F23A-CE83-CDF4A3D93A37}"/>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2599684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8CDE9-B759-6610-F4C5-47A9253E02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A7ED9E-B3B0-1FD3-DB25-B259138D99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732569-D0F5-3E11-7E14-41BE8E0976CF}"/>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5" name="Footer Placeholder 4">
            <a:extLst>
              <a:ext uri="{FF2B5EF4-FFF2-40B4-BE49-F238E27FC236}">
                <a16:creationId xmlns:a16="http://schemas.microsoft.com/office/drawing/2014/main" id="{8FEE3185-389F-8F26-E917-9343D4E7D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B513F8-3B30-584C-06A6-7933F3F9E4B0}"/>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64496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79862-5AD2-203B-E173-8CACA37152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B043D2-280B-0F5C-4394-AF4BA081AC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13F6B-A885-946A-369C-F9CB108C0C56}"/>
              </a:ext>
            </a:extLst>
          </p:cNvPr>
          <p:cNvSpPr>
            <a:spLocks noGrp="1"/>
          </p:cNvSpPr>
          <p:nvPr>
            <p:ph type="dt" sz="half" idx="10"/>
          </p:nvPr>
        </p:nvSpPr>
        <p:spPr/>
        <p:txBody>
          <a:bodyPr/>
          <a:lstStyle/>
          <a:p>
            <a:fld id="{9F8A58B4-71A2-4453-A103-3C9DC4A8C0DA}" type="datetimeFigureOut">
              <a:rPr lang="en-US" smtClean="0"/>
              <a:t>5/6/2025</a:t>
            </a:fld>
            <a:endParaRPr lang="en-US"/>
          </a:p>
        </p:txBody>
      </p:sp>
      <p:sp>
        <p:nvSpPr>
          <p:cNvPr id="5" name="Footer Placeholder 4">
            <a:extLst>
              <a:ext uri="{FF2B5EF4-FFF2-40B4-BE49-F238E27FC236}">
                <a16:creationId xmlns:a16="http://schemas.microsoft.com/office/drawing/2014/main" id="{79CFD9F5-C6D9-5A4C-6FC1-B691F1EB02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4686C-3792-F015-23AD-39F6020E4599}"/>
              </a:ext>
            </a:extLst>
          </p:cNvPr>
          <p:cNvSpPr>
            <a:spLocks noGrp="1"/>
          </p:cNvSpPr>
          <p:nvPr>
            <p:ph type="sldNum" sz="quarter" idx="12"/>
          </p:nvPr>
        </p:nvSpPr>
        <p:spPr/>
        <p:txBody>
          <a:bodyPr/>
          <a:lstStyle/>
          <a:p>
            <a:fld id="{9AC934A3-914D-4566-956D-B2987F3758F8}" type="slidenum">
              <a:rPr lang="en-US" smtClean="0"/>
              <a:t>‹#›</a:t>
            </a:fld>
            <a:endParaRPr lang="en-US"/>
          </a:p>
        </p:txBody>
      </p:sp>
    </p:spTree>
    <p:extLst>
      <p:ext uri="{BB962C8B-B14F-4D97-AF65-F5344CB8AC3E}">
        <p14:creationId xmlns:p14="http://schemas.microsoft.com/office/powerpoint/2010/main" val="2932230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225EB1-DAB0-41E6-7935-6FBFF5323D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94B8B1-7202-230B-FFA0-38E557E0DC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15CDBC-E904-2A85-6F33-1D8D94802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8A58B4-71A2-4453-A103-3C9DC4A8C0DA}" type="datetimeFigureOut">
              <a:rPr lang="en-US" smtClean="0"/>
              <a:t>5/6/2025</a:t>
            </a:fld>
            <a:endParaRPr lang="en-US"/>
          </a:p>
        </p:txBody>
      </p:sp>
      <p:sp>
        <p:nvSpPr>
          <p:cNvPr id="5" name="Footer Placeholder 4">
            <a:extLst>
              <a:ext uri="{FF2B5EF4-FFF2-40B4-BE49-F238E27FC236}">
                <a16:creationId xmlns:a16="http://schemas.microsoft.com/office/drawing/2014/main" id="{0ACF7E98-C33D-88DC-D43E-D1EF62FE4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4CDC66-5F27-53FE-153F-7B4D920BD1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C934A3-914D-4566-956D-B2987F3758F8}" type="slidenum">
              <a:rPr lang="en-US" smtClean="0"/>
              <a:t>‹#›</a:t>
            </a:fld>
            <a:endParaRPr lang="en-US"/>
          </a:p>
        </p:txBody>
      </p:sp>
    </p:spTree>
    <p:extLst>
      <p:ext uri="{BB962C8B-B14F-4D97-AF65-F5344CB8AC3E}">
        <p14:creationId xmlns:p14="http://schemas.microsoft.com/office/powerpoint/2010/main" val="1544402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linkedin.com/in/haripriya-naidu1215/" TargetMode="External"/><Relationship Id="rId7" Type="http://schemas.openxmlformats.org/officeDocument/2006/relationships/image" Target="../media/image3.png"/><Relationship Id="rId2" Type="http://schemas.openxmlformats.org/officeDocument/2006/relationships/hyperlink" Target="gohigh.substack.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github.com/haripriyasb/LoadDataFast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gohigh.substack.com/p/insert-with-tablock-hint-faster?r=vmpc0" TargetMode="External"/><Relationship Id="rId7" Type="http://schemas.openxmlformats.org/officeDocument/2006/relationships/hyperlink" Target="https://learn.microsoft.com/en-us/previous-versions/sql/sql-server-2008-r2/ms191244(v=sql.105)" TargetMode="External"/><Relationship Id="rId2" Type="http://schemas.openxmlformats.org/officeDocument/2006/relationships/hyperlink" Target="https://learn.microsoft.com/en-us/previous-versions/sql/sql-server-2008/dd425070(v=sql.100)?redirectedfrom=MSDN" TargetMode="External"/><Relationship Id="rId1" Type="http://schemas.openxmlformats.org/officeDocument/2006/relationships/slideLayout" Target="../slideLayouts/slideLayout2.xml"/><Relationship Id="rId6" Type="http://schemas.openxmlformats.org/officeDocument/2006/relationships/hyperlink" Target="https://learn.microsoft.com/en-us/previous-versions/sql/sql-server-2008-r2/ms190203(v=sql.105)" TargetMode="External"/><Relationship Id="rId5" Type="http://schemas.openxmlformats.org/officeDocument/2006/relationships/hyperlink" Target="https://learn.microsoft.com/en-us/sql/t-sql/statements/insert-transact-sql?view=sql-server-ver16#using-insert-intoselect-to-bulk-import-data-with-minimal-logging-and-parallelism" TargetMode="External"/><Relationship Id="rId4" Type="http://schemas.openxmlformats.org/officeDocument/2006/relationships/hyperlink" Target="https://gohigh.substack.com/p/insert-with-tablock-hint-tables-with?r=vmpc0"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linkedin.com/in/haripriya-naidu1215/" TargetMode="External"/><Relationship Id="rId7" Type="http://schemas.openxmlformats.org/officeDocument/2006/relationships/image" Target="../media/image3.png"/><Relationship Id="rId2" Type="http://schemas.openxmlformats.org/officeDocument/2006/relationships/hyperlink" Target="gohigh.substack.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github.com/haripriyasb/LoadDataFaster"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4CFB2-03F0-59D4-68A3-D995FF875CED}"/>
              </a:ext>
            </a:extLst>
          </p:cNvPr>
          <p:cNvSpPr>
            <a:spLocks noGrp="1"/>
          </p:cNvSpPr>
          <p:nvPr>
            <p:ph type="ctrTitle"/>
          </p:nvPr>
        </p:nvSpPr>
        <p:spPr/>
        <p:txBody>
          <a:bodyPr/>
          <a:lstStyle/>
          <a:p>
            <a:r>
              <a:rPr lang="en-US" b="1" dirty="0">
                <a:solidFill>
                  <a:schemeClr val="accent2">
                    <a:lumMod val="75000"/>
                  </a:schemeClr>
                </a:solidFill>
              </a:rPr>
              <a:t>Load Data Faster into SQL Server Tables</a:t>
            </a:r>
          </a:p>
        </p:txBody>
      </p:sp>
      <p:sp>
        <p:nvSpPr>
          <p:cNvPr id="3" name="Subtitle 2">
            <a:extLst>
              <a:ext uri="{FF2B5EF4-FFF2-40B4-BE49-F238E27FC236}">
                <a16:creationId xmlns:a16="http://schemas.microsoft.com/office/drawing/2014/main" id="{3E6D755E-16CE-A564-3A70-0D1345FA99DE}"/>
              </a:ext>
            </a:extLst>
          </p:cNvPr>
          <p:cNvSpPr>
            <a:spLocks noGrp="1"/>
          </p:cNvSpPr>
          <p:nvPr>
            <p:ph type="subTitle" idx="1"/>
          </p:nvPr>
        </p:nvSpPr>
        <p:spPr>
          <a:xfrm>
            <a:off x="7272670" y="4907756"/>
            <a:ext cx="4724400" cy="1655762"/>
          </a:xfrm>
        </p:spPr>
        <p:txBody>
          <a:bodyPr>
            <a:normAutofit lnSpcReduction="10000"/>
          </a:bodyPr>
          <a:lstStyle/>
          <a:p>
            <a:r>
              <a:rPr lang="en-US" sz="2400" b="1" dirty="0">
                <a:solidFill>
                  <a:schemeClr val="accent2">
                    <a:lumMod val="75000"/>
                    <a:alpha val="80000"/>
                  </a:schemeClr>
                </a:solidFill>
              </a:rPr>
              <a:t>Haripriya Naidu</a:t>
            </a:r>
          </a:p>
          <a:p>
            <a:r>
              <a:rPr lang="en-US" sz="2400" b="1" dirty="0">
                <a:solidFill>
                  <a:schemeClr val="accent2">
                    <a:lumMod val="75000"/>
                    <a:alpha val="80000"/>
                  </a:schemeClr>
                </a:solidFill>
              </a:rPr>
              <a:t>She/Her</a:t>
            </a:r>
          </a:p>
          <a:p>
            <a:r>
              <a:rPr lang="en-US" sz="2400" b="1" dirty="0">
                <a:solidFill>
                  <a:schemeClr val="accent2">
                    <a:lumMod val="75000"/>
                    <a:alpha val="80000"/>
                  </a:schemeClr>
                </a:solidFill>
              </a:rPr>
              <a:t>  Lead Database Administrator</a:t>
            </a:r>
          </a:p>
          <a:p>
            <a:r>
              <a:rPr lang="en-US" b="1" dirty="0">
                <a:solidFill>
                  <a:schemeClr val="accent2">
                    <a:lumMod val="75000"/>
                    <a:alpha val="80000"/>
                  </a:schemeClr>
                </a:solidFill>
              </a:rPr>
              <a:t>SQL Saturday NYC – 5/10/2025</a:t>
            </a:r>
            <a:endParaRPr lang="en-US" sz="2400" b="1" dirty="0">
              <a:solidFill>
                <a:schemeClr val="accent2">
                  <a:lumMod val="75000"/>
                  <a:alpha val="80000"/>
                </a:schemeClr>
              </a:solidFill>
            </a:endParaRPr>
          </a:p>
          <a:p>
            <a:endParaRPr lang="en-US" dirty="0"/>
          </a:p>
        </p:txBody>
      </p:sp>
    </p:spTree>
    <p:extLst>
      <p:ext uri="{BB962C8B-B14F-4D97-AF65-F5344CB8AC3E}">
        <p14:creationId xmlns:p14="http://schemas.microsoft.com/office/powerpoint/2010/main" val="3033205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3430C-962B-4A9F-2851-54EDFFB9E7D5}"/>
              </a:ext>
            </a:extLst>
          </p:cNvPr>
          <p:cNvSpPr>
            <a:spLocks noGrp="1"/>
          </p:cNvSpPr>
          <p:nvPr>
            <p:ph type="title"/>
          </p:nvPr>
        </p:nvSpPr>
        <p:spPr>
          <a:xfrm>
            <a:off x="472693" y="188394"/>
            <a:ext cx="10515600" cy="1325563"/>
          </a:xfrm>
        </p:spPr>
        <p:txBody>
          <a:bodyPr>
            <a:normAutofit/>
          </a:bodyPr>
          <a:lstStyle/>
          <a:p>
            <a:r>
              <a:rPr lang="en-US" sz="4800" b="1" dirty="0">
                <a:solidFill>
                  <a:schemeClr val="accent2">
                    <a:lumMod val="75000"/>
                  </a:schemeClr>
                </a:solidFill>
              </a:rPr>
              <a:t>Haripriya Naidu</a:t>
            </a:r>
          </a:p>
        </p:txBody>
      </p:sp>
      <p:sp>
        <p:nvSpPr>
          <p:cNvPr id="7" name="Content Placeholder 3">
            <a:extLst>
              <a:ext uri="{FF2B5EF4-FFF2-40B4-BE49-F238E27FC236}">
                <a16:creationId xmlns:a16="http://schemas.microsoft.com/office/drawing/2014/main" id="{EA6E8387-6FB7-7AE4-D6BF-FAA0BA1D3BA7}"/>
              </a:ext>
            </a:extLst>
          </p:cNvPr>
          <p:cNvSpPr>
            <a:spLocks noGrp="1"/>
          </p:cNvSpPr>
          <p:nvPr>
            <p:ph idx="1"/>
          </p:nvPr>
        </p:nvSpPr>
        <p:spPr>
          <a:xfrm>
            <a:off x="674631" y="1541412"/>
            <a:ext cx="10515600" cy="5158026"/>
          </a:xfrm>
        </p:spPr>
        <p:txBody>
          <a:bodyPr>
            <a:normAutofit/>
          </a:bodyPr>
          <a:lstStyle/>
          <a:p>
            <a:r>
              <a:rPr lang="en-US" sz="2400" dirty="0"/>
              <a:t>SQL Database Administrator</a:t>
            </a:r>
          </a:p>
          <a:p>
            <a:r>
              <a:rPr lang="en-US" sz="2400" dirty="0"/>
              <a:t>11 years</a:t>
            </a:r>
          </a:p>
          <a:p>
            <a:r>
              <a:rPr lang="en-US" sz="2400" dirty="0"/>
              <a:t>AWS Certified Solutions Architect</a:t>
            </a:r>
          </a:p>
          <a:p>
            <a:r>
              <a:rPr lang="en-US" sz="2400" dirty="0"/>
              <a:t>Performance Tuning</a:t>
            </a:r>
          </a:p>
          <a:p>
            <a:r>
              <a:rPr lang="en-US" sz="2400" dirty="0"/>
              <a:t>SQL Server Engine Internals</a:t>
            </a:r>
          </a:p>
          <a:p>
            <a:r>
              <a:rPr lang="en-US" sz="2400" dirty="0"/>
              <a:t>New Stars of Data 2024</a:t>
            </a:r>
          </a:p>
          <a:p>
            <a:pPr marL="457200" lvl="1" indent="0">
              <a:buNone/>
            </a:pPr>
            <a:endParaRPr lang="fr-FR" sz="3200" dirty="0">
              <a:solidFill>
                <a:schemeClr val="accent2">
                  <a:lumMod val="75000"/>
                </a:schemeClr>
              </a:solidFill>
            </a:endParaRPr>
          </a:p>
          <a:p>
            <a:pPr marL="457200" lvl="1" indent="0">
              <a:buNone/>
            </a:pPr>
            <a:endParaRPr lang="fr-FR" sz="3200" dirty="0">
              <a:solidFill>
                <a:schemeClr val="accent2">
                  <a:lumMod val="75000"/>
                </a:schemeClr>
              </a:solidFill>
            </a:endParaRPr>
          </a:p>
          <a:p>
            <a:endParaRPr lang="en-US" dirty="0"/>
          </a:p>
        </p:txBody>
      </p:sp>
      <p:sp>
        <p:nvSpPr>
          <p:cNvPr id="10" name="Content Placeholder 3">
            <a:extLst>
              <a:ext uri="{FF2B5EF4-FFF2-40B4-BE49-F238E27FC236}">
                <a16:creationId xmlns:a16="http://schemas.microsoft.com/office/drawing/2014/main" id="{7885B395-ADB0-6A67-B60B-A4009C657AF6}"/>
              </a:ext>
            </a:extLst>
          </p:cNvPr>
          <p:cNvSpPr txBox="1">
            <a:spLocks/>
          </p:cNvSpPr>
          <p:nvPr/>
        </p:nvSpPr>
        <p:spPr>
          <a:xfrm>
            <a:off x="1001769" y="3201552"/>
            <a:ext cx="8275841" cy="285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endParaRPr lang="en-US" dirty="0"/>
          </a:p>
        </p:txBody>
      </p:sp>
      <p:sp>
        <p:nvSpPr>
          <p:cNvPr id="11" name="Content Placeholder 3">
            <a:extLst>
              <a:ext uri="{FF2B5EF4-FFF2-40B4-BE49-F238E27FC236}">
                <a16:creationId xmlns:a16="http://schemas.microsoft.com/office/drawing/2014/main" id="{7EBDA102-8E26-B40E-41E8-B398909DF7A6}"/>
              </a:ext>
            </a:extLst>
          </p:cNvPr>
          <p:cNvSpPr txBox="1">
            <a:spLocks/>
          </p:cNvSpPr>
          <p:nvPr/>
        </p:nvSpPr>
        <p:spPr>
          <a:xfrm>
            <a:off x="1001769" y="3201552"/>
            <a:ext cx="8275841" cy="28590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0" lvl="1" indent="0">
              <a:spcBef>
                <a:spcPts val="1000"/>
              </a:spcBef>
              <a:buNone/>
            </a:pPr>
            <a:r>
              <a:rPr lang="fr-FR" sz="2800" dirty="0">
                <a:solidFill>
                  <a:schemeClr val="accent2">
                    <a:lumMod val="75000"/>
                  </a:schemeClr>
                </a:solidFill>
              </a:rPr>
              <a:t> </a:t>
            </a:r>
            <a:r>
              <a:rPr lang="fr-FR" sz="2800" dirty="0">
                <a:solidFill>
                  <a:schemeClr val="accent2"/>
                </a:solidFill>
                <a:latin typeface="+mj-lt"/>
                <a:ea typeface="+mj-ea"/>
                <a:cs typeface="+mj-cs"/>
                <a:hlinkClick r:id="rId2" action="ppaction://hlinkfile">
                  <a:extLst>
                    <a:ext uri="{A12FA001-AC4F-418D-AE19-62706E023703}">
                      <ahyp:hlinkClr xmlns:ahyp="http://schemas.microsoft.com/office/drawing/2018/hyperlinkcolor" val="tx"/>
                    </a:ext>
                  </a:extLst>
                </a:hlinkClick>
              </a:rPr>
              <a:t>gohigh.substack.com</a:t>
            </a:r>
            <a:endParaRPr lang="fr-FR" sz="2800" dirty="0">
              <a:solidFill>
                <a:schemeClr val="accent2"/>
              </a:solidFill>
              <a:latin typeface="+mj-lt"/>
              <a:ea typeface="+mj-ea"/>
              <a:cs typeface="+mj-cs"/>
            </a:endParaRPr>
          </a:p>
          <a:p>
            <a:pPr marL="0" lvl="1" indent="0">
              <a:spcBef>
                <a:spcPts val="1000"/>
              </a:spcBef>
              <a:buNone/>
            </a:pPr>
            <a:r>
              <a:rPr lang="fr-FR" sz="2800" dirty="0">
                <a:solidFill>
                  <a:schemeClr val="accent2"/>
                </a:solidFill>
                <a:latin typeface="+mj-lt"/>
                <a:ea typeface="+mj-ea"/>
                <a:cs typeface="+mj-cs"/>
              </a:rPr>
              <a:t> </a:t>
            </a:r>
            <a:r>
              <a:rPr lang="fr-FR" sz="2800" dirty="0">
                <a:solidFill>
                  <a:schemeClr val="accent2"/>
                </a:solidFill>
                <a:latin typeface="+mj-lt"/>
                <a:ea typeface="+mj-ea"/>
                <a:cs typeface="+mj-cs"/>
                <a:hlinkClick r:id="rId3" action="ppaction://hlinkfile">
                  <a:extLst>
                    <a:ext uri="{A12FA001-AC4F-418D-AE19-62706E023703}">
                      <ahyp:hlinkClr xmlns:ahyp="http://schemas.microsoft.com/office/drawing/2018/hyperlinkcolor" val="tx"/>
                    </a:ext>
                  </a:extLst>
                </a:hlinkClick>
              </a:rPr>
              <a:t>linkedin.com/in/haripriya-naidu1215/</a:t>
            </a:r>
            <a:endParaRPr lang="fr-FR" sz="2800" dirty="0">
              <a:solidFill>
                <a:schemeClr val="accent2"/>
              </a:solidFill>
              <a:latin typeface="+mj-lt"/>
              <a:ea typeface="+mj-ea"/>
              <a:cs typeface="+mj-cs"/>
            </a:endParaRPr>
          </a:p>
          <a:p>
            <a:pPr marL="0" lvl="1" indent="0">
              <a:spcBef>
                <a:spcPts val="1000"/>
              </a:spcBef>
              <a:buNone/>
            </a:pPr>
            <a:r>
              <a:rPr lang="fr-FR" sz="2800" dirty="0">
                <a:solidFill>
                  <a:schemeClr val="accent2"/>
                </a:solidFill>
                <a:latin typeface="+mj-lt"/>
                <a:ea typeface="+mj-ea"/>
                <a:cs typeface="+mj-cs"/>
              </a:rPr>
              <a:t> </a:t>
            </a:r>
            <a:r>
              <a:rPr lang="fr-FR" sz="2800" dirty="0">
                <a:solidFill>
                  <a:schemeClr val="accent2"/>
                </a:solidFill>
                <a:latin typeface="+mj-lt"/>
                <a:ea typeface="+mj-ea"/>
                <a:cs typeface="+mj-cs"/>
                <a:hlinkClick r:id="rId4">
                  <a:extLst>
                    <a:ext uri="{A12FA001-AC4F-418D-AE19-62706E023703}">
                      <ahyp:hlinkClr xmlns:ahyp="http://schemas.microsoft.com/office/drawing/2018/hyperlinkcolor" val="tx"/>
                    </a:ext>
                  </a:extLst>
                </a:hlinkClick>
              </a:rPr>
              <a:t>github.com/haripriyasb/</a:t>
            </a:r>
            <a:r>
              <a:rPr lang="fr-FR" sz="2800" dirty="0" err="1">
                <a:solidFill>
                  <a:schemeClr val="accent2"/>
                </a:solidFill>
                <a:latin typeface="+mj-lt"/>
                <a:ea typeface="+mj-ea"/>
                <a:cs typeface="+mj-cs"/>
                <a:hlinkClick r:id="rId4">
                  <a:extLst>
                    <a:ext uri="{A12FA001-AC4F-418D-AE19-62706E023703}">
                      <ahyp:hlinkClr xmlns:ahyp="http://schemas.microsoft.com/office/drawing/2018/hyperlinkcolor" val="tx"/>
                    </a:ext>
                  </a:extLst>
                </a:hlinkClick>
              </a:rPr>
              <a:t>LoadDataFaster</a:t>
            </a:r>
            <a:endParaRPr lang="en-US" dirty="0"/>
          </a:p>
        </p:txBody>
      </p:sp>
      <p:pic>
        <p:nvPicPr>
          <p:cNvPr id="12" name="Picture 11">
            <a:extLst>
              <a:ext uri="{FF2B5EF4-FFF2-40B4-BE49-F238E27FC236}">
                <a16:creationId xmlns:a16="http://schemas.microsoft.com/office/drawing/2014/main" id="{E702A110-D49B-80D3-6F9F-0EF746EE88DE}"/>
              </a:ext>
            </a:extLst>
          </p:cNvPr>
          <p:cNvPicPr>
            <a:picLocks noChangeAspect="1"/>
          </p:cNvPicPr>
          <p:nvPr/>
        </p:nvPicPr>
        <p:blipFill>
          <a:blip r:embed="rId5"/>
          <a:stretch>
            <a:fillRect/>
          </a:stretch>
        </p:blipFill>
        <p:spPr>
          <a:xfrm>
            <a:off x="834527" y="5057328"/>
            <a:ext cx="254517" cy="259260"/>
          </a:xfrm>
          <a:prstGeom prst="rect">
            <a:avLst/>
          </a:prstGeom>
        </p:spPr>
      </p:pic>
      <p:pic>
        <p:nvPicPr>
          <p:cNvPr id="13" name="Picture 12">
            <a:extLst>
              <a:ext uri="{FF2B5EF4-FFF2-40B4-BE49-F238E27FC236}">
                <a16:creationId xmlns:a16="http://schemas.microsoft.com/office/drawing/2014/main" id="{C70A3CF1-EABF-94C7-9BEB-1C3404EC53F5}"/>
              </a:ext>
            </a:extLst>
          </p:cNvPr>
          <p:cNvPicPr>
            <a:picLocks noChangeAspect="1"/>
          </p:cNvPicPr>
          <p:nvPr/>
        </p:nvPicPr>
        <p:blipFill>
          <a:blip r:embed="rId6"/>
          <a:stretch>
            <a:fillRect/>
          </a:stretch>
        </p:blipFill>
        <p:spPr>
          <a:xfrm>
            <a:off x="813648" y="5487514"/>
            <a:ext cx="284071" cy="259261"/>
          </a:xfrm>
          <a:prstGeom prst="rect">
            <a:avLst/>
          </a:prstGeom>
        </p:spPr>
      </p:pic>
      <p:pic>
        <p:nvPicPr>
          <p:cNvPr id="14" name="Picture 13">
            <a:extLst>
              <a:ext uri="{FF2B5EF4-FFF2-40B4-BE49-F238E27FC236}">
                <a16:creationId xmlns:a16="http://schemas.microsoft.com/office/drawing/2014/main" id="{382E6DC9-4681-2677-C592-844E62784BCF}"/>
              </a:ext>
            </a:extLst>
          </p:cNvPr>
          <p:cNvPicPr>
            <a:picLocks noChangeAspect="1"/>
          </p:cNvPicPr>
          <p:nvPr/>
        </p:nvPicPr>
        <p:blipFill>
          <a:blip r:embed="rId7"/>
          <a:stretch>
            <a:fillRect/>
          </a:stretch>
        </p:blipFill>
        <p:spPr>
          <a:xfrm>
            <a:off x="813648" y="4557735"/>
            <a:ext cx="254517" cy="259260"/>
          </a:xfrm>
          <a:prstGeom prst="rect">
            <a:avLst/>
          </a:prstGeom>
        </p:spPr>
      </p:pic>
      <p:pic>
        <p:nvPicPr>
          <p:cNvPr id="4" name="Picture 3" descr="A person standing next to wooden blocks with numbers&#10;&#10;AI-generated content may be incorrect.">
            <a:extLst>
              <a:ext uri="{FF2B5EF4-FFF2-40B4-BE49-F238E27FC236}">
                <a16:creationId xmlns:a16="http://schemas.microsoft.com/office/drawing/2014/main" id="{96ABCE7E-CA0C-BC5D-8175-304D185C199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91925" y="797368"/>
            <a:ext cx="4760192" cy="2376729"/>
          </a:xfrm>
          <a:prstGeom prst="rect">
            <a:avLst/>
          </a:prstGeom>
        </p:spPr>
      </p:pic>
    </p:spTree>
    <p:extLst>
      <p:ext uri="{BB962C8B-B14F-4D97-AF65-F5344CB8AC3E}">
        <p14:creationId xmlns:p14="http://schemas.microsoft.com/office/powerpoint/2010/main" val="157879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8659-E06F-CF0C-B140-4F17CC7BF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6EBF8-610D-6B12-101F-968439CD69ED}"/>
              </a:ext>
            </a:extLst>
          </p:cNvPr>
          <p:cNvSpPr>
            <a:spLocks noGrp="1"/>
          </p:cNvSpPr>
          <p:nvPr>
            <p:ph type="title"/>
          </p:nvPr>
        </p:nvSpPr>
        <p:spPr/>
        <p:txBody>
          <a:bodyPr>
            <a:normAutofit/>
          </a:bodyPr>
          <a:lstStyle/>
          <a:p>
            <a:r>
              <a:rPr lang="en-US" sz="4800" b="1" dirty="0">
                <a:solidFill>
                  <a:schemeClr val="accent2">
                    <a:lumMod val="75000"/>
                  </a:schemeClr>
                </a:solidFill>
              </a:rPr>
              <a:t>Agenda</a:t>
            </a:r>
          </a:p>
        </p:txBody>
      </p:sp>
      <p:sp>
        <p:nvSpPr>
          <p:cNvPr id="3" name="Content Placeholder 2">
            <a:extLst>
              <a:ext uri="{FF2B5EF4-FFF2-40B4-BE49-F238E27FC236}">
                <a16:creationId xmlns:a16="http://schemas.microsoft.com/office/drawing/2014/main" id="{09103532-323B-063C-0E1F-E6E1FCC4A2B2}"/>
              </a:ext>
            </a:extLst>
          </p:cNvPr>
          <p:cNvSpPr>
            <a:spLocks noGrp="1"/>
          </p:cNvSpPr>
          <p:nvPr>
            <p:ph idx="1"/>
          </p:nvPr>
        </p:nvSpPr>
        <p:spPr/>
        <p:txBody>
          <a:bodyPr>
            <a:normAutofit/>
          </a:bodyPr>
          <a:lstStyle/>
          <a:p>
            <a:r>
              <a:rPr lang="en-US" dirty="0">
                <a:solidFill>
                  <a:schemeClr val="tx1">
                    <a:alpha val="80000"/>
                  </a:schemeClr>
                </a:solidFill>
              </a:rPr>
              <a:t>Explore different ways to load bulk data</a:t>
            </a:r>
          </a:p>
          <a:p>
            <a:pPr lvl="1"/>
            <a:r>
              <a:rPr lang="en-US" dirty="0">
                <a:solidFill>
                  <a:schemeClr val="tx1">
                    <a:alpha val="80000"/>
                  </a:schemeClr>
                </a:solidFill>
              </a:rPr>
              <a:t>INSERT INTO</a:t>
            </a:r>
          </a:p>
          <a:p>
            <a:pPr lvl="1"/>
            <a:r>
              <a:rPr lang="en-US" dirty="0">
                <a:solidFill>
                  <a:schemeClr val="tx1">
                    <a:alpha val="80000"/>
                  </a:schemeClr>
                </a:solidFill>
              </a:rPr>
              <a:t>SELECT INTO</a:t>
            </a:r>
          </a:p>
          <a:p>
            <a:pPr lvl="1"/>
            <a:r>
              <a:rPr lang="en-US" dirty="0">
                <a:solidFill>
                  <a:schemeClr val="tx1">
                    <a:alpha val="80000"/>
                  </a:schemeClr>
                </a:solidFill>
              </a:rPr>
              <a:t>BULK INSERT</a:t>
            </a:r>
          </a:p>
          <a:p>
            <a:pPr lvl="1"/>
            <a:r>
              <a:rPr lang="en-US" dirty="0">
                <a:solidFill>
                  <a:schemeClr val="tx1">
                    <a:alpha val="80000"/>
                  </a:schemeClr>
                </a:solidFill>
              </a:rPr>
              <a:t>bcp utility</a:t>
            </a:r>
          </a:p>
          <a:p>
            <a:pPr lvl="1"/>
            <a:r>
              <a:rPr lang="en-US" dirty="0">
                <a:solidFill>
                  <a:schemeClr val="tx1">
                    <a:alpha val="80000"/>
                  </a:schemeClr>
                </a:solidFill>
              </a:rPr>
              <a:t>dbatools</a:t>
            </a:r>
          </a:p>
          <a:p>
            <a:pPr lvl="1"/>
            <a:r>
              <a:rPr lang="en-US" dirty="0">
                <a:solidFill>
                  <a:schemeClr val="tx1">
                    <a:alpha val="80000"/>
                  </a:schemeClr>
                </a:solidFill>
              </a:rPr>
              <a:t>Import/Export Wizard</a:t>
            </a:r>
          </a:p>
          <a:p>
            <a:r>
              <a:rPr lang="en-US" dirty="0">
                <a:solidFill>
                  <a:schemeClr val="tx1">
                    <a:alpha val="80000"/>
                  </a:schemeClr>
                </a:solidFill>
              </a:rPr>
              <a:t>How to make them faster – hints, settings</a:t>
            </a:r>
          </a:p>
          <a:p>
            <a:r>
              <a:rPr lang="en-US" dirty="0">
                <a:solidFill>
                  <a:schemeClr val="tx1">
                    <a:alpha val="80000"/>
                  </a:schemeClr>
                </a:solidFill>
              </a:rPr>
              <a:t>When to use which method</a:t>
            </a:r>
          </a:p>
          <a:p>
            <a:pPr marL="457200" lvl="1" indent="0">
              <a:buNone/>
            </a:pPr>
            <a:endParaRPr lang="en-US" dirty="0"/>
          </a:p>
        </p:txBody>
      </p:sp>
    </p:spTree>
    <p:extLst>
      <p:ext uri="{BB962C8B-B14F-4D97-AF65-F5344CB8AC3E}">
        <p14:creationId xmlns:p14="http://schemas.microsoft.com/office/powerpoint/2010/main" val="61071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9092-4BC9-4D1B-66AE-B13BDAEB5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8FCB1-3AEA-C204-BEA8-258E280BB6F7}"/>
              </a:ext>
            </a:extLst>
          </p:cNvPr>
          <p:cNvSpPr>
            <a:spLocks noGrp="1"/>
          </p:cNvSpPr>
          <p:nvPr>
            <p:ph type="title"/>
          </p:nvPr>
        </p:nvSpPr>
        <p:spPr/>
        <p:txBody>
          <a:bodyPr>
            <a:normAutofit/>
          </a:bodyPr>
          <a:lstStyle/>
          <a:p>
            <a:r>
              <a:rPr lang="en-US" sz="4800" b="1" dirty="0">
                <a:solidFill>
                  <a:schemeClr val="accent2">
                    <a:lumMod val="75000"/>
                  </a:schemeClr>
                </a:solidFill>
              </a:rPr>
              <a:t>What is the problem I’m solving</a:t>
            </a:r>
          </a:p>
        </p:txBody>
      </p:sp>
      <p:sp>
        <p:nvSpPr>
          <p:cNvPr id="3" name="Content Placeholder 2">
            <a:extLst>
              <a:ext uri="{FF2B5EF4-FFF2-40B4-BE49-F238E27FC236}">
                <a16:creationId xmlns:a16="http://schemas.microsoft.com/office/drawing/2014/main" id="{2CE062FA-E87A-C4B6-BBFE-875179B69B77}"/>
              </a:ext>
            </a:extLst>
          </p:cNvPr>
          <p:cNvSpPr>
            <a:spLocks noGrp="1"/>
          </p:cNvSpPr>
          <p:nvPr>
            <p:ph idx="1"/>
          </p:nvPr>
        </p:nvSpPr>
        <p:spPr/>
        <p:txBody>
          <a:bodyPr/>
          <a:lstStyle/>
          <a:p>
            <a:r>
              <a:rPr lang="en-US" dirty="0">
                <a:solidFill>
                  <a:schemeClr val="tx1">
                    <a:alpha val="80000"/>
                  </a:schemeClr>
                </a:solidFill>
              </a:rPr>
              <a:t>Worked on a project involving moving GBs of data</a:t>
            </a:r>
          </a:p>
          <a:p>
            <a:r>
              <a:rPr lang="en-US" dirty="0">
                <a:solidFill>
                  <a:schemeClr val="tx1">
                    <a:alpha val="80000"/>
                  </a:schemeClr>
                </a:solidFill>
              </a:rPr>
              <a:t>Started to explore about bulk inserts</a:t>
            </a:r>
          </a:p>
          <a:p>
            <a:r>
              <a:rPr lang="en-US" dirty="0">
                <a:solidFill>
                  <a:schemeClr val="tx1">
                    <a:alpha val="80000"/>
                  </a:schemeClr>
                </a:solidFill>
              </a:rPr>
              <a:t>How to reduce runtime</a:t>
            </a:r>
          </a:p>
          <a:p>
            <a:pPr lvl="1"/>
            <a:endParaRPr lang="en-US" dirty="0"/>
          </a:p>
        </p:txBody>
      </p:sp>
    </p:spTree>
    <p:extLst>
      <p:ext uri="{BB962C8B-B14F-4D97-AF65-F5344CB8AC3E}">
        <p14:creationId xmlns:p14="http://schemas.microsoft.com/office/powerpoint/2010/main" val="422777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B3C9-0803-D49C-E1CF-187051A4D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22C3F-573D-594F-86B8-1C659397CC6E}"/>
              </a:ext>
            </a:extLst>
          </p:cNvPr>
          <p:cNvSpPr>
            <a:spLocks noGrp="1"/>
          </p:cNvSpPr>
          <p:nvPr>
            <p:ph type="title"/>
          </p:nvPr>
        </p:nvSpPr>
        <p:spPr/>
        <p:txBody>
          <a:bodyPr>
            <a:normAutofit/>
          </a:bodyPr>
          <a:lstStyle/>
          <a:p>
            <a:r>
              <a:rPr lang="en-US" sz="4800" b="1" dirty="0">
                <a:solidFill>
                  <a:schemeClr val="accent2">
                    <a:lumMod val="75000"/>
                  </a:schemeClr>
                </a:solidFill>
              </a:rPr>
              <a:t>What is Bulk Data</a:t>
            </a:r>
          </a:p>
        </p:txBody>
      </p:sp>
      <p:sp>
        <p:nvSpPr>
          <p:cNvPr id="3" name="Content Placeholder 2">
            <a:extLst>
              <a:ext uri="{FF2B5EF4-FFF2-40B4-BE49-F238E27FC236}">
                <a16:creationId xmlns:a16="http://schemas.microsoft.com/office/drawing/2014/main" id="{A3845AA1-A089-F63C-52C9-6E6507FC411E}"/>
              </a:ext>
            </a:extLst>
          </p:cNvPr>
          <p:cNvSpPr>
            <a:spLocks noGrp="1"/>
          </p:cNvSpPr>
          <p:nvPr>
            <p:ph idx="1"/>
          </p:nvPr>
        </p:nvSpPr>
        <p:spPr/>
        <p:txBody>
          <a:bodyPr/>
          <a:lstStyle/>
          <a:p>
            <a:r>
              <a:rPr lang="en-US" sz="2400" dirty="0">
                <a:latin typeface="Segoe UI" panose="020B0502040204020203" pitchFamily="34" charset="0"/>
                <a:cs typeface="Segoe UI" panose="020B0502040204020203" pitchFamily="34" charset="0"/>
              </a:rPr>
              <a:t>Large volumes of data </a:t>
            </a:r>
          </a:p>
          <a:p>
            <a:r>
              <a:rPr lang="en-US" sz="2400" dirty="0">
                <a:latin typeface="Segoe UI" panose="020B0502040204020203" pitchFamily="34" charset="0"/>
                <a:cs typeface="Segoe UI" panose="020B0502040204020203" pitchFamily="34" charset="0"/>
              </a:rPr>
              <a:t>Move into or out of a SQL Server table quickly and efficiently</a:t>
            </a:r>
          </a:p>
          <a:p>
            <a:pPr marL="0" indent="0">
              <a:buNone/>
            </a:pPr>
            <a:endParaRPr lang="en-US" sz="2400" dirty="0">
              <a:latin typeface="Segoe UI" panose="020B0502040204020203" pitchFamily="34" charset="0"/>
              <a:cs typeface="Segoe UI" panose="020B0502040204020203" pitchFamily="34" charset="0"/>
            </a:endParaRPr>
          </a:p>
          <a:p>
            <a:pPr marL="0" indent="0">
              <a:buNone/>
            </a:pPr>
            <a:r>
              <a:rPr lang="en-US" sz="2400" dirty="0">
                <a:latin typeface="Segoe UI" panose="020B0502040204020203" pitchFamily="34" charset="0"/>
                <a:cs typeface="Segoe UI" panose="020B0502040204020203" pitchFamily="34" charset="0"/>
              </a:rPr>
              <a:t>Examples:</a:t>
            </a:r>
          </a:p>
          <a:p>
            <a:r>
              <a:rPr lang="en-US" sz="2400" dirty="0">
                <a:latin typeface="Segoe UI" panose="020B0502040204020203" pitchFamily="34" charset="0"/>
                <a:cs typeface="Segoe UI" panose="020B0502040204020203" pitchFamily="34" charset="0"/>
              </a:rPr>
              <a:t>Moving data from database to another</a:t>
            </a:r>
          </a:p>
          <a:p>
            <a:r>
              <a:rPr lang="en-US" sz="2400" dirty="0">
                <a:latin typeface="Segoe UI" panose="020B0502040204020203" pitchFamily="34" charset="0"/>
                <a:cs typeface="Segoe UI" panose="020B0502040204020203" pitchFamily="34" charset="0"/>
              </a:rPr>
              <a:t>Loading a CSV file with 1 million customer records into a table</a:t>
            </a:r>
          </a:p>
          <a:p>
            <a:pPr lvl="1"/>
            <a:endParaRPr lang="en-US" dirty="0"/>
          </a:p>
        </p:txBody>
      </p:sp>
    </p:spTree>
    <p:extLst>
      <p:ext uri="{BB962C8B-B14F-4D97-AF65-F5344CB8AC3E}">
        <p14:creationId xmlns:p14="http://schemas.microsoft.com/office/powerpoint/2010/main" val="350076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1367F-5FA3-E49F-A33E-4C98C940A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37264-A5E7-94C7-1F8A-ECF74D95C860}"/>
              </a:ext>
            </a:extLst>
          </p:cNvPr>
          <p:cNvSpPr>
            <a:spLocks noGrp="1"/>
          </p:cNvSpPr>
          <p:nvPr>
            <p:ph type="title"/>
          </p:nvPr>
        </p:nvSpPr>
        <p:spPr/>
        <p:txBody>
          <a:bodyPr>
            <a:normAutofit/>
          </a:bodyPr>
          <a:lstStyle/>
          <a:p>
            <a:r>
              <a:rPr lang="en-US" sz="4800" b="1" dirty="0">
                <a:solidFill>
                  <a:schemeClr val="accent2">
                    <a:lumMod val="75000"/>
                  </a:schemeClr>
                </a:solidFill>
              </a:rPr>
              <a:t>Why It's Slow and How to Speed It Up</a:t>
            </a:r>
          </a:p>
        </p:txBody>
      </p:sp>
      <p:sp>
        <p:nvSpPr>
          <p:cNvPr id="3" name="Content Placeholder 2">
            <a:extLst>
              <a:ext uri="{FF2B5EF4-FFF2-40B4-BE49-F238E27FC236}">
                <a16:creationId xmlns:a16="http://schemas.microsoft.com/office/drawing/2014/main" id="{5206CDF9-CAD4-028C-B9C9-0341AC7C65F9}"/>
              </a:ext>
            </a:extLst>
          </p:cNvPr>
          <p:cNvSpPr>
            <a:spLocks noGrp="1"/>
          </p:cNvSpPr>
          <p:nvPr>
            <p:ph idx="1"/>
          </p:nvPr>
        </p:nvSpPr>
        <p:spPr/>
        <p:txBody>
          <a:bodyPr/>
          <a:lstStyle/>
          <a:p>
            <a:pPr marL="0" indent="0">
              <a:buNone/>
            </a:pPr>
            <a:r>
              <a:rPr lang="en-US" sz="2400" dirty="0">
                <a:solidFill>
                  <a:schemeClr val="tx2">
                    <a:lumMod val="75000"/>
                    <a:lumOff val="25000"/>
                  </a:schemeClr>
                </a:solidFill>
                <a:latin typeface="Segoe UI" panose="020B0502040204020203" pitchFamily="34" charset="0"/>
                <a:cs typeface="Segoe UI" panose="020B0502040204020203" pitchFamily="34" charset="0"/>
              </a:rPr>
              <a:t>Why it is slow</a:t>
            </a:r>
          </a:p>
          <a:p>
            <a:r>
              <a:rPr lang="en-US" sz="2400" dirty="0">
                <a:latin typeface="Segoe UI" panose="020B0502040204020203" pitchFamily="34" charset="0"/>
                <a:cs typeface="Segoe UI" panose="020B0502040204020203" pitchFamily="34" charset="0"/>
              </a:rPr>
              <a:t>SQL Server logs every row into the transaction log</a:t>
            </a:r>
          </a:p>
          <a:p>
            <a:r>
              <a:rPr lang="en-US" sz="2400" dirty="0">
                <a:latin typeface="Segoe UI" panose="020B0502040204020203" pitchFamily="34" charset="0"/>
                <a:cs typeface="Segoe UI" panose="020B0502040204020203" pitchFamily="34" charset="0"/>
              </a:rPr>
              <a:t>Serial operation</a:t>
            </a:r>
          </a:p>
          <a:p>
            <a:endParaRPr lang="en-US" sz="2400" dirty="0">
              <a:latin typeface="Segoe UI" panose="020B0502040204020203" pitchFamily="34" charset="0"/>
              <a:cs typeface="Segoe UI" panose="020B0502040204020203" pitchFamily="34" charset="0"/>
            </a:endParaRPr>
          </a:p>
          <a:p>
            <a:pPr marL="0" indent="0">
              <a:buNone/>
            </a:pPr>
            <a:r>
              <a:rPr lang="en-US" sz="2400" dirty="0">
                <a:solidFill>
                  <a:schemeClr val="tx2">
                    <a:lumMod val="75000"/>
                    <a:lumOff val="25000"/>
                  </a:schemeClr>
                </a:solidFill>
                <a:latin typeface="Segoe UI" panose="020B0502040204020203" pitchFamily="34" charset="0"/>
                <a:cs typeface="Segoe UI" panose="020B0502040204020203" pitchFamily="34" charset="0"/>
              </a:rPr>
              <a:t>How to speed it up</a:t>
            </a:r>
          </a:p>
          <a:p>
            <a:r>
              <a:rPr lang="en-US" sz="2400" dirty="0">
                <a:latin typeface="Segoe UI" panose="020B0502040204020203" pitchFamily="34" charset="0"/>
                <a:cs typeface="Segoe UI" panose="020B0502040204020203" pitchFamily="34" charset="0"/>
              </a:rPr>
              <a:t>Minimal logging – reduces transaction log overhead</a:t>
            </a:r>
          </a:p>
          <a:p>
            <a:r>
              <a:rPr lang="en-US" sz="2400" dirty="0">
                <a:latin typeface="Segoe UI" panose="020B0502040204020203" pitchFamily="34" charset="0"/>
                <a:cs typeface="Segoe UI" panose="020B0502040204020203" pitchFamily="34" charset="0"/>
              </a:rPr>
              <a:t>Parallel operation – multiple threads to load data</a:t>
            </a:r>
          </a:p>
          <a:p>
            <a:pPr lvl="1"/>
            <a:endParaRPr lang="en-US" dirty="0"/>
          </a:p>
          <a:p>
            <a:pPr lvl="1"/>
            <a:endParaRPr lang="en-US" dirty="0"/>
          </a:p>
        </p:txBody>
      </p:sp>
    </p:spTree>
    <p:extLst>
      <p:ext uri="{BB962C8B-B14F-4D97-AF65-F5344CB8AC3E}">
        <p14:creationId xmlns:p14="http://schemas.microsoft.com/office/powerpoint/2010/main" val="55842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12406-0C6C-6283-C375-D6E3190F75A2}"/>
              </a:ext>
            </a:extLst>
          </p:cNvPr>
          <p:cNvSpPr>
            <a:spLocks noGrp="1"/>
          </p:cNvSpPr>
          <p:nvPr>
            <p:ph type="title"/>
          </p:nvPr>
        </p:nvSpPr>
        <p:spPr/>
        <p:txBody>
          <a:bodyPr/>
          <a:lstStyle/>
          <a:p>
            <a:r>
              <a:rPr lang="en-US" sz="4800" b="1" dirty="0">
                <a:solidFill>
                  <a:schemeClr val="accent2">
                    <a:lumMod val="75000"/>
                  </a:schemeClr>
                </a:solidFill>
              </a:rPr>
              <a:t>Methods to Load Data</a:t>
            </a:r>
          </a:p>
        </p:txBody>
      </p:sp>
      <p:sp>
        <p:nvSpPr>
          <p:cNvPr id="3" name="Content Placeholder 2">
            <a:extLst>
              <a:ext uri="{FF2B5EF4-FFF2-40B4-BE49-F238E27FC236}">
                <a16:creationId xmlns:a16="http://schemas.microsoft.com/office/drawing/2014/main" id="{5A238FAD-CD41-BFA2-EA16-91F920F66535}"/>
              </a:ext>
            </a:extLst>
          </p:cNvPr>
          <p:cNvSpPr>
            <a:spLocks noGrp="1"/>
          </p:cNvSpPr>
          <p:nvPr>
            <p:ph idx="1"/>
          </p:nvPr>
        </p:nvSpPr>
        <p:spPr/>
        <p:txBody>
          <a:bodyPr>
            <a:normAutofit/>
          </a:bodyPr>
          <a:lstStyle/>
          <a:p>
            <a:r>
              <a:rPr lang="en-US" dirty="0">
                <a:latin typeface="Segoe UI" panose="020B0502040204020203" pitchFamily="34" charset="0"/>
                <a:cs typeface="Segoe UI" panose="020B0502040204020203" pitchFamily="34" charset="0"/>
              </a:rPr>
              <a:t>Insert Into</a:t>
            </a:r>
          </a:p>
          <a:p>
            <a:r>
              <a:rPr lang="en-US" dirty="0">
                <a:latin typeface="Segoe UI" panose="020B0502040204020203" pitchFamily="34" charset="0"/>
                <a:cs typeface="Segoe UI" panose="020B0502040204020203" pitchFamily="34" charset="0"/>
              </a:rPr>
              <a:t>Select Into</a:t>
            </a:r>
          </a:p>
          <a:p>
            <a:r>
              <a:rPr lang="en-US" dirty="0">
                <a:latin typeface="Segoe UI" panose="020B0502040204020203" pitchFamily="34" charset="0"/>
                <a:cs typeface="Segoe UI" panose="020B0502040204020203" pitchFamily="34" charset="0"/>
              </a:rPr>
              <a:t>Bulk Insert</a:t>
            </a:r>
          </a:p>
          <a:p>
            <a:r>
              <a:rPr lang="en-US" dirty="0">
                <a:latin typeface="Segoe UI" panose="020B0502040204020203" pitchFamily="34" charset="0"/>
                <a:cs typeface="Segoe UI" panose="020B0502040204020203" pitchFamily="34" charset="0"/>
              </a:rPr>
              <a:t>bcp utility</a:t>
            </a:r>
          </a:p>
          <a:p>
            <a:r>
              <a:rPr lang="en-US" dirty="0">
                <a:latin typeface="Segoe UI" panose="020B0502040204020203" pitchFamily="34" charset="0"/>
                <a:cs typeface="Segoe UI" panose="020B0502040204020203" pitchFamily="34" charset="0"/>
              </a:rPr>
              <a:t>dbatools</a:t>
            </a:r>
          </a:p>
          <a:p>
            <a:r>
              <a:rPr lang="en-US" dirty="0">
                <a:latin typeface="Segoe UI" panose="020B0502040204020203" pitchFamily="34" charset="0"/>
                <a:cs typeface="Segoe UI" panose="020B0502040204020203" pitchFamily="34" charset="0"/>
              </a:rPr>
              <a:t>Import/Export Wizard</a:t>
            </a:r>
          </a:p>
        </p:txBody>
      </p:sp>
    </p:spTree>
    <p:extLst>
      <p:ext uri="{BB962C8B-B14F-4D97-AF65-F5344CB8AC3E}">
        <p14:creationId xmlns:p14="http://schemas.microsoft.com/office/powerpoint/2010/main" val="4194668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73CC2-3A76-657E-DB0B-FBB2B1A1D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3B20C-9B17-718C-BC3F-74A28612C66C}"/>
              </a:ext>
            </a:extLst>
          </p:cNvPr>
          <p:cNvSpPr>
            <a:spLocks noGrp="1"/>
          </p:cNvSpPr>
          <p:nvPr>
            <p:ph type="title"/>
          </p:nvPr>
        </p:nvSpPr>
        <p:spPr/>
        <p:txBody>
          <a:bodyPr>
            <a:normAutofit/>
          </a:bodyPr>
          <a:lstStyle/>
          <a:p>
            <a:r>
              <a:rPr lang="en-US" sz="4800" b="1" dirty="0">
                <a:solidFill>
                  <a:schemeClr val="accent2">
                    <a:lumMod val="75000"/>
                  </a:schemeClr>
                </a:solidFill>
              </a:rPr>
              <a:t>1. </a:t>
            </a:r>
            <a:r>
              <a:rPr lang="en-US" sz="4800" b="1" dirty="0" err="1">
                <a:solidFill>
                  <a:schemeClr val="accent2">
                    <a:lumMod val="75000"/>
                  </a:schemeClr>
                </a:solidFill>
              </a:rPr>
              <a:t>Insert..Select</a:t>
            </a:r>
            <a:endParaRPr lang="en-US" sz="4800" b="1" dirty="0">
              <a:solidFill>
                <a:schemeClr val="accent2">
                  <a:lumMod val="75000"/>
                </a:schemeClr>
              </a:solidFill>
            </a:endParaRPr>
          </a:p>
        </p:txBody>
      </p:sp>
      <p:sp>
        <p:nvSpPr>
          <p:cNvPr id="3" name="Content Placeholder 2">
            <a:extLst>
              <a:ext uri="{FF2B5EF4-FFF2-40B4-BE49-F238E27FC236}">
                <a16:creationId xmlns:a16="http://schemas.microsoft.com/office/drawing/2014/main" id="{C24BE3D9-DD2F-84A4-4FFC-C1DDA91CFE7C}"/>
              </a:ext>
            </a:extLst>
          </p:cNvPr>
          <p:cNvSpPr>
            <a:spLocks noGrp="1"/>
          </p:cNvSpPr>
          <p:nvPr>
            <p:ph idx="1"/>
          </p:nvPr>
        </p:nvSpPr>
        <p:spPr/>
        <p:txBody>
          <a:bodyPr>
            <a:normAutofit/>
          </a:bodyPr>
          <a:lstStyle/>
          <a:p>
            <a:pPr algn="l">
              <a:buNone/>
            </a:pPr>
            <a:r>
              <a:rPr lang="en-US" sz="2000" b="0" i="0" dirty="0">
                <a:solidFill>
                  <a:srgbClr val="0000FF"/>
                </a:solidFill>
                <a:effectLst/>
                <a:latin typeface="Consolas" panose="020B0609020204030204" pitchFamily="49" charset="0"/>
              </a:rPr>
              <a:t>INSERT</a:t>
            </a:r>
            <a:r>
              <a:rPr lang="en-US" sz="2000" b="0" i="0" dirty="0">
                <a:solidFill>
                  <a:srgbClr val="006FE0"/>
                </a:solidFill>
                <a:effectLst/>
                <a:latin typeface="Consolas" panose="020B0609020204030204" pitchFamily="49" charset="0"/>
              </a:rPr>
              <a:t> </a:t>
            </a:r>
            <a:r>
              <a:rPr lang="en-US" sz="2000" b="0" i="0" dirty="0">
                <a:solidFill>
                  <a:srgbClr val="0000FF"/>
                </a:solidFill>
                <a:effectLst/>
                <a:latin typeface="Consolas" panose="020B0609020204030204" pitchFamily="49" charset="0"/>
              </a:rPr>
              <a:t>INTO</a:t>
            </a:r>
            <a:r>
              <a:rPr lang="en-US" sz="2000" b="0" i="0" dirty="0">
                <a:solidFill>
                  <a:srgbClr val="006FE0"/>
                </a:solidFill>
                <a:effectLst/>
                <a:latin typeface="Consolas" panose="020B0609020204030204" pitchFamily="49" charset="0"/>
              </a:rPr>
              <a:t>  </a:t>
            </a:r>
            <a:r>
              <a:rPr lang="en-US" sz="2000" b="0" i="0" dirty="0">
                <a:solidFill>
                  <a:srgbClr val="008080"/>
                </a:solidFill>
                <a:effectLst/>
                <a:latin typeface="Consolas" panose="020B0609020204030204" pitchFamily="49" charset="0"/>
              </a:rPr>
              <a:t>TargetTable</a:t>
            </a:r>
            <a:endParaRPr lang="en-US" sz="2000" b="0" i="0" dirty="0">
              <a:solidFill>
                <a:srgbClr val="000000"/>
              </a:solidFill>
              <a:effectLst/>
              <a:latin typeface="Consolas" panose="020B0609020204030204" pitchFamily="49" charset="0"/>
            </a:endParaRPr>
          </a:p>
          <a:p>
            <a:pPr algn="l">
              <a:buNone/>
            </a:pPr>
            <a:r>
              <a:rPr lang="en-US" sz="2000" b="0" i="0" dirty="0">
                <a:solidFill>
                  <a:srgbClr val="0000FF"/>
                </a:solidFill>
                <a:effectLst/>
                <a:latin typeface="Consolas" panose="020B0609020204030204" pitchFamily="49" charset="0"/>
              </a:rPr>
              <a:t>SELECT</a:t>
            </a:r>
            <a:r>
              <a:rPr lang="en-US" sz="2000" b="0" i="0" dirty="0">
                <a:solidFill>
                  <a:srgbClr val="006FE0"/>
                </a:solidFill>
                <a:effectLst/>
                <a:latin typeface="Consolas" panose="020B0609020204030204" pitchFamily="49" charset="0"/>
              </a:rPr>
              <a:t> </a:t>
            </a:r>
            <a:r>
              <a:rPr lang="en-US" sz="2000" b="0" i="0" dirty="0">
                <a:solidFill>
                  <a:srgbClr val="808080"/>
                </a:solidFill>
                <a:effectLst/>
                <a:latin typeface="Consolas" panose="020B0609020204030204" pitchFamily="49" charset="0"/>
              </a:rPr>
              <a:t>* </a:t>
            </a:r>
            <a:r>
              <a:rPr lang="en-US" sz="2000" b="0" i="0" dirty="0">
                <a:solidFill>
                  <a:srgbClr val="0000FF"/>
                </a:solidFill>
                <a:effectLst/>
                <a:latin typeface="Consolas" panose="020B0609020204030204" pitchFamily="49" charset="0"/>
              </a:rPr>
              <a:t>FROM</a:t>
            </a:r>
            <a:r>
              <a:rPr lang="en-US" sz="2000" b="0" i="0" dirty="0">
                <a:solidFill>
                  <a:srgbClr val="006FE0"/>
                </a:solidFill>
                <a:effectLst/>
                <a:latin typeface="Consolas" panose="020B0609020204030204" pitchFamily="49" charset="0"/>
              </a:rPr>
              <a:t> </a:t>
            </a:r>
            <a:r>
              <a:rPr lang="en-US" sz="2000" dirty="0">
                <a:solidFill>
                  <a:srgbClr val="008080"/>
                </a:solidFill>
                <a:latin typeface="Consolas" panose="020B0609020204030204" pitchFamily="49" charset="0"/>
              </a:rPr>
              <a:t>Source</a:t>
            </a:r>
            <a:r>
              <a:rPr lang="en-US" sz="2000" b="0" i="0" dirty="0">
                <a:solidFill>
                  <a:srgbClr val="008080"/>
                </a:solidFill>
                <a:effectLst/>
                <a:latin typeface="Consolas" panose="020B0609020204030204" pitchFamily="49" charset="0"/>
              </a:rPr>
              <a:t>Table</a:t>
            </a:r>
            <a:r>
              <a:rPr lang="en-US" sz="2000" b="0" i="0" dirty="0">
                <a:solidFill>
                  <a:srgbClr val="0000FF"/>
                </a:solidFill>
                <a:effectLst/>
                <a:latin typeface="Consolas" panose="020B0609020204030204" pitchFamily="49" charset="0"/>
              </a:rPr>
              <a:t> </a:t>
            </a:r>
          </a:p>
          <a:p>
            <a:pPr algn="l">
              <a:buNone/>
            </a:pPr>
            <a:endParaRPr lang="en-US" dirty="0">
              <a:solidFill>
                <a:srgbClr val="0000FF"/>
              </a:solidFill>
              <a:latin typeface="inherit"/>
            </a:endParaRPr>
          </a:p>
          <a:p>
            <a:r>
              <a:rPr lang="en-US" dirty="0">
                <a:solidFill>
                  <a:srgbClr val="161616"/>
                </a:solidFill>
                <a:latin typeface="Segoe UI" panose="020B0502040204020203" pitchFamily="34" charset="0"/>
              </a:rPr>
              <a:t>Fully logged</a:t>
            </a:r>
          </a:p>
          <a:p>
            <a:r>
              <a:rPr lang="en-US" dirty="0">
                <a:solidFill>
                  <a:srgbClr val="161616"/>
                </a:solidFill>
                <a:latin typeface="Segoe UI" panose="020B0502040204020203" pitchFamily="34" charset="0"/>
              </a:rPr>
              <a:t>Serial operation</a:t>
            </a:r>
          </a:p>
          <a:p>
            <a:r>
              <a:rPr lang="en-US" dirty="0">
                <a:solidFill>
                  <a:srgbClr val="161616"/>
                </a:solidFill>
                <a:latin typeface="Segoe UI" panose="020B0502040204020203" pitchFamily="34" charset="0"/>
              </a:rPr>
              <a:t>Exclusive(X) lock </a:t>
            </a:r>
          </a:p>
          <a:p>
            <a:r>
              <a:rPr lang="en-US" dirty="0">
                <a:solidFill>
                  <a:srgbClr val="161616"/>
                </a:solidFill>
                <a:latin typeface="Segoe UI" panose="020B0502040204020203" pitchFamily="34" charset="0"/>
              </a:rPr>
              <a:t>C</a:t>
            </a:r>
            <a:r>
              <a:rPr lang="en-US" b="0" i="0" dirty="0">
                <a:solidFill>
                  <a:srgbClr val="161616"/>
                </a:solidFill>
                <a:effectLst/>
                <a:latin typeface="Segoe UI" panose="020B0502040204020203" pitchFamily="34" charset="0"/>
              </a:rPr>
              <a:t>annot control batchsize or rows per batch</a:t>
            </a:r>
            <a:endParaRPr lang="en-US" dirty="0">
              <a:solidFill>
                <a:srgbClr val="000000"/>
              </a:solidFill>
              <a:latin typeface="Roboto" panose="02000000000000000000" pitchFamily="2" charset="0"/>
            </a:endParaRPr>
          </a:p>
          <a:p>
            <a:pPr algn="l">
              <a:buNone/>
            </a:pPr>
            <a:endParaRPr lang="en-US" b="0" i="0" dirty="0">
              <a:solidFill>
                <a:srgbClr val="000000"/>
              </a:solidFill>
              <a:effectLst/>
              <a:latin typeface="Roboto Mono" panose="00000009000000000000" pitchFamily="49" charset="0"/>
            </a:endParaRPr>
          </a:p>
        </p:txBody>
      </p:sp>
    </p:spTree>
    <p:extLst>
      <p:ext uri="{BB962C8B-B14F-4D97-AF65-F5344CB8AC3E}">
        <p14:creationId xmlns:p14="http://schemas.microsoft.com/office/powerpoint/2010/main" val="253263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8D5D2-36A4-60C8-F214-C71C70E2E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C2682-42FF-4237-EFB0-94F1A0D54180}"/>
              </a:ext>
            </a:extLst>
          </p:cNvPr>
          <p:cNvSpPr>
            <a:spLocks noGrp="1"/>
          </p:cNvSpPr>
          <p:nvPr>
            <p:ph type="title"/>
          </p:nvPr>
        </p:nvSpPr>
        <p:spPr/>
        <p:txBody>
          <a:bodyPr>
            <a:normAutofit/>
          </a:bodyPr>
          <a:lstStyle/>
          <a:p>
            <a:r>
              <a:rPr lang="en-US" sz="4800" b="1" dirty="0">
                <a:solidFill>
                  <a:schemeClr val="accent2">
                    <a:lumMod val="75000"/>
                  </a:schemeClr>
                </a:solidFill>
              </a:rPr>
              <a:t>1.1 </a:t>
            </a:r>
            <a:r>
              <a:rPr lang="en-US" sz="4800" b="1" dirty="0" err="1">
                <a:solidFill>
                  <a:schemeClr val="accent2">
                    <a:lumMod val="75000"/>
                  </a:schemeClr>
                </a:solidFill>
              </a:rPr>
              <a:t>Insert..Select</a:t>
            </a:r>
            <a:r>
              <a:rPr lang="en-US" sz="4800" b="1" dirty="0">
                <a:solidFill>
                  <a:schemeClr val="accent2">
                    <a:lumMod val="75000"/>
                  </a:schemeClr>
                </a:solidFill>
              </a:rPr>
              <a:t> with Tablock</a:t>
            </a:r>
          </a:p>
        </p:txBody>
      </p:sp>
      <p:sp>
        <p:nvSpPr>
          <p:cNvPr id="3" name="Content Placeholder 2">
            <a:extLst>
              <a:ext uri="{FF2B5EF4-FFF2-40B4-BE49-F238E27FC236}">
                <a16:creationId xmlns:a16="http://schemas.microsoft.com/office/drawing/2014/main" id="{90F081C9-FFFE-DC99-2C7C-C3BD2AC34661}"/>
              </a:ext>
            </a:extLst>
          </p:cNvPr>
          <p:cNvSpPr>
            <a:spLocks noGrp="1"/>
          </p:cNvSpPr>
          <p:nvPr>
            <p:ph idx="1"/>
          </p:nvPr>
        </p:nvSpPr>
        <p:spPr/>
        <p:txBody>
          <a:bodyPr>
            <a:normAutofit/>
          </a:bodyPr>
          <a:lstStyle/>
          <a:p>
            <a:pPr algn="l">
              <a:buNone/>
            </a:pPr>
            <a:r>
              <a:rPr lang="en-US" sz="2000" b="0" i="0" dirty="0">
                <a:solidFill>
                  <a:srgbClr val="0000FF"/>
                </a:solidFill>
                <a:effectLst/>
                <a:latin typeface="Consolas" panose="020B0609020204030204" pitchFamily="49" charset="0"/>
              </a:rPr>
              <a:t>INSERT</a:t>
            </a:r>
            <a:r>
              <a:rPr lang="en-US" sz="2000" b="0" i="0" dirty="0">
                <a:solidFill>
                  <a:srgbClr val="006FE0"/>
                </a:solidFill>
                <a:effectLst/>
                <a:latin typeface="Consolas" panose="020B0609020204030204" pitchFamily="49" charset="0"/>
              </a:rPr>
              <a:t> </a:t>
            </a:r>
            <a:r>
              <a:rPr lang="en-US" sz="2000" b="0" i="0" dirty="0">
                <a:solidFill>
                  <a:srgbClr val="0000FF"/>
                </a:solidFill>
                <a:effectLst/>
                <a:latin typeface="Consolas" panose="020B0609020204030204" pitchFamily="49" charset="0"/>
              </a:rPr>
              <a:t>INTO</a:t>
            </a:r>
            <a:r>
              <a:rPr lang="en-US" sz="2000" b="0" i="0" dirty="0">
                <a:solidFill>
                  <a:srgbClr val="006FE0"/>
                </a:solidFill>
                <a:effectLst/>
                <a:latin typeface="Consolas" panose="020B0609020204030204" pitchFamily="49" charset="0"/>
              </a:rPr>
              <a:t>  </a:t>
            </a:r>
            <a:r>
              <a:rPr lang="en-US" sz="2000" b="0" i="0" dirty="0">
                <a:solidFill>
                  <a:srgbClr val="008080"/>
                </a:solidFill>
                <a:effectLst/>
                <a:latin typeface="Consolas" panose="020B0609020204030204" pitchFamily="49" charset="0"/>
              </a:rPr>
              <a:t>TargetTable </a:t>
            </a:r>
            <a:r>
              <a:rPr lang="en-US" sz="2000" b="0" i="0" dirty="0">
                <a:solidFill>
                  <a:srgbClr val="008080"/>
                </a:solidFill>
                <a:effectLst/>
                <a:highlight>
                  <a:srgbClr val="C0C0C0"/>
                </a:highlight>
                <a:latin typeface="Consolas" panose="020B0609020204030204" pitchFamily="49" charset="0"/>
              </a:rPr>
              <a:t>WITH (TABLOCK)</a:t>
            </a:r>
            <a:endParaRPr lang="en-US" sz="2000" b="0" i="0" dirty="0">
              <a:solidFill>
                <a:srgbClr val="000000"/>
              </a:solidFill>
              <a:effectLst/>
              <a:highlight>
                <a:srgbClr val="C0C0C0"/>
              </a:highlight>
              <a:latin typeface="Consolas" panose="020B0609020204030204" pitchFamily="49" charset="0"/>
            </a:endParaRPr>
          </a:p>
          <a:p>
            <a:pPr algn="l">
              <a:buNone/>
            </a:pPr>
            <a:r>
              <a:rPr lang="en-US" sz="2000" b="0" i="0" dirty="0">
                <a:solidFill>
                  <a:srgbClr val="0000FF"/>
                </a:solidFill>
                <a:effectLst/>
                <a:latin typeface="Consolas" panose="020B0609020204030204" pitchFamily="49" charset="0"/>
              </a:rPr>
              <a:t>SELECT</a:t>
            </a:r>
            <a:r>
              <a:rPr lang="en-US" sz="2000" b="0" i="0" dirty="0">
                <a:solidFill>
                  <a:srgbClr val="006FE0"/>
                </a:solidFill>
                <a:effectLst/>
                <a:latin typeface="Consolas" panose="020B0609020204030204" pitchFamily="49" charset="0"/>
              </a:rPr>
              <a:t> </a:t>
            </a:r>
            <a:r>
              <a:rPr lang="en-US" sz="2000" b="0" i="0" dirty="0">
                <a:solidFill>
                  <a:srgbClr val="808080"/>
                </a:solidFill>
                <a:effectLst/>
                <a:latin typeface="Consolas" panose="020B0609020204030204" pitchFamily="49" charset="0"/>
              </a:rPr>
              <a:t>* </a:t>
            </a:r>
            <a:r>
              <a:rPr lang="en-US" sz="2000" b="0" i="0" dirty="0">
                <a:solidFill>
                  <a:srgbClr val="0000FF"/>
                </a:solidFill>
                <a:effectLst/>
                <a:latin typeface="Consolas" panose="020B0609020204030204" pitchFamily="49" charset="0"/>
              </a:rPr>
              <a:t>FROM</a:t>
            </a:r>
            <a:r>
              <a:rPr lang="en-US" sz="2000" b="0" i="0" dirty="0">
                <a:solidFill>
                  <a:srgbClr val="006FE0"/>
                </a:solidFill>
                <a:effectLst/>
                <a:latin typeface="Consolas" panose="020B0609020204030204" pitchFamily="49" charset="0"/>
              </a:rPr>
              <a:t> </a:t>
            </a:r>
            <a:r>
              <a:rPr lang="en-US" sz="2000" dirty="0">
                <a:solidFill>
                  <a:srgbClr val="008080"/>
                </a:solidFill>
                <a:latin typeface="Consolas" panose="020B0609020204030204" pitchFamily="49" charset="0"/>
              </a:rPr>
              <a:t>Source</a:t>
            </a:r>
            <a:r>
              <a:rPr lang="en-US" sz="2000" b="0" i="0" dirty="0">
                <a:solidFill>
                  <a:srgbClr val="008080"/>
                </a:solidFill>
                <a:effectLst/>
                <a:latin typeface="Consolas" panose="020B0609020204030204" pitchFamily="49" charset="0"/>
              </a:rPr>
              <a:t>Table</a:t>
            </a:r>
            <a:r>
              <a:rPr lang="en-US" sz="2000" b="0" i="0" dirty="0">
                <a:solidFill>
                  <a:srgbClr val="0000FF"/>
                </a:solidFill>
                <a:effectLst/>
                <a:latin typeface="Consolas" panose="020B0609020204030204" pitchFamily="49" charset="0"/>
              </a:rPr>
              <a:t> </a:t>
            </a:r>
          </a:p>
          <a:p>
            <a:endParaRPr lang="en-US" dirty="0">
              <a:latin typeface="inherit"/>
            </a:endParaRPr>
          </a:p>
          <a:p>
            <a:r>
              <a:rPr lang="en-US" dirty="0">
                <a:latin typeface="inherit"/>
              </a:rPr>
              <a:t>Speeds up the insert</a:t>
            </a:r>
          </a:p>
          <a:p>
            <a:r>
              <a:rPr lang="en-US" b="0" i="0" dirty="0">
                <a:effectLst/>
                <a:latin typeface="inherit"/>
              </a:rPr>
              <a:t>For bulk loads</a:t>
            </a:r>
          </a:p>
          <a:p>
            <a:endParaRPr lang="en-US" b="0" i="0" dirty="0">
              <a:effectLst/>
              <a:latin typeface="inherit"/>
            </a:endParaRPr>
          </a:p>
          <a:p>
            <a:pPr algn="l">
              <a:buNone/>
            </a:pPr>
            <a:r>
              <a:rPr lang="en-US" b="0" i="0" dirty="0">
                <a:solidFill>
                  <a:srgbClr val="000000"/>
                </a:solidFill>
                <a:effectLst/>
                <a:latin typeface="Roboto Mono" panose="00000009000000000000" pitchFamily="49" charset="0"/>
              </a:rPr>
              <a:t> </a:t>
            </a:r>
            <a:endParaRPr lang="en-US" dirty="0"/>
          </a:p>
        </p:txBody>
      </p:sp>
    </p:spTree>
    <p:extLst>
      <p:ext uri="{BB962C8B-B14F-4D97-AF65-F5344CB8AC3E}">
        <p14:creationId xmlns:p14="http://schemas.microsoft.com/office/powerpoint/2010/main" val="198211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C850-8580-FE95-86CF-BD9F6E311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94D346-CB48-5BD5-DE59-8BFC558EB66D}"/>
              </a:ext>
            </a:extLst>
          </p:cNvPr>
          <p:cNvSpPr>
            <a:spLocks noGrp="1"/>
          </p:cNvSpPr>
          <p:nvPr>
            <p:ph type="title"/>
          </p:nvPr>
        </p:nvSpPr>
        <p:spPr/>
        <p:txBody>
          <a:bodyPr>
            <a:normAutofit/>
          </a:bodyPr>
          <a:lstStyle/>
          <a:p>
            <a:r>
              <a:rPr lang="en-US" sz="4800" b="1" dirty="0">
                <a:solidFill>
                  <a:schemeClr val="accent2">
                    <a:lumMod val="75000"/>
                  </a:schemeClr>
                </a:solidFill>
              </a:rPr>
              <a:t>What is TABLOCK hint </a:t>
            </a:r>
          </a:p>
        </p:txBody>
      </p:sp>
      <p:sp>
        <p:nvSpPr>
          <p:cNvPr id="3" name="Content Placeholder 2">
            <a:extLst>
              <a:ext uri="{FF2B5EF4-FFF2-40B4-BE49-F238E27FC236}">
                <a16:creationId xmlns:a16="http://schemas.microsoft.com/office/drawing/2014/main" id="{52455D4C-5BF3-1833-6574-AB93642F48EE}"/>
              </a:ext>
            </a:extLst>
          </p:cNvPr>
          <p:cNvSpPr>
            <a:spLocks noGrp="1"/>
          </p:cNvSpPr>
          <p:nvPr>
            <p:ph idx="1"/>
          </p:nvPr>
        </p:nvSpPr>
        <p:spPr/>
        <p:txBody>
          <a:bodyPr>
            <a:normAutofit/>
          </a:bodyPr>
          <a:lstStyle/>
          <a:p>
            <a:r>
              <a:rPr lang="en-US" dirty="0">
                <a:solidFill>
                  <a:srgbClr val="161616"/>
                </a:solidFill>
                <a:latin typeface="Segoe UI" panose="020B0502040204020203" pitchFamily="34" charset="0"/>
              </a:rPr>
              <a:t>Query hint you can add to insert statements</a:t>
            </a:r>
          </a:p>
          <a:p>
            <a:r>
              <a:rPr lang="en-US" dirty="0">
                <a:solidFill>
                  <a:srgbClr val="161616"/>
                </a:solidFill>
                <a:latin typeface="Segoe UI" panose="020B0502040204020203" pitchFamily="34" charset="0"/>
              </a:rPr>
              <a:t>Locks the whole table</a:t>
            </a:r>
          </a:p>
          <a:p>
            <a:pPr marL="0" indent="0">
              <a:buNone/>
            </a:pPr>
            <a:endParaRPr lang="en-US" dirty="0">
              <a:solidFill>
                <a:srgbClr val="161616"/>
              </a:solidFill>
              <a:latin typeface="Segoe UI" panose="020B0502040204020203" pitchFamily="34" charset="0"/>
            </a:endParaRPr>
          </a:p>
          <a:p>
            <a:pPr marL="0" indent="0">
              <a:buNone/>
            </a:pPr>
            <a:endParaRPr lang="en-US" dirty="0"/>
          </a:p>
          <a:p>
            <a:pPr>
              <a:buNone/>
            </a:pPr>
            <a:r>
              <a:rPr lang="en-US" sz="2000" dirty="0">
                <a:solidFill>
                  <a:srgbClr val="0000FF"/>
                </a:solidFill>
                <a:latin typeface="Consolas" panose="020B0609020204030204" pitchFamily="49" charset="0"/>
              </a:rPr>
              <a:t>INSERT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6FE0"/>
                </a:solidFill>
                <a:latin typeface="Consolas" panose="020B0609020204030204" pitchFamily="49" charset="0"/>
              </a:rPr>
              <a:t>  </a:t>
            </a:r>
            <a:r>
              <a:rPr lang="en-US" sz="2000" dirty="0">
                <a:solidFill>
                  <a:srgbClr val="008080"/>
                </a:solidFill>
                <a:latin typeface="Consolas" panose="020B0609020204030204" pitchFamily="49" charset="0"/>
              </a:rPr>
              <a:t>TargetTable</a:t>
            </a:r>
            <a:endParaRPr lang="en-US" sz="2000" dirty="0">
              <a:solidFill>
                <a:srgbClr val="000000"/>
              </a:solidFill>
              <a:highlight>
                <a:srgbClr val="C0C0C0"/>
              </a:highlight>
              <a:latin typeface="Consolas" panose="020B0609020204030204" pitchFamily="49" charset="0"/>
            </a:endParaRPr>
          </a:p>
          <a:p>
            <a:pPr>
              <a:buNone/>
            </a:pPr>
            <a:r>
              <a:rPr lang="en-US" sz="2000" dirty="0">
                <a:solidFill>
                  <a:srgbClr val="0000FF"/>
                </a:solidFill>
                <a:latin typeface="Consolas" panose="020B0609020204030204" pitchFamily="49" charset="0"/>
              </a:rPr>
              <a:t>SELECT</a:t>
            </a:r>
            <a:r>
              <a:rPr lang="en-US" sz="2000" dirty="0">
                <a:solidFill>
                  <a:srgbClr val="006FE0"/>
                </a:solidFill>
                <a:latin typeface="Consolas" panose="020B0609020204030204" pitchFamily="49" charset="0"/>
              </a:rPr>
              <a:t> </a:t>
            </a:r>
            <a:r>
              <a:rPr lang="en-US" sz="2000" dirty="0">
                <a:solidFill>
                  <a:srgbClr val="808080"/>
                </a:solidFill>
                <a:latin typeface="Consolas" panose="020B0609020204030204" pitchFamily="49" charset="0"/>
              </a:rPr>
              <a:t>* </a:t>
            </a:r>
            <a:r>
              <a:rPr lang="en-US" sz="2000" dirty="0">
                <a:solidFill>
                  <a:srgbClr val="0000FF"/>
                </a:solidFill>
                <a:latin typeface="Consolas" panose="020B0609020204030204" pitchFamily="49" charset="0"/>
              </a:rPr>
              <a:t>FROM</a:t>
            </a:r>
            <a:r>
              <a:rPr lang="en-US" sz="2000" dirty="0">
                <a:solidFill>
                  <a:srgbClr val="006FE0"/>
                </a:solidFill>
                <a:latin typeface="Consolas" panose="020B0609020204030204" pitchFamily="49" charset="0"/>
              </a:rPr>
              <a:t> </a:t>
            </a:r>
            <a:r>
              <a:rPr lang="en-US" sz="2000" dirty="0">
                <a:solidFill>
                  <a:srgbClr val="008080"/>
                </a:solidFill>
                <a:latin typeface="Consolas" panose="020B0609020204030204" pitchFamily="49" charset="0"/>
              </a:rPr>
              <a:t>SourceTable</a:t>
            </a:r>
            <a:r>
              <a:rPr lang="en-US" sz="2000" dirty="0">
                <a:solidFill>
                  <a:srgbClr val="0000FF"/>
                </a:solidFill>
                <a:latin typeface="Consolas" panose="020B0609020204030204" pitchFamily="49" charset="0"/>
              </a:rPr>
              <a:t>;</a:t>
            </a:r>
          </a:p>
          <a:p>
            <a:pPr>
              <a:buNone/>
            </a:pPr>
            <a:endParaRPr lang="en-US" sz="2000" dirty="0">
              <a:solidFill>
                <a:srgbClr val="0000FF"/>
              </a:solidFill>
              <a:latin typeface="Consolas" panose="020B0609020204030204" pitchFamily="49" charset="0"/>
            </a:endParaRPr>
          </a:p>
          <a:p>
            <a:pPr>
              <a:buNone/>
            </a:pPr>
            <a:r>
              <a:rPr lang="en-US" sz="2000" dirty="0">
                <a:solidFill>
                  <a:srgbClr val="0000FF"/>
                </a:solidFill>
                <a:latin typeface="Consolas" panose="020B0609020204030204" pitchFamily="49" charset="0"/>
              </a:rPr>
              <a:t>INSERT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6FE0"/>
                </a:solidFill>
                <a:latin typeface="Consolas" panose="020B0609020204030204" pitchFamily="49" charset="0"/>
              </a:rPr>
              <a:t>  </a:t>
            </a:r>
            <a:r>
              <a:rPr lang="en-US" sz="2000" dirty="0">
                <a:solidFill>
                  <a:srgbClr val="008080"/>
                </a:solidFill>
                <a:latin typeface="Consolas" panose="020B0609020204030204" pitchFamily="49" charset="0"/>
              </a:rPr>
              <a:t>TargetTable </a:t>
            </a:r>
            <a:r>
              <a:rPr lang="en-US" sz="2000" dirty="0">
                <a:solidFill>
                  <a:srgbClr val="008080"/>
                </a:solidFill>
                <a:highlight>
                  <a:srgbClr val="C0C0C0"/>
                </a:highlight>
                <a:latin typeface="Consolas" panose="020B0609020204030204" pitchFamily="49" charset="0"/>
              </a:rPr>
              <a:t>WITH (TABLOCK)</a:t>
            </a:r>
            <a:endParaRPr lang="en-US" sz="2000" dirty="0">
              <a:solidFill>
                <a:srgbClr val="000000"/>
              </a:solidFill>
              <a:highlight>
                <a:srgbClr val="C0C0C0"/>
              </a:highlight>
              <a:latin typeface="Consolas" panose="020B0609020204030204" pitchFamily="49" charset="0"/>
            </a:endParaRPr>
          </a:p>
          <a:p>
            <a:pPr>
              <a:buNone/>
            </a:pPr>
            <a:r>
              <a:rPr lang="en-US" sz="2000" dirty="0">
                <a:solidFill>
                  <a:srgbClr val="0000FF"/>
                </a:solidFill>
                <a:latin typeface="Consolas" panose="020B0609020204030204" pitchFamily="49" charset="0"/>
              </a:rPr>
              <a:t>SELECT</a:t>
            </a:r>
            <a:r>
              <a:rPr lang="en-US" sz="2000" dirty="0">
                <a:solidFill>
                  <a:srgbClr val="006FE0"/>
                </a:solidFill>
                <a:latin typeface="Consolas" panose="020B0609020204030204" pitchFamily="49" charset="0"/>
              </a:rPr>
              <a:t> </a:t>
            </a:r>
            <a:r>
              <a:rPr lang="en-US" sz="2000" dirty="0">
                <a:solidFill>
                  <a:srgbClr val="808080"/>
                </a:solidFill>
                <a:latin typeface="Consolas" panose="020B0609020204030204" pitchFamily="49" charset="0"/>
              </a:rPr>
              <a:t>* </a:t>
            </a:r>
            <a:r>
              <a:rPr lang="en-US" sz="2000" dirty="0">
                <a:solidFill>
                  <a:srgbClr val="0000FF"/>
                </a:solidFill>
                <a:latin typeface="Consolas" panose="020B0609020204030204" pitchFamily="49" charset="0"/>
              </a:rPr>
              <a:t>FROM</a:t>
            </a:r>
            <a:r>
              <a:rPr lang="en-US" sz="2000" dirty="0">
                <a:solidFill>
                  <a:srgbClr val="006FE0"/>
                </a:solidFill>
                <a:latin typeface="Consolas" panose="020B0609020204030204" pitchFamily="49" charset="0"/>
              </a:rPr>
              <a:t> </a:t>
            </a:r>
            <a:r>
              <a:rPr lang="en-US" sz="2000" dirty="0">
                <a:solidFill>
                  <a:srgbClr val="008080"/>
                </a:solidFill>
                <a:latin typeface="Consolas" panose="020B0609020204030204" pitchFamily="49" charset="0"/>
              </a:rPr>
              <a:t>SourceTable</a:t>
            </a:r>
            <a:r>
              <a:rPr lang="en-US" sz="2000" dirty="0">
                <a:solidFill>
                  <a:srgbClr val="0000FF"/>
                </a:solidFill>
                <a:latin typeface="Consolas" panose="020B0609020204030204" pitchFamily="49" charset="0"/>
              </a:rPr>
              <a:t>;</a:t>
            </a:r>
          </a:p>
          <a:p>
            <a:pPr>
              <a:buNone/>
            </a:pPr>
            <a:endParaRPr lang="en-US" dirty="0">
              <a:solidFill>
                <a:srgbClr val="0000FF"/>
              </a:solidFill>
              <a:latin typeface="inherit"/>
            </a:endParaRP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06462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7B11-29D6-9375-10C2-575680E89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42493-6091-6EA9-976F-F06104EACD2A}"/>
              </a:ext>
            </a:extLst>
          </p:cNvPr>
          <p:cNvSpPr>
            <a:spLocks noGrp="1"/>
          </p:cNvSpPr>
          <p:nvPr>
            <p:ph type="title"/>
          </p:nvPr>
        </p:nvSpPr>
        <p:spPr/>
        <p:txBody>
          <a:bodyPr>
            <a:normAutofit/>
          </a:bodyPr>
          <a:lstStyle/>
          <a:p>
            <a:r>
              <a:rPr lang="en-US" sz="4800" b="1" dirty="0">
                <a:solidFill>
                  <a:schemeClr val="accent2">
                    <a:lumMod val="75000"/>
                  </a:schemeClr>
                </a:solidFill>
              </a:rPr>
              <a:t>When to use TABLOCK</a:t>
            </a:r>
          </a:p>
        </p:txBody>
      </p:sp>
      <p:sp>
        <p:nvSpPr>
          <p:cNvPr id="3" name="Content Placeholder 2">
            <a:extLst>
              <a:ext uri="{FF2B5EF4-FFF2-40B4-BE49-F238E27FC236}">
                <a16:creationId xmlns:a16="http://schemas.microsoft.com/office/drawing/2014/main" id="{537BA905-15BA-33A8-45D6-3EA354C34110}"/>
              </a:ext>
            </a:extLst>
          </p:cNvPr>
          <p:cNvSpPr>
            <a:spLocks noGrp="1"/>
          </p:cNvSpPr>
          <p:nvPr>
            <p:ph idx="1"/>
          </p:nvPr>
        </p:nvSpPr>
        <p:spPr/>
        <p:txBody>
          <a:bodyPr/>
          <a:lstStyle/>
          <a:p>
            <a:r>
              <a:rPr lang="en-US" dirty="0">
                <a:solidFill>
                  <a:srgbClr val="161616"/>
                </a:solidFill>
                <a:latin typeface="Segoe UI" panose="020B0502040204020203" pitchFamily="34" charset="0"/>
              </a:rPr>
              <a:t>Bulk loading into an empty or staging table/temp table</a:t>
            </a:r>
          </a:p>
          <a:p>
            <a:r>
              <a:rPr lang="en-US" dirty="0">
                <a:solidFill>
                  <a:srgbClr val="161616"/>
                </a:solidFill>
                <a:latin typeface="Segoe UI" panose="020B0502040204020203" pitchFamily="34" charset="0"/>
              </a:rPr>
              <a:t>Stored procedures</a:t>
            </a:r>
          </a:p>
          <a:p>
            <a:r>
              <a:rPr lang="en-US" dirty="0">
                <a:solidFill>
                  <a:srgbClr val="161616"/>
                </a:solidFill>
                <a:latin typeface="Segoe UI" panose="020B0502040204020203" pitchFamily="34" charset="0"/>
              </a:rPr>
              <a:t>Nightly ETL jobs</a:t>
            </a:r>
          </a:p>
          <a:p>
            <a:r>
              <a:rPr lang="en-US" dirty="0">
                <a:solidFill>
                  <a:srgbClr val="161616"/>
                </a:solidFill>
                <a:latin typeface="Segoe UI" panose="020B0502040204020203" pitchFamily="34" charset="0"/>
              </a:rPr>
              <a:t>Data archiving jobs </a:t>
            </a:r>
          </a:p>
          <a:p>
            <a:pPr marL="457200" lvl="1" indent="0">
              <a:buNone/>
            </a:pPr>
            <a:endParaRPr lang="en-US" dirty="0"/>
          </a:p>
          <a:p>
            <a:pPr lvl="1"/>
            <a:endParaRPr lang="en-US" dirty="0"/>
          </a:p>
          <a:p>
            <a:pPr lvl="1"/>
            <a:endParaRPr lang="en-US" dirty="0"/>
          </a:p>
        </p:txBody>
      </p:sp>
    </p:spTree>
    <p:extLst>
      <p:ext uri="{BB962C8B-B14F-4D97-AF65-F5344CB8AC3E}">
        <p14:creationId xmlns:p14="http://schemas.microsoft.com/office/powerpoint/2010/main" val="1884219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C12C2-2891-51B9-3443-132B7DA43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7756D-CF86-F869-F65F-3FA23F34C881}"/>
              </a:ext>
            </a:extLst>
          </p:cNvPr>
          <p:cNvSpPr>
            <a:spLocks noGrp="1"/>
          </p:cNvSpPr>
          <p:nvPr>
            <p:ph type="title"/>
          </p:nvPr>
        </p:nvSpPr>
        <p:spPr/>
        <p:txBody>
          <a:bodyPr>
            <a:normAutofit/>
          </a:bodyPr>
          <a:lstStyle/>
          <a:p>
            <a:r>
              <a:rPr lang="en-US" sz="4800" b="1" dirty="0">
                <a:solidFill>
                  <a:schemeClr val="accent2">
                    <a:lumMod val="75000"/>
                  </a:schemeClr>
                </a:solidFill>
              </a:rPr>
              <a:t>Benefits of TABLOCK hint</a:t>
            </a:r>
          </a:p>
        </p:txBody>
      </p:sp>
      <p:sp>
        <p:nvSpPr>
          <p:cNvPr id="3" name="Content Placeholder 2">
            <a:extLst>
              <a:ext uri="{FF2B5EF4-FFF2-40B4-BE49-F238E27FC236}">
                <a16:creationId xmlns:a16="http://schemas.microsoft.com/office/drawing/2014/main" id="{D4961ECB-869F-1842-BCF5-D609DAC99B7A}"/>
              </a:ext>
            </a:extLst>
          </p:cNvPr>
          <p:cNvSpPr>
            <a:spLocks noGrp="1"/>
          </p:cNvSpPr>
          <p:nvPr>
            <p:ph idx="1"/>
          </p:nvPr>
        </p:nvSpPr>
        <p:spPr/>
        <p:txBody>
          <a:bodyPr>
            <a:normAutofit/>
          </a:bodyPr>
          <a:lstStyle/>
          <a:p>
            <a:pPr marL="0" indent="0">
              <a:buNone/>
            </a:pPr>
            <a:r>
              <a:rPr lang="en-US" dirty="0">
                <a:solidFill>
                  <a:srgbClr val="161616"/>
                </a:solidFill>
                <a:latin typeface="Segoe UI" panose="020B0502040204020203" pitchFamily="34" charset="0"/>
              </a:rPr>
              <a:t>Regular INSERT</a:t>
            </a:r>
          </a:p>
          <a:p>
            <a:r>
              <a:rPr lang="en-US" dirty="0">
                <a:solidFill>
                  <a:srgbClr val="161616"/>
                </a:solidFill>
                <a:latin typeface="Segoe UI" panose="020B0502040204020203" pitchFamily="34" charset="0"/>
              </a:rPr>
              <a:t>Writes everything to the log file - Fully logged </a:t>
            </a:r>
          </a:p>
          <a:p>
            <a:pPr marL="0" indent="0">
              <a:buNone/>
            </a:pPr>
            <a:endParaRPr lang="en-US" dirty="0">
              <a:solidFill>
                <a:srgbClr val="161616"/>
              </a:solidFill>
              <a:latin typeface="Segoe UI" panose="020B0502040204020203" pitchFamily="34" charset="0"/>
            </a:endParaRPr>
          </a:p>
          <a:p>
            <a:pPr marL="0" indent="0">
              <a:buNone/>
            </a:pPr>
            <a:r>
              <a:rPr lang="en-US" dirty="0">
                <a:solidFill>
                  <a:srgbClr val="161616"/>
                </a:solidFill>
                <a:latin typeface="Segoe UI" panose="020B0502040204020203" pitchFamily="34" charset="0"/>
              </a:rPr>
              <a:t>INSERT WITH TABLOCK</a:t>
            </a:r>
          </a:p>
          <a:p>
            <a:r>
              <a:rPr lang="en-US" dirty="0">
                <a:solidFill>
                  <a:schemeClr val="tx2">
                    <a:lumMod val="75000"/>
                    <a:lumOff val="25000"/>
                  </a:schemeClr>
                </a:solidFill>
                <a:latin typeface="Segoe UI" panose="020B0502040204020203" pitchFamily="34" charset="0"/>
              </a:rPr>
              <a:t>Writes almost nothing to the logfile - Minimally logged</a:t>
            </a:r>
          </a:p>
        </p:txBody>
      </p:sp>
    </p:spTree>
    <p:extLst>
      <p:ext uri="{BB962C8B-B14F-4D97-AF65-F5344CB8AC3E}">
        <p14:creationId xmlns:p14="http://schemas.microsoft.com/office/powerpoint/2010/main" val="118002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F1F-F812-3BF3-2F85-5000B9B9D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4ED40-B53B-EF5F-2DD3-E286ACBE2D5F}"/>
              </a:ext>
            </a:extLst>
          </p:cNvPr>
          <p:cNvSpPr>
            <a:spLocks noGrp="1"/>
          </p:cNvSpPr>
          <p:nvPr>
            <p:ph type="title"/>
          </p:nvPr>
        </p:nvSpPr>
        <p:spPr/>
        <p:txBody>
          <a:bodyPr>
            <a:normAutofit/>
          </a:bodyPr>
          <a:lstStyle/>
          <a:p>
            <a:r>
              <a:rPr lang="en-US" sz="4800" b="1" dirty="0">
                <a:solidFill>
                  <a:schemeClr val="accent2">
                    <a:lumMod val="75000"/>
                  </a:schemeClr>
                </a:solidFill>
              </a:rPr>
              <a:t>Benefits of TABLOCK hint</a:t>
            </a:r>
          </a:p>
        </p:txBody>
      </p:sp>
      <p:sp>
        <p:nvSpPr>
          <p:cNvPr id="3" name="Content Placeholder 2">
            <a:extLst>
              <a:ext uri="{FF2B5EF4-FFF2-40B4-BE49-F238E27FC236}">
                <a16:creationId xmlns:a16="http://schemas.microsoft.com/office/drawing/2014/main" id="{28A126E2-AABA-E755-62E2-C7C61CA18CBC}"/>
              </a:ext>
            </a:extLst>
          </p:cNvPr>
          <p:cNvSpPr>
            <a:spLocks noGrp="1"/>
          </p:cNvSpPr>
          <p:nvPr>
            <p:ph idx="1"/>
          </p:nvPr>
        </p:nvSpPr>
        <p:spPr/>
        <p:txBody>
          <a:bodyPr>
            <a:normAutofit/>
          </a:bodyPr>
          <a:lstStyle/>
          <a:p>
            <a:pPr marL="0" indent="0">
              <a:buNone/>
            </a:pPr>
            <a:r>
              <a:rPr lang="en-US" dirty="0">
                <a:solidFill>
                  <a:srgbClr val="161616"/>
                </a:solidFill>
                <a:latin typeface="Segoe UI" panose="020B0502040204020203" pitchFamily="34" charset="0"/>
              </a:rPr>
              <a:t>Regular INSERT</a:t>
            </a:r>
          </a:p>
          <a:p>
            <a:r>
              <a:rPr lang="en-US" dirty="0">
                <a:solidFill>
                  <a:srgbClr val="161616"/>
                </a:solidFill>
                <a:latin typeface="Segoe UI" panose="020B0502040204020203" pitchFamily="34" charset="0"/>
              </a:rPr>
              <a:t>Serial operation - Only one thread inserts data </a:t>
            </a:r>
          </a:p>
          <a:p>
            <a:endParaRPr lang="en-US" dirty="0">
              <a:solidFill>
                <a:srgbClr val="161616"/>
              </a:solidFill>
              <a:latin typeface="Segoe UI" panose="020B0502040204020203" pitchFamily="34" charset="0"/>
            </a:endParaRPr>
          </a:p>
          <a:p>
            <a:pPr marL="0" indent="0">
              <a:buNone/>
            </a:pPr>
            <a:r>
              <a:rPr lang="en-US" dirty="0">
                <a:solidFill>
                  <a:srgbClr val="161616"/>
                </a:solidFill>
                <a:latin typeface="Segoe UI" panose="020B0502040204020203" pitchFamily="34" charset="0"/>
              </a:rPr>
              <a:t>INSERT WITH TABLOCK</a:t>
            </a:r>
          </a:p>
          <a:p>
            <a:r>
              <a:rPr lang="en-US" dirty="0">
                <a:solidFill>
                  <a:schemeClr val="tx2">
                    <a:lumMod val="75000"/>
                    <a:lumOff val="25000"/>
                  </a:schemeClr>
                </a:solidFill>
                <a:latin typeface="Segoe UI" panose="020B0502040204020203" pitchFamily="34" charset="0"/>
              </a:rPr>
              <a:t>Parallel operation - Multiple threads insert data concurrently</a:t>
            </a:r>
          </a:p>
        </p:txBody>
      </p:sp>
    </p:spTree>
    <p:extLst>
      <p:ext uri="{BB962C8B-B14F-4D97-AF65-F5344CB8AC3E}">
        <p14:creationId xmlns:p14="http://schemas.microsoft.com/office/powerpoint/2010/main" val="85907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A1989-903E-9B14-B7F7-A3877622CCD9}"/>
              </a:ext>
            </a:extLst>
          </p:cNvPr>
          <p:cNvSpPr>
            <a:spLocks noGrp="1"/>
          </p:cNvSpPr>
          <p:nvPr>
            <p:ph type="title"/>
          </p:nvPr>
        </p:nvSpPr>
        <p:spPr/>
        <p:txBody>
          <a:bodyPr>
            <a:normAutofit/>
          </a:bodyPr>
          <a:lstStyle/>
          <a:p>
            <a:r>
              <a:rPr lang="en-US" sz="4800" b="1" dirty="0">
                <a:solidFill>
                  <a:schemeClr val="accent2">
                    <a:lumMod val="75000"/>
                  </a:schemeClr>
                </a:solidFill>
              </a:rPr>
              <a:t>Locking behavior</a:t>
            </a:r>
          </a:p>
        </p:txBody>
      </p:sp>
      <p:sp>
        <p:nvSpPr>
          <p:cNvPr id="3" name="Content Placeholder 2">
            <a:extLst>
              <a:ext uri="{FF2B5EF4-FFF2-40B4-BE49-F238E27FC236}">
                <a16:creationId xmlns:a16="http://schemas.microsoft.com/office/drawing/2014/main" id="{D807FF21-A556-1BAE-485B-3D51B7BD9D2E}"/>
              </a:ext>
            </a:extLst>
          </p:cNvPr>
          <p:cNvSpPr>
            <a:spLocks noGrp="1"/>
          </p:cNvSpPr>
          <p:nvPr>
            <p:ph idx="1"/>
          </p:nvPr>
        </p:nvSpPr>
        <p:spPr/>
        <p:txBody>
          <a:bodyPr>
            <a:normAutofit/>
          </a:bodyPr>
          <a:lstStyle/>
          <a:p>
            <a:r>
              <a:rPr lang="en-US" dirty="0">
                <a:solidFill>
                  <a:srgbClr val="161616"/>
                </a:solidFill>
                <a:latin typeface="Segoe UI" panose="020B0502040204020203" pitchFamily="34" charset="0"/>
              </a:rPr>
              <a:t>REGULAR INSERT</a:t>
            </a:r>
          </a:p>
          <a:p>
            <a:pPr lvl="1"/>
            <a:r>
              <a:rPr lang="en-US" sz="2800" dirty="0">
                <a:solidFill>
                  <a:srgbClr val="161616"/>
                </a:solidFill>
                <a:latin typeface="Segoe UI" panose="020B0502040204020203" pitchFamily="34" charset="0"/>
              </a:rPr>
              <a:t>Row-level (RID or KEY) or page-level (PAG) locks.</a:t>
            </a:r>
          </a:p>
          <a:p>
            <a:pPr lvl="1"/>
            <a:r>
              <a:rPr lang="en-US" sz="2800" dirty="0">
                <a:solidFill>
                  <a:srgbClr val="161616"/>
                </a:solidFill>
                <a:latin typeface="Segoe UI" panose="020B0502040204020203" pitchFamily="34" charset="0"/>
              </a:rPr>
              <a:t>Less blocking</a:t>
            </a:r>
          </a:p>
          <a:p>
            <a:endParaRPr lang="en-US" dirty="0">
              <a:solidFill>
                <a:srgbClr val="161616"/>
              </a:solidFill>
              <a:latin typeface="Segoe UI" panose="020B0502040204020203" pitchFamily="34" charset="0"/>
            </a:endParaRPr>
          </a:p>
          <a:p>
            <a:r>
              <a:rPr lang="en-US" dirty="0">
                <a:solidFill>
                  <a:srgbClr val="161616"/>
                </a:solidFill>
                <a:latin typeface="Segoe UI" panose="020B0502040204020203" pitchFamily="34" charset="0"/>
              </a:rPr>
              <a:t>INSERT WITH TABLOCK HINT</a:t>
            </a:r>
          </a:p>
          <a:p>
            <a:pPr lvl="1"/>
            <a:r>
              <a:rPr lang="en-US" sz="2800" dirty="0">
                <a:solidFill>
                  <a:srgbClr val="161616"/>
                </a:solidFill>
                <a:latin typeface="Segoe UI" panose="020B0502040204020203" pitchFamily="34" charset="0"/>
              </a:rPr>
              <a:t>Table-level lock (TAB)</a:t>
            </a:r>
          </a:p>
          <a:p>
            <a:pPr lvl="1"/>
            <a:r>
              <a:rPr lang="en-US" sz="2800" dirty="0">
                <a:solidFill>
                  <a:srgbClr val="161616"/>
                </a:solidFill>
                <a:latin typeface="Segoe UI" panose="020B0502040204020203" pitchFamily="34" charset="0"/>
              </a:rPr>
              <a:t>Blocks other queries</a:t>
            </a:r>
          </a:p>
        </p:txBody>
      </p:sp>
    </p:spTree>
    <p:extLst>
      <p:ext uri="{BB962C8B-B14F-4D97-AF65-F5344CB8AC3E}">
        <p14:creationId xmlns:p14="http://schemas.microsoft.com/office/powerpoint/2010/main" val="199524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4C6A-84CF-ED95-220D-DB84F6E88FEC}"/>
              </a:ext>
            </a:extLst>
          </p:cNvPr>
          <p:cNvSpPr>
            <a:spLocks noGrp="1"/>
          </p:cNvSpPr>
          <p:nvPr>
            <p:ph type="title"/>
          </p:nvPr>
        </p:nvSpPr>
        <p:spPr/>
        <p:txBody>
          <a:bodyPr>
            <a:normAutofit/>
          </a:bodyPr>
          <a:lstStyle/>
          <a:p>
            <a:r>
              <a:rPr lang="en-US" sz="4800" b="1" dirty="0">
                <a:solidFill>
                  <a:schemeClr val="accent2">
                    <a:lumMod val="75000"/>
                  </a:schemeClr>
                </a:solidFill>
              </a:rPr>
              <a:t>Scenarios to use Tablock</a:t>
            </a:r>
            <a:endParaRPr lang="en-US" sz="4800" b="1" dirty="0">
              <a:solidFill>
                <a:schemeClr val="accent2">
                  <a:lumMod val="75000"/>
                </a:schemeClr>
              </a:solidFill>
              <a:highlight>
                <a:srgbClr val="FFFF00"/>
              </a:highlight>
            </a:endParaRPr>
          </a:p>
        </p:txBody>
      </p:sp>
      <p:sp>
        <p:nvSpPr>
          <p:cNvPr id="3" name="Content Placeholder 2">
            <a:extLst>
              <a:ext uri="{FF2B5EF4-FFF2-40B4-BE49-F238E27FC236}">
                <a16:creationId xmlns:a16="http://schemas.microsoft.com/office/drawing/2014/main" id="{B6B879DE-7732-7532-CC33-7C292DD0D725}"/>
              </a:ext>
            </a:extLst>
          </p:cNvPr>
          <p:cNvSpPr>
            <a:spLocks noGrp="1"/>
          </p:cNvSpPr>
          <p:nvPr>
            <p:ph idx="1"/>
          </p:nvPr>
        </p:nvSpPr>
        <p:spPr/>
        <p:txBody>
          <a:bodyPr>
            <a:normAutofit/>
          </a:bodyPr>
          <a:lstStyle/>
          <a:p>
            <a:r>
              <a:rPr lang="en-US" dirty="0">
                <a:solidFill>
                  <a:srgbClr val="161616"/>
                </a:solidFill>
                <a:latin typeface="Segoe UI" panose="020B0502040204020203" pitchFamily="34" charset="0"/>
              </a:rPr>
              <a:t>TABLOCK hint is </a:t>
            </a:r>
            <a:r>
              <a:rPr lang="en-US" b="1" dirty="0">
                <a:solidFill>
                  <a:schemeClr val="tx2">
                    <a:lumMod val="75000"/>
                    <a:lumOff val="25000"/>
                  </a:schemeClr>
                </a:solidFill>
                <a:latin typeface="Segoe UI" panose="020B0502040204020203" pitchFamily="34" charset="0"/>
              </a:rPr>
              <a:t>best</a:t>
            </a:r>
            <a:r>
              <a:rPr lang="en-US" dirty="0">
                <a:solidFill>
                  <a:srgbClr val="161616"/>
                </a:solidFill>
                <a:latin typeface="Segoe UI" panose="020B0502040204020203" pitchFamily="34" charset="0"/>
              </a:rPr>
              <a:t> used </a:t>
            </a:r>
          </a:p>
          <a:p>
            <a:pPr lvl="1"/>
            <a:r>
              <a:rPr lang="en-US" sz="2800" dirty="0">
                <a:solidFill>
                  <a:srgbClr val="161616"/>
                </a:solidFill>
                <a:latin typeface="Segoe UI" panose="020B0502040204020203" pitchFamily="34" charset="0"/>
              </a:rPr>
              <a:t>SIMPLE, BULK-LOGGED Recovery Model</a:t>
            </a:r>
          </a:p>
          <a:p>
            <a:pPr lvl="1"/>
            <a:r>
              <a:rPr lang="en-US" sz="2800" dirty="0">
                <a:solidFill>
                  <a:srgbClr val="161616"/>
                </a:solidFill>
                <a:latin typeface="Segoe UI" panose="020B0502040204020203" pitchFamily="34" charset="0"/>
              </a:rPr>
              <a:t>Heap tables</a:t>
            </a:r>
          </a:p>
          <a:p>
            <a:pPr lvl="1"/>
            <a:r>
              <a:rPr lang="en-US" sz="2800" dirty="0">
                <a:solidFill>
                  <a:srgbClr val="161616"/>
                </a:solidFill>
                <a:latin typeface="Segoe UI" panose="020B0502040204020203" pitchFamily="34" charset="0"/>
              </a:rPr>
              <a:t>Columnstore clustered indexes (OLAP)</a:t>
            </a:r>
          </a:p>
          <a:p>
            <a:pPr lvl="1"/>
            <a:r>
              <a:rPr lang="en-US" sz="2800" dirty="0">
                <a:solidFill>
                  <a:srgbClr val="161616"/>
                </a:solidFill>
                <a:latin typeface="Segoe UI" panose="020B0502040204020203" pitchFamily="34" charset="0"/>
              </a:rPr>
              <a:t>Temp tables or Staging data</a:t>
            </a:r>
          </a:p>
          <a:p>
            <a:pPr lvl="1"/>
            <a:r>
              <a:rPr lang="en-US" sz="2800" dirty="0">
                <a:solidFill>
                  <a:srgbClr val="161616"/>
                </a:solidFill>
                <a:latin typeface="Segoe UI" panose="020B0502040204020203" pitchFamily="34" charset="0"/>
              </a:rPr>
              <a:t>Huge amount of data</a:t>
            </a:r>
          </a:p>
          <a:p>
            <a:pPr marL="457200" lvl="1" indent="0">
              <a:buNone/>
            </a:pPr>
            <a:endParaRPr lang="en-US" sz="2800" dirty="0">
              <a:solidFill>
                <a:srgbClr val="161616"/>
              </a:solidFill>
              <a:latin typeface="Segoe UI" panose="020B0502040204020203" pitchFamily="34" charset="0"/>
            </a:endParaRPr>
          </a:p>
          <a:p>
            <a:pPr marL="0" indent="0">
              <a:buNone/>
            </a:pPr>
            <a:r>
              <a:rPr lang="en-US" dirty="0">
                <a:solidFill>
                  <a:srgbClr val="161616"/>
                </a:solidFill>
                <a:latin typeface="Segoe UI" panose="020B0502040204020203" pitchFamily="34" charset="0"/>
              </a:rPr>
              <a:t>TABLOCK hint can </a:t>
            </a:r>
            <a:r>
              <a:rPr lang="en-US" dirty="0">
                <a:solidFill>
                  <a:schemeClr val="tx2">
                    <a:lumMod val="75000"/>
                    <a:lumOff val="25000"/>
                  </a:schemeClr>
                </a:solidFill>
                <a:latin typeface="Segoe UI" panose="020B0502040204020203" pitchFamily="34" charset="0"/>
              </a:rPr>
              <a:t>still be used</a:t>
            </a:r>
          </a:p>
          <a:p>
            <a:pPr lvl="1"/>
            <a:r>
              <a:rPr lang="en-US" sz="2800" dirty="0">
                <a:solidFill>
                  <a:srgbClr val="161616"/>
                </a:solidFill>
                <a:latin typeface="Segoe UI" panose="020B0502040204020203" pitchFamily="34" charset="0"/>
              </a:rPr>
              <a:t>Efficiently in FULL Recovery Model</a:t>
            </a:r>
          </a:p>
          <a:p>
            <a:pPr marL="457200" lvl="1" indent="0">
              <a:buNone/>
            </a:pPr>
            <a:endParaRPr lang="en-US" dirty="0"/>
          </a:p>
          <a:p>
            <a:pPr lvl="1"/>
            <a:endParaRPr lang="en-US" dirty="0"/>
          </a:p>
        </p:txBody>
      </p:sp>
    </p:spTree>
    <p:extLst>
      <p:ext uri="{BB962C8B-B14F-4D97-AF65-F5344CB8AC3E}">
        <p14:creationId xmlns:p14="http://schemas.microsoft.com/office/powerpoint/2010/main" val="280644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0AFE4-FCE7-B5D0-2DC2-B445F44091AC}"/>
              </a:ext>
            </a:extLst>
          </p:cNvPr>
          <p:cNvSpPr>
            <a:spLocks noGrp="1"/>
          </p:cNvSpPr>
          <p:nvPr>
            <p:ph type="title"/>
          </p:nvPr>
        </p:nvSpPr>
        <p:spPr/>
        <p:txBody>
          <a:bodyPr>
            <a:normAutofit/>
          </a:bodyPr>
          <a:lstStyle/>
          <a:p>
            <a:r>
              <a:rPr lang="en-US" sz="4800" b="1" dirty="0">
                <a:solidFill>
                  <a:schemeClr val="accent2">
                    <a:lumMod val="75000"/>
                  </a:schemeClr>
                </a:solidFill>
              </a:rPr>
              <a:t>When NOT to use TABLOCK</a:t>
            </a:r>
          </a:p>
        </p:txBody>
      </p:sp>
      <p:sp>
        <p:nvSpPr>
          <p:cNvPr id="3" name="Content Placeholder 2">
            <a:extLst>
              <a:ext uri="{FF2B5EF4-FFF2-40B4-BE49-F238E27FC236}">
                <a16:creationId xmlns:a16="http://schemas.microsoft.com/office/drawing/2014/main" id="{BFA36379-C796-2CFE-6DAC-A9E562618B9A}"/>
              </a:ext>
            </a:extLst>
          </p:cNvPr>
          <p:cNvSpPr>
            <a:spLocks noGrp="1"/>
          </p:cNvSpPr>
          <p:nvPr>
            <p:ph idx="1"/>
          </p:nvPr>
        </p:nvSpPr>
        <p:spPr/>
        <p:txBody>
          <a:bodyPr/>
          <a:lstStyle/>
          <a:p>
            <a:r>
              <a:rPr lang="en-US" dirty="0">
                <a:solidFill>
                  <a:srgbClr val="161616"/>
                </a:solidFill>
                <a:latin typeface="Segoe UI" panose="020B0502040204020203" pitchFamily="34" charset="0"/>
              </a:rPr>
              <a:t>TABLOCK hint should </a:t>
            </a:r>
            <a:r>
              <a:rPr lang="en-US" b="1" dirty="0">
                <a:solidFill>
                  <a:schemeClr val="tx2">
                    <a:lumMod val="75000"/>
                    <a:lumOff val="25000"/>
                  </a:schemeClr>
                </a:solidFill>
                <a:latin typeface="Segoe UI" panose="020B0502040204020203" pitchFamily="34" charset="0"/>
              </a:rPr>
              <a:t>NOT</a:t>
            </a:r>
            <a:r>
              <a:rPr lang="en-US" dirty="0">
                <a:solidFill>
                  <a:srgbClr val="161616"/>
                </a:solidFill>
                <a:latin typeface="Segoe UI" panose="020B0502040204020203" pitchFamily="34" charset="0"/>
              </a:rPr>
              <a:t> be used </a:t>
            </a:r>
          </a:p>
          <a:p>
            <a:pPr lvl="1"/>
            <a:r>
              <a:rPr lang="en-US" sz="2800" dirty="0">
                <a:solidFill>
                  <a:srgbClr val="161616"/>
                </a:solidFill>
                <a:latin typeface="Segoe UI" panose="020B0502040204020203" pitchFamily="34" charset="0"/>
              </a:rPr>
              <a:t>When concurrency is important</a:t>
            </a:r>
          </a:p>
          <a:p>
            <a:pPr lvl="1"/>
            <a:r>
              <a:rPr lang="en-US" sz="2800" dirty="0">
                <a:solidFill>
                  <a:srgbClr val="161616"/>
                </a:solidFill>
                <a:latin typeface="Segoe UI" panose="020B0502040204020203" pitchFamily="34" charset="0"/>
              </a:rPr>
              <a:t>Highly volatile tables in OLTP</a:t>
            </a:r>
          </a:p>
          <a:p>
            <a:pPr lvl="1"/>
            <a:r>
              <a:rPr lang="en-US" sz="2800" dirty="0">
                <a:solidFill>
                  <a:srgbClr val="161616"/>
                </a:solidFill>
                <a:latin typeface="Segoe UI" panose="020B0502040204020203" pitchFamily="34" charset="0"/>
              </a:rPr>
              <a:t>Clustered and non-clustered indexes on tables</a:t>
            </a:r>
          </a:p>
          <a:p>
            <a:pPr marL="457200" lvl="1" indent="0">
              <a:buNone/>
            </a:pPr>
            <a:endParaRPr lang="en-US" dirty="0"/>
          </a:p>
          <a:p>
            <a:pPr lvl="1"/>
            <a:endParaRPr lang="en-US" dirty="0"/>
          </a:p>
        </p:txBody>
      </p:sp>
    </p:spTree>
    <p:extLst>
      <p:ext uri="{BB962C8B-B14F-4D97-AF65-F5344CB8AC3E}">
        <p14:creationId xmlns:p14="http://schemas.microsoft.com/office/powerpoint/2010/main" val="334457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9B860-11E1-F3C7-82F8-F5725375D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AFF32-6A80-5FB3-F9A9-936DC550A926}"/>
              </a:ext>
            </a:extLst>
          </p:cNvPr>
          <p:cNvSpPr>
            <a:spLocks noGrp="1"/>
          </p:cNvSpPr>
          <p:nvPr>
            <p:ph type="title"/>
          </p:nvPr>
        </p:nvSpPr>
        <p:spPr/>
        <p:txBody>
          <a:bodyPr>
            <a:normAutofit/>
          </a:bodyPr>
          <a:lstStyle/>
          <a:p>
            <a:r>
              <a:rPr lang="en-US" sz="4800" b="1" dirty="0">
                <a:solidFill>
                  <a:schemeClr val="accent2">
                    <a:lumMod val="75000"/>
                  </a:schemeClr>
                </a:solidFill>
              </a:rPr>
              <a:t>Recap – Insert..Select</a:t>
            </a:r>
          </a:p>
        </p:txBody>
      </p:sp>
      <p:sp>
        <p:nvSpPr>
          <p:cNvPr id="3" name="Content Placeholder 2">
            <a:extLst>
              <a:ext uri="{FF2B5EF4-FFF2-40B4-BE49-F238E27FC236}">
                <a16:creationId xmlns:a16="http://schemas.microsoft.com/office/drawing/2014/main" id="{27B90140-1218-96FF-7BFC-B39E4A80DB88}"/>
              </a:ext>
            </a:extLst>
          </p:cNvPr>
          <p:cNvSpPr>
            <a:spLocks noGrp="1"/>
          </p:cNvSpPr>
          <p:nvPr>
            <p:ph idx="1"/>
          </p:nvPr>
        </p:nvSpPr>
        <p:spPr>
          <a:xfrm>
            <a:off x="838200" y="1815793"/>
            <a:ext cx="10515600" cy="4351338"/>
          </a:xfrm>
        </p:spPr>
        <p:txBody>
          <a:bodyPr>
            <a:normAutofit/>
          </a:bodyPr>
          <a:lstStyle/>
          <a:p>
            <a:r>
              <a:rPr lang="en-US" dirty="0">
                <a:solidFill>
                  <a:srgbClr val="161616"/>
                </a:solidFill>
                <a:latin typeface="Segoe UI" panose="020B0502040204020203" pitchFamily="34" charset="0"/>
              </a:rPr>
              <a:t>Insert..Select</a:t>
            </a:r>
          </a:p>
          <a:p>
            <a:pPr lvl="1"/>
            <a:r>
              <a:rPr lang="en-US" dirty="0">
                <a:solidFill>
                  <a:srgbClr val="161616"/>
                </a:solidFill>
                <a:latin typeface="Segoe UI" panose="020B0502040204020203" pitchFamily="34" charset="0"/>
              </a:rPr>
              <a:t>Fully logged</a:t>
            </a:r>
          </a:p>
          <a:p>
            <a:pPr lvl="1"/>
            <a:r>
              <a:rPr lang="en-US" dirty="0">
                <a:solidFill>
                  <a:srgbClr val="161616"/>
                </a:solidFill>
                <a:latin typeface="Segoe UI" panose="020B0502040204020203" pitchFamily="34" charset="0"/>
              </a:rPr>
              <a:t>Serial operation</a:t>
            </a:r>
          </a:p>
          <a:p>
            <a:r>
              <a:rPr lang="en-US" dirty="0">
                <a:solidFill>
                  <a:srgbClr val="161616"/>
                </a:solidFill>
                <a:latin typeface="Segoe UI" panose="020B0502040204020203" pitchFamily="34" charset="0"/>
              </a:rPr>
              <a:t>Make it faster by adding tablock hint</a:t>
            </a:r>
          </a:p>
          <a:p>
            <a:pPr lvl="1"/>
            <a:r>
              <a:rPr lang="en-US" dirty="0">
                <a:solidFill>
                  <a:srgbClr val="161616"/>
                </a:solidFill>
                <a:latin typeface="Segoe UI" panose="020B0502040204020203" pitchFamily="34" charset="0"/>
              </a:rPr>
              <a:t>Minimally logged</a:t>
            </a:r>
          </a:p>
          <a:p>
            <a:pPr lvl="1"/>
            <a:r>
              <a:rPr lang="en-US" dirty="0">
                <a:solidFill>
                  <a:srgbClr val="161616"/>
                </a:solidFill>
                <a:latin typeface="Segoe UI" panose="020B0502040204020203" pitchFamily="34" charset="0"/>
              </a:rPr>
              <a:t>Parallel operation</a:t>
            </a:r>
          </a:p>
          <a:p>
            <a:r>
              <a:rPr lang="en-US" dirty="0">
                <a:solidFill>
                  <a:srgbClr val="161616"/>
                </a:solidFill>
                <a:latin typeface="Segoe UI" panose="020B0502040204020203" pitchFamily="34" charset="0"/>
              </a:rPr>
              <a:t>Only one insert..select operation can run at a time on a table</a:t>
            </a:r>
          </a:p>
          <a:p>
            <a:endParaRPr lang="en-US" dirty="0"/>
          </a:p>
          <a:p>
            <a:endParaRPr lang="en-US" dirty="0"/>
          </a:p>
          <a:p>
            <a:endParaRPr lang="en-US" dirty="0"/>
          </a:p>
        </p:txBody>
      </p:sp>
    </p:spTree>
    <p:extLst>
      <p:ext uri="{BB962C8B-B14F-4D97-AF65-F5344CB8AC3E}">
        <p14:creationId xmlns:p14="http://schemas.microsoft.com/office/powerpoint/2010/main" val="122212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CBA5-159A-7FBD-4E59-35B3366F661C}"/>
              </a:ext>
            </a:extLst>
          </p:cNvPr>
          <p:cNvSpPr>
            <a:spLocks noGrp="1"/>
          </p:cNvSpPr>
          <p:nvPr>
            <p:ph type="title"/>
          </p:nvPr>
        </p:nvSpPr>
        <p:spPr/>
        <p:txBody>
          <a:bodyPr/>
          <a:lstStyle/>
          <a:p>
            <a:r>
              <a:rPr lang="en-US" sz="4800" b="1" dirty="0">
                <a:solidFill>
                  <a:schemeClr val="accent2">
                    <a:lumMod val="75000"/>
                  </a:schemeClr>
                </a:solidFill>
              </a:rPr>
              <a:t>2. Select into </a:t>
            </a:r>
          </a:p>
        </p:txBody>
      </p:sp>
      <p:sp>
        <p:nvSpPr>
          <p:cNvPr id="3" name="Content Placeholder 2">
            <a:extLst>
              <a:ext uri="{FF2B5EF4-FFF2-40B4-BE49-F238E27FC236}">
                <a16:creationId xmlns:a16="http://schemas.microsoft.com/office/drawing/2014/main" id="{5EED04D4-AF67-6CC6-6B04-FD11F1BDD94B}"/>
              </a:ext>
            </a:extLst>
          </p:cNvPr>
          <p:cNvSpPr>
            <a:spLocks noGrp="1"/>
          </p:cNvSpPr>
          <p:nvPr>
            <p:ph idx="1"/>
          </p:nvPr>
        </p:nvSpPr>
        <p:spPr/>
        <p:txBody>
          <a:bodyPr>
            <a:normAutofit fontScale="92500" lnSpcReduction="10000"/>
          </a:bodyPr>
          <a:lstStyle/>
          <a:p>
            <a:pPr marL="0" indent="0">
              <a:buNone/>
            </a:pPr>
            <a:r>
              <a:rPr lang="en-US" sz="2400" dirty="0">
                <a:solidFill>
                  <a:srgbClr val="0000FF"/>
                </a:solidFill>
                <a:latin typeface="Consolas" panose="020B0609020204030204" pitchFamily="49" charset="0"/>
              </a:rPr>
              <a:t>SELECT</a:t>
            </a:r>
            <a:r>
              <a:rPr lang="en-US" sz="2400" dirty="0">
                <a:solidFill>
                  <a:srgbClr val="000000"/>
                </a:solidFill>
                <a:latin typeface="Consolas" panose="020B0609020204030204" pitchFamily="49" charset="0"/>
              </a:rPr>
              <a:t> id</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a</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b </a:t>
            </a:r>
            <a:r>
              <a:rPr lang="en-US" sz="2400" dirty="0">
                <a:solidFill>
                  <a:srgbClr val="0000FF"/>
                </a:solidFill>
                <a:latin typeface="Consolas" panose="020B0609020204030204" pitchFamily="49" charset="0"/>
              </a:rPr>
              <a:t>INTO</a:t>
            </a:r>
            <a:r>
              <a:rPr lang="en-US" sz="2400" dirty="0">
                <a:solidFill>
                  <a:srgbClr val="000000"/>
                </a:solidFill>
                <a:latin typeface="Consolas" panose="020B0609020204030204" pitchFamily="49" charset="0"/>
              </a:rPr>
              <a:t> dbo</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t2 </a:t>
            </a:r>
          </a:p>
          <a:p>
            <a:pPr marL="0" indent="0">
              <a:buNone/>
            </a:pPr>
            <a:r>
              <a:rPr lang="en-US" sz="2400" dirty="0">
                <a:solidFill>
                  <a:srgbClr val="0000FF"/>
                </a:solidFill>
                <a:latin typeface="Consolas" panose="020B0609020204030204" pitchFamily="49" charset="0"/>
              </a:rPr>
              <a:t>FROM</a:t>
            </a:r>
            <a:r>
              <a:rPr lang="en-US" sz="2400" dirty="0">
                <a:solidFill>
                  <a:srgbClr val="000000"/>
                </a:solidFill>
                <a:latin typeface="Consolas" panose="020B0609020204030204" pitchFamily="49" charset="0"/>
              </a:rPr>
              <a:t> dbo</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t1</a:t>
            </a:r>
            <a:r>
              <a:rPr lang="en-US" sz="2400" dirty="0">
                <a:solidFill>
                  <a:srgbClr val="808080"/>
                </a:solidFill>
                <a:latin typeface="Consolas" panose="020B0609020204030204" pitchFamily="49" charset="0"/>
              </a:rPr>
              <a:t>;</a:t>
            </a:r>
          </a:p>
          <a:p>
            <a:pPr marL="0" indent="0">
              <a:buNone/>
            </a:pPr>
            <a:endParaRPr lang="en-US" sz="2400" dirty="0">
              <a:solidFill>
                <a:srgbClr val="808080"/>
              </a:solidFill>
              <a:latin typeface="Consolas" panose="020B0609020204030204" pitchFamily="49" charset="0"/>
            </a:endParaRPr>
          </a:p>
          <a:p>
            <a:r>
              <a:rPr lang="en-US" sz="2400" dirty="0">
                <a:solidFill>
                  <a:srgbClr val="161616"/>
                </a:solidFill>
                <a:latin typeface="Segoe UI" panose="020B0502040204020203" pitchFamily="34" charset="0"/>
              </a:rPr>
              <a:t>Produces a new table</a:t>
            </a:r>
          </a:p>
          <a:p>
            <a:r>
              <a:rPr lang="en-US" sz="2400" dirty="0">
                <a:solidFill>
                  <a:srgbClr val="161616"/>
                </a:solidFill>
                <a:latin typeface="Segoe UI" panose="020B0502040204020203" pitchFamily="34" charset="0"/>
              </a:rPr>
              <a:t>Minimally logged</a:t>
            </a:r>
          </a:p>
          <a:p>
            <a:r>
              <a:rPr lang="en-US" sz="2400" dirty="0">
                <a:solidFill>
                  <a:srgbClr val="161616"/>
                </a:solidFill>
                <a:latin typeface="Segoe UI" panose="020B0502040204020203" pitchFamily="34" charset="0"/>
              </a:rPr>
              <a:t>Supports parallel operation</a:t>
            </a:r>
          </a:p>
          <a:p>
            <a:r>
              <a:rPr lang="en-US" sz="2400" dirty="0">
                <a:solidFill>
                  <a:srgbClr val="161616"/>
                </a:solidFill>
                <a:latin typeface="Segoe UI" panose="020B0502040204020203" pitchFamily="34" charset="0"/>
              </a:rPr>
              <a:t>No hint needed, it is already fast</a:t>
            </a:r>
          </a:p>
          <a:p>
            <a:endParaRPr lang="en-US" sz="2400" dirty="0">
              <a:solidFill>
                <a:srgbClr val="161616"/>
              </a:solidFill>
              <a:latin typeface="Segoe UI" panose="020B0502040204020203" pitchFamily="34" charset="0"/>
            </a:endParaRPr>
          </a:p>
          <a:p>
            <a:pPr marL="0" indent="0">
              <a:buNone/>
            </a:pPr>
            <a:r>
              <a:rPr lang="en-US" sz="2400" dirty="0">
                <a:solidFill>
                  <a:schemeClr val="tx2">
                    <a:lumMod val="75000"/>
                    <a:lumOff val="25000"/>
                  </a:schemeClr>
                </a:solidFill>
                <a:latin typeface="Segoe UI" panose="020B0502040204020203" pitchFamily="34" charset="0"/>
              </a:rPr>
              <a:t>Limitation:</a:t>
            </a:r>
          </a:p>
          <a:p>
            <a:r>
              <a:rPr lang="en-US" sz="2400" dirty="0">
                <a:solidFill>
                  <a:srgbClr val="161616"/>
                </a:solidFill>
                <a:latin typeface="Segoe UI" panose="020B0502040204020203" pitchFamily="34" charset="0"/>
              </a:rPr>
              <a:t>Cannot control batch size or rows per batch</a:t>
            </a:r>
          </a:p>
          <a:p>
            <a:pPr algn="l"/>
            <a:r>
              <a:rPr lang="en-US" sz="2400" dirty="0">
                <a:solidFill>
                  <a:srgbClr val="161616"/>
                </a:solidFill>
                <a:latin typeface="Segoe UI" panose="020B0502040204020203" pitchFamily="34" charset="0"/>
              </a:rPr>
              <a:t>Target table must reside on the default filegroup</a:t>
            </a:r>
          </a:p>
        </p:txBody>
      </p:sp>
    </p:spTree>
    <p:extLst>
      <p:ext uri="{BB962C8B-B14F-4D97-AF65-F5344CB8AC3E}">
        <p14:creationId xmlns:p14="http://schemas.microsoft.com/office/powerpoint/2010/main" val="335107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CC550-367A-F34E-0745-BBEA76B57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3AD0D-F151-485D-A927-01EE8583211B}"/>
              </a:ext>
            </a:extLst>
          </p:cNvPr>
          <p:cNvSpPr>
            <a:spLocks noGrp="1"/>
          </p:cNvSpPr>
          <p:nvPr>
            <p:ph type="title"/>
          </p:nvPr>
        </p:nvSpPr>
        <p:spPr/>
        <p:txBody>
          <a:bodyPr>
            <a:normAutofit/>
          </a:bodyPr>
          <a:lstStyle/>
          <a:p>
            <a:r>
              <a:rPr lang="en-US" sz="4800" b="1" dirty="0">
                <a:solidFill>
                  <a:schemeClr val="accent2">
                    <a:lumMod val="75000"/>
                  </a:schemeClr>
                </a:solidFill>
              </a:rPr>
              <a:t>3.1 Insert..Select - Openrowset</a:t>
            </a:r>
          </a:p>
        </p:txBody>
      </p:sp>
      <p:sp>
        <p:nvSpPr>
          <p:cNvPr id="3" name="Content Placeholder 2">
            <a:extLst>
              <a:ext uri="{FF2B5EF4-FFF2-40B4-BE49-F238E27FC236}">
                <a16:creationId xmlns:a16="http://schemas.microsoft.com/office/drawing/2014/main" id="{FFF9D556-8BFA-D0E0-028A-C261A186F5BF}"/>
              </a:ext>
            </a:extLst>
          </p:cNvPr>
          <p:cNvSpPr>
            <a:spLocks noGrp="1"/>
          </p:cNvSpPr>
          <p:nvPr>
            <p:ph idx="1"/>
          </p:nvPr>
        </p:nvSpPr>
        <p:spPr/>
        <p:txBody>
          <a:bodyPr>
            <a:normAutofit/>
          </a:bodyPr>
          <a:lstStyle/>
          <a:p>
            <a:pPr>
              <a:buNone/>
            </a:pPr>
            <a:r>
              <a:rPr lang="en-US" sz="2000" dirty="0">
                <a:solidFill>
                  <a:srgbClr val="0000FF"/>
                </a:solidFill>
                <a:latin typeface="Consolas" panose="020B0609020204030204" pitchFamily="49" charset="0"/>
              </a:rPr>
              <a:t>INSERT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6FE0"/>
                </a:solidFill>
                <a:latin typeface="Consolas" panose="020B0609020204030204" pitchFamily="49" charset="0"/>
              </a:rPr>
              <a:t>  </a:t>
            </a:r>
            <a:r>
              <a:rPr lang="en-US" sz="2000" dirty="0" err="1">
                <a:solidFill>
                  <a:srgbClr val="008080"/>
                </a:solidFill>
                <a:latin typeface="Consolas" panose="020B0609020204030204" pitchFamily="49" charset="0"/>
              </a:rPr>
              <a:t>TargetTable</a:t>
            </a:r>
            <a:r>
              <a:rPr lang="en-US" sz="2000" dirty="0">
                <a:solidFill>
                  <a:srgbClr val="008080"/>
                </a:solidFill>
                <a:latin typeface="Consolas" panose="020B0609020204030204" pitchFamily="49" charset="0"/>
              </a:rPr>
              <a:t> </a:t>
            </a:r>
          </a:p>
          <a:p>
            <a:pPr>
              <a:buNone/>
            </a:pPr>
            <a:r>
              <a:rPr lang="en-US" sz="2000" dirty="0">
                <a:solidFill>
                  <a:srgbClr val="0000FF"/>
                </a:solidFill>
                <a:latin typeface="Consolas" panose="020B0609020204030204" pitchFamily="49" charset="0"/>
              </a:rPr>
              <a:t>SELECT</a:t>
            </a:r>
            <a:r>
              <a:rPr lang="en-US" sz="2000" dirty="0">
                <a:solidFill>
                  <a:srgbClr val="006FE0"/>
                </a:solidFill>
                <a:latin typeface="Consolas" panose="020B0609020204030204" pitchFamily="49" charset="0"/>
              </a:rPr>
              <a:t> </a:t>
            </a:r>
            <a:r>
              <a:rPr lang="en-US" sz="2000" dirty="0">
                <a:solidFill>
                  <a:srgbClr val="808080"/>
                </a:solidFill>
                <a:latin typeface="Consolas" panose="020B0609020204030204" pitchFamily="49" charset="0"/>
              </a:rPr>
              <a:t>* </a:t>
            </a:r>
            <a:r>
              <a:rPr lang="en-US" sz="2000" dirty="0">
                <a:solidFill>
                  <a:srgbClr val="0000FF"/>
                </a:solidFill>
                <a:latin typeface="Consolas" panose="020B0609020204030204" pitchFamily="49" charset="0"/>
              </a:rPr>
              <a:t>FROM </a:t>
            </a:r>
            <a:r>
              <a:rPr lang="en-US" sz="2000" dirty="0">
                <a:solidFill>
                  <a:srgbClr val="0000FF"/>
                </a:solidFill>
                <a:highlight>
                  <a:srgbClr val="C0C0C0"/>
                </a:highlight>
                <a:latin typeface="Consolas" panose="020B0609020204030204" pitchFamily="49" charset="0"/>
              </a:rPr>
              <a:t>OPENROWSET</a:t>
            </a:r>
            <a:r>
              <a:rPr lang="en-US" sz="2000" dirty="0">
                <a:solidFill>
                  <a:srgbClr val="333333"/>
                </a:solidFill>
                <a:latin typeface="Consolas" panose="020B0609020204030204" pitchFamily="49" charset="0"/>
              </a:rPr>
              <a:t>(</a:t>
            </a:r>
            <a:r>
              <a:rPr lang="en-US" sz="2000" dirty="0">
                <a:solidFill>
                  <a:srgbClr val="000000"/>
                </a:solidFill>
                <a:latin typeface="Consolas" panose="020B0609020204030204" pitchFamily="49" charset="0"/>
              </a:rPr>
              <a:t>...);</a:t>
            </a:r>
            <a:endParaRPr lang="en-US" sz="2000" dirty="0">
              <a:solidFill>
                <a:srgbClr val="333333"/>
              </a:solidFill>
              <a:latin typeface="Consolas" panose="020B0609020204030204" pitchFamily="49" charset="0"/>
            </a:endParaRPr>
          </a:p>
          <a:p>
            <a:endParaRPr lang="en-US" sz="3000" dirty="0">
              <a:latin typeface="inherit"/>
            </a:endParaRPr>
          </a:p>
          <a:p>
            <a:r>
              <a:rPr lang="en-US" sz="3000" dirty="0">
                <a:latin typeface="inherit"/>
              </a:rPr>
              <a:t>A</a:t>
            </a:r>
            <a:r>
              <a:rPr lang="en-US" sz="3000" dirty="0">
                <a:latin typeface="Segoe UI" panose="020B0502040204020203" pitchFamily="34" charset="0"/>
              </a:rPr>
              <a:t>ccess </a:t>
            </a:r>
            <a:r>
              <a:rPr lang="en-US" sz="3000" dirty="0">
                <a:solidFill>
                  <a:srgbClr val="161616"/>
                </a:solidFill>
                <a:latin typeface="Segoe UI" panose="020B0502040204020203" pitchFamily="34" charset="0"/>
              </a:rPr>
              <a:t>remote data by connecting to a remote data source</a:t>
            </a:r>
          </a:p>
          <a:p>
            <a:r>
              <a:rPr lang="en-US" sz="3000" dirty="0">
                <a:solidFill>
                  <a:srgbClr val="161616"/>
                </a:solidFill>
                <a:latin typeface="Segoe UI" panose="020B0502040204020203" pitchFamily="34" charset="0"/>
              </a:rPr>
              <a:t>Alternative to linked server </a:t>
            </a:r>
          </a:p>
          <a:p>
            <a:r>
              <a:rPr lang="en-US" sz="3000" dirty="0">
                <a:solidFill>
                  <a:srgbClr val="161616"/>
                </a:solidFill>
                <a:latin typeface="Segoe UI" panose="020B0502040204020203" pitchFamily="34" charset="0"/>
              </a:rPr>
              <a:t>Exclusive(X) lock</a:t>
            </a:r>
          </a:p>
          <a:p>
            <a:pPr algn="l">
              <a:buNone/>
            </a:pPr>
            <a:endParaRPr lang="en-US" dirty="0">
              <a:solidFill>
                <a:srgbClr val="161616"/>
              </a:solidFill>
              <a:latin typeface="Segoe UI" panose="020B0502040204020203" pitchFamily="34" charset="0"/>
            </a:endParaRPr>
          </a:p>
        </p:txBody>
      </p:sp>
    </p:spTree>
    <p:extLst>
      <p:ext uri="{BB962C8B-B14F-4D97-AF65-F5344CB8AC3E}">
        <p14:creationId xmlns:p14="http://schemas.microsoft.com/office/powerpoint/2010/main" val="290094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6063F-4DC8-4410-7F1A-EBDE9E24F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44D5D-0FFF-D88E-B3EE-1AA66415BA98}"/>
              </a:ext>
            </a:extLst>
          </p:cNvPr>
          <p:cNvSpPr>
            <a:spLocks noGrp="1"/>
          </p:cNvSpPr>
          <p:nvPr>
            <p:ph type="title"/>
          </p:nvPr>
        </p:nvSpPr>
        <p:spPr/>
        <p:txBody>
          <a:bodyPr>
            <a:normAutofit/>
          </a:bodyPr>
          <a:lstStyle/>
          <a:p>
            <a:r>
              <a:rPr lang="en-US" sz="4800" b="1" dirty="0">
                <a:solidFill>
                  <a:schemeClr val="accent2">
                    <a:lumMod val="75000"/>
                  </a:schemeClr>
                </a:solidFill>
              </a:rPr>
              <a:t>3.2 Openrowset - Bulk hint</a:t>
            </a:r>
          </a:p>
        </p:txBody>
      </p:sp>
      <p:sp>
        <p:nvSpPr>
          <p:cNvPr id="3" name="Content Placeholder 2">
            <a:extLst>
              <a:ext uri="{FF2B5EF4-FFF2-40B4-BE49-F238E27FC236}">
                <a16:creationId xmlns:a16="http://schemas.microsoft.com/office/drawing/2014/main" id="{F19AADB6-41FC-673F-0743-3926C2735AF6}"/>
              </a:ext>
            </a:extLst>
          </p:cNvPr>
          <p:cNvSpPr>
            <a:spLocks noGrp="1"/>
          </p:cNvSpPr>
          <p:nvPr>
            <p:ph idx="1"/>
          </p:nvPr>
        </p:nvSpPr>
        <p:spPr/>
        <p:txBody>
          <a:bodyPr>
            <a:normAutofit/>
          </a:bodyPr>
          <a:lstStyle/>
          <a:p>
            <a:pPr>
              <a:buNone/>
            </a:pPr>
            <a:r>
              <a:rPr lang="en-US" sz="2000" dirty="0">
                <a:solidFill>
                  <a:srgbClr val="0000FF"/>
                </a:solidFill>
                <a:latin typeface="Consolas" panose="020B0609020204030204" pitchFamily="49" charset="0"/>
              </a:rPr>
              <a:t>INSERT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6FE0"/>
                </a:solidFill>
                <a:latin typeface="Consolas" panose="020B0609020204030204" pitchFamily="49" charset="0"/>
              </a:rPr>
              <a:t>  </a:t>
            </a:r>
            <a:r>
              <a:rPr lang="en-US" sz="2000" dirty="0" err="1">
                <a:solidFill>
                  <a:srgbClr val="008080"/>
                </a:solidFill>
                <a:latin typeface="Consolas" panose="020B0609020204030204" pitchFamily="49" charset="0"/>
              </a:rPr>
              <a:t>TargetTable</a:t>
            </a:r>
            <a:r>
              <a:rPr lang="en-US" sz="2000" dirty="0">
                <a:solidFill>
                  <a:srgbClr val="008080"/>
                </a:solidFill>
                <a:latin typeface="Consolas" panose="020B0609020204030204" pitchFamily="49" charset="0"/>
              </a:rPr>
              <a:t> </a:t>
            </a:r>
          </a:p>
          <a:p>
            <a:pPr>
              <a:buNone/>
            </a:pPr>
            <a:r>
              <a:rPr lang="en-US" sz="2000" dirty="0">
                <a:solidFill>
                  <a:srgbClr val="0000FF"/>
                </a:solidFill>
                <a:latin typeface="Consolas" panose="020B0609020204030204" pitchFamily="49" charset="0"/>
              </a:rPr>
              <a:t>SELECT</a:t>
            </a:r>
            <a:r>
              <a:rPr lang="en-US" sz="2000" dirty="0">
                <a:solidFill>
                  <a:srgbClr val="006FE0"/>
                </a:solidFill>
                <a:latin typeface="Consolas" panose="020B0609020204030204" pitchFamily="49" charset="0"/>
              </a:rPr>
              <a:t> </a:t>
            </a:r>
            <a:r>
              <a:rPr lang="en-US" sz="2000" dirty="0">
                <a:solidFill>
                  <a:srgbClr val="808080"/>
                </a:solidFill>
                <a:latin typeface="Consolas" panose="020B0609020204030204" pitchFamily="49" charset="0"/>
              </a:rPr>
              <a:t>* </a:t>
            </a:r>
            <a:r>
              <a:rPr lang="en-US" sz="2000" dirty="0">
                <a:solidFill>
                  <a:srgbClr val="0000FF"/>
                </a:solidFill>
                <a:latin typeface="Consolas" panose="020B0609020204030204" pitchFamily="49" charset="0"/>
              </a:rPr>
              <a:t>FROM </a:t>
            </a:r>
            <a:r>
              <a:rPr lang="en-US" sz="2000" dirty="0">
                <a:solidFill>
                  <a:srgbClr val="0000FF"/>
                </a:solidFill>
                <a:highlight>
                  <a:srgbClr val="C0C0C0"/>
                </a:highlight>
                <a:latin typeface="Consolas" panose="020B0609020204030204" pitchFamily="49" charset="0"/>
              </a:rPr>
              <a:t>OPENROWSET</a:t>
            </a:r>
            <a:r>
              <a:rPr lang="en-US" sz="2000" dirty="0">
                <a:solidFill>
                  <a:srgbClr val="333333"/>
                </a:solidFill>
                <a:latin typeface="Consolas" panose="020B0609020204030204" pitchFamily="49" charset="0"/>
              </a:rPr>
              <a:t>(</a:t>
            </a:r>
          </a:p>
          <a:p>
            <a:pPr>
              <a:buNone/>
            </a:pPr>
            <a:r>
              <a:rPr lang="en-US" sz="2000" dirty="0">
                <a:solidFill>
                  <a:srgbClr val="0000FF"/>
                </a:solidFill>
                <a:highlight>
                  <a:srgbClr val="C0C0C0"/>
                </a:highlight>
                <a:latin typeface="Consolas" panose="020B0609020204030204" pitchFamily="49" charset="0"/>
              </a:rPr>
              <a:t>BULK</a:t>
            </a:r>
            <a:r>
              <a:rPr lang="en-US" sz="2000" dirty="0">
                <a:solidFill>
                  <a:srgbClr val="006FE0"/>
                </a:solidFill>
                <a:latin typeface="Consolas" panose="020B0609020204030204" pitchFamily="49" charset="0"/>
              </a:rPr>
              <a:t> </a:t>
            </a:r>
            <a:r>
              <a:rPr lang="en-US" sz="2000" dirty="0">
                <a:solidFill>
                  <a:srgbClr val="FF0000"/>
                </a:solidFill>
                <a:latin typeface="Consolas" panose="020B0609020204030204" pitchFamily="49" charset="0"/>
              </a:rPr>
              <a:t>‘C:\Data\SourceFile.csv’</a:t>
            </a:r>
            <a:r>
              <a:rPr lang="en-US" sz="2000" dirty="0">
                <a:solidFill>
                  <a:srgbClr val="333333"/>
                </a:solidFill>
                <a:latin typeface="Consolas" panose="020B0609020204030204" pitchFamily="49" charset="0"/>
              </a:rPr>
              <a: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AS</a:t>
            </a:r>
            <a:r>
              <a:rPr lang="en-US" sz="2000" dirty="0">
                <a:solidFill>
                  <a:srgbClr val="006FE0"/>
                </a:solidFill>
                <a:latin typeface="Consolas" panose="020B0609020204030204" pitchFamily="49" charset="0"/>
              </a:rPr>
              <a:t> </a:t>
            </a:r>
            <a:r>
              <a:rPr lang="en-US" sz="2000" dirty="0">
                <a:solidFill>
                  <a:srgbClr val="008080"/>
                </a:solidFill>
                <a:latin typeface="Consolas" panose="020B0609020204030204" pitchFamily="49" charset="0"/>
              </a:rPr>
              <a:t>a</a:t>
            </a:r>
            <a:r>
              <a:rPr lang="en-US" sz="2000" dirty="0">
                <a:solidFill>
                  <a:srgbClr val="333333"/>
                </a:solidFill>
                <a:latin typeface="Consolas" panose="020B0609020204030204" pitchFamily="49" charset="0"/>
              </a:rPr>
              <a:t>;</a:t>
            </a:r>
            <a:endParaRPr lang="en-US" sz="2000" dirty="0">
              <a:solidFill>
                <a:srgbClr val="000000"/>
              </a:solidFill>
              <a:latin typeface="Consolas" panose="020B0609020204030204" pitchFamily="49" charset="0"/>
            </a:endParaRPr>
          </a:p>
          <a:p>
            <a:endParaRPr lang="en-US" sz="2600" dirty="0">
              <a:solidFill>
                <a:srgbClr val="161616"/>
              </a:solidFill>
              <a:latin typeface="Segoe UI" panose="020B0502040204020203" pitchFamily="34" charset="0"/>
            </a:endParaRPr>
          </a:p>
          <a:p>
            <a:r>
              <a:rPr lang="en-US" sz="2600" dirty="0">
                <a:solidFill>
                  <a:srgbClr val="161616"/>
                </a:solidFill>
                <a:latin typeface="Segoe UI" panose="020B0502040204020203" pitchFamily="34" charset="0"/>
              </a:rPr>
              <a:t>Built-in BULK provider</a:t>
            </a:r>
          </a:p>
          <a:p>
            <a:r>
              <a:rPr lang="en-US" sz="2600" dirty="0">
                <a:solidFill>
                  <a:srgbClr val="161616"/>
                </a:solidFill>
                <a:latin typeface="Segoe UI" panose="020B0502040204020203" pitchFamily="34" charset="0"/>
              </a:rPr>
              <a:t>Imports a data file as a single batch</a:t>
            </a:r>
          </a:p>
          <a:p>
            <a:r>
              <a:rPr lang="en-US" sz="2600" dirty="0">
                <a:solidFill>
                  <a:srgbClr val="161616"/>
                </a:solidFill>
                <a:latin typeface="Segoe UI" panose="020B0502040204020203" pitchFamily="34" charset="0"/>
              </a:rPr>
              <a:t>Control where to start and end reading data </a:t>
            </a:r>
          </a:p>
          <a:p>
            <a:r>
              <a:rPr lang="en-US" sz="2600" dirty="0">
                <a:solidFill>
                  <a:srgbClr val="161616"/>
                </a:solidFill>
                <a:latin typeface="Segoe UI" panose="020B0502040204020203" pitchFamily="34" charset="0"/>
              </a:rPr>
              <a:t>Control rows per batch, default is whole file</a:t>
            </a:r>
          </a:p>
          <a:p>
            <a:r>
              <a:rPr lang="en-US" sz="2600" dirty="0">
                <a:solidFill>
                  <a:srgbClr val="161616"/>
                </a:solidFill>
                <a:latin typeface="Segoe UI" panose="020B0502040204020203" pitchFamily="34" charset="0"/>
              </a:rPr>
              <a:t>Need an alias for select with bulk hint</a:t>
            </a:r>
          </a:p>
          <a:p>
            <a:pPr marL="0" indent="0">
              <a:buNone/>
            </a:pPr>
            <a:endParaRPr lang="en-US" sz="3000" dirty="0">
              <a:solidFill>
                <a:srgbClr val="161616"/>
              </a:solidFill>
              <a:latin typeface="Segoe UI" panose="020B0502040204020203" pitchFamily="34" charset="0"/>
            </a:endParaRPr>
          </a:p>
          <a:p>
            <a:pPr algn="l">
              <a:buNone/>
            </a:pPr>
            <a:endParaRPr lang="en-US" dirty="0">
              <a:solidFill>
                <a:srgbClr val="161616"/>
              </a:solidFill>
              <a:latin typeface="Segoe UI" panose="020B0502040204020203" pitchFamily="34" charset="0"/>
            </a:endParaRPr>
          </a:p>
          <a:p>
            <a:pPr algn="l"/>
            <a:endParaRPr lang="en-US" b="0" i="0" dirty="0">
              <a:solidFill>
                <a:srgbClr val="000000"/>
              </a:solidFill>
              <a:effectLst/>
              <a:latin typeface="Roboto Mono" panose="00000009000000000000" pitchFamily="49" charset="0"/>
            </a:endParaRPr>
          </a:p>
        </p:txBody>
      </p:sp>
    </p:spTree>
    <p:extLst>
      <p:ext uri="{BB962C8B-B14F-4D97-AF65-F5344CB8AC3E}">
        <p14:creationId xmlns:p14="http://schemas.microsoft.com/office/powerpoint/2010/main" val="3510550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BDB5-02AC-4E62-F950-428E752DE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0F4A1-9C8D-2606-A19F-F040486FCBA5}"/>
              </a:ext>
            </a:extLst>
          </p:cNvPr>
          <p:cNvSpPr>
            <a:spLocks noGrp="1"/>
          </p:cNvSpPr>
          <p:nvPr>
            <p:ph type="title"/>
          </p:nvPr>
        </p:nvSpPr>
        <p:spPr/>
        <p:txBody>
          <a:bodyPr>
            <a:normAutofit/>
          </a:bodyPr>
          <a:lstStyle/>
          <a:p>
            <a:r>
              <a:rPr lang="en-US" sz="4800" b="1" dirty="0">
                <a:solidFill>
                  <a:schemeClr val="accent2">
                    <a:lumMod val="75000"/>
                  </a:schemeClr>
                </a:solidFill>
              </a:rPr>
              <a:t>3.3 Openrowset – Order clause</a:t>
            </a:r>
          </a:p>
        </p:txBody>
      </p:sp>
      <p:sp>
        <p:nvSpPr>
          <p:cNvPr id="3" name="Content Placeholder 2">
            <a:extLst>
              <a:ext uri="{FF2B5EF4-FFF2-40B4-BE49-F238E27FC236}">
                <a16:creationId xmlns:a16="http://schemas.microsoft.com/office/drawing/2014/main" id="{4334E286-F634-5F74-0F07-35D58D8ABC9B}"/>
              </a:ext>
            </a:extLst>
          </p:cNvPr>
          <p:cNvSpPr>
            <a:spLocks noGrp="1"/>
          </p:cNvSpPr>
          <p:nvPr>
            <p:ph idx="1"/>
          </p:nvPr>
        </p:nvSpPr>
        <p:spPr/>
        <p:txBody>
          <a:bodyPr>
            <a:normAutofit lnSpcReduction="10000"/>
          </a:bodyPr>
          <a:lstStyle/>
          <a:p>
            <a:pPr>
              <a:buNone/>
            </a:pPr>
            <a:r>
              <a:rPr lang="en-US" sz="2000" dirty="0">
                <a:solidFill>
                  <a:srgbClr val="0000FF"/>
                </a:solidFill>
                <a:latin typeface="Consolas" panose="020B0609020204030204" pitchFamily="49" charset="0"/>
              </a:rPr>
              <a:t>INSERT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6FE0"/>
                </a:solidFill>
                <a:latin typeface="Consolas" panose="020B0609020204030204" pitchFamily="49" charset="0"/>
              </a:rPr>
              <a:t>  </a:t>
            </a:r>
            <a:r>
              <a:rPr lang="en-US" sz="2000" dirty="0" err="1">
                <a:solidFill>
                  <a:srgbClr val="008080"/>
                </a:solidFill>
                <a:latin typeface="Consolas" panose="020B0609020204030204" pitchFamily="49" charset="0"/>
              </a:rPr>
              <a:t>TargetTable</a:t>
            </a:r>
            <a:r>
              <a:rPr lang="en-US" sz="2000" dirty="0">
                <a:solidFill>
                  <a:srgbClr val="008080"/>
                </a:solidFill>
                <a:latin typeface="Consolas" panose="020B0609020204030204" pitchFamily="49" charset="0"/>
              </a:rPr>
              <a:t> </a:t>
            </a:r>
          </a:p>
          <a:p>
            <a:pPr>
              <a:buNone/>
            </a:pPr>
            <a:r>
              <a:rPr lang="en-US" sz="2000" dirty="0">
                <a:solidFill>
                  <a:srgbClr val="0000FF"/>
                </a:solidFill>
                <a:latin typeface="Consolas" panose="020B0609020204030204" pitchFamily="49" charset="0"/>
              </a:rPr>
              <a:t>SELECT</a:t>
            </a:r>
            <a:r>
              <a:rPr lang="en-US" sz="2000" dirty="0">
                <a:solidFill>
                  <a:srgbClr val="006FE0"/>
                </a:solidFill>
                <a:latin typeface="Consolas" panose="020B0609020204030204" pitchFamily="49" charset="0"/>
              </a:rPr>
              <a:t> </a:t>
            </a:r>
            <a:r>
              <a:rPr lang="en-US" sz="2000" dirty="0">
                <a:solidFill>
                  <a:srgbClr val="808080"/>
                </a:solidFill>
                <a:latin typeface="Consolas" panose="020B0609020204030204" pitchFamily="49" charset="0"/>
              </a:rPr>
              <a:t>* </a:t>
            </a:r>
            <a:r>
              <a:rPr lang="en-US" sz="2000" dirty="0">
                <a:solidFill>
                  <a:srgbClr val="0000FF"/>
                </a:solidFill>
                <a:latin typeface="Consolas" panose="020B0609020204030204" pitchFamily="49" charset="0"/>
              </a:rPr>
              <a:t>FROM </a:t>
            </a:r>
            <a:r>
              <a:rPr lang="en-US" sz="2000" dirty="0">
                <a:solidFill>
                  <a:srgbClr val="0000FF"/>
                </a:solidFill>
                <a:highlight>
                  <a:srgbClr val="C0C0C0"/>
                </a:highlight>
                <a:latin typeface="Consolas" panose="020B0609020204030204" pitchFamily="49" charset="0"/>
              </a:rPr>
              <a:t>OPENROWSET</a:t>
            </a:r>
            <a:r>
              <a:rPr lang="en-US" sz="2000" dirty="0">
                <a:solidFill>
                  <a:srgbClr val="333333"/>
                </a:solidFill>
                <a:latin typeface="Consolas" panose="020B0609020204030204" pitchFamily="49" charset="0"/>
              </a:rPr>
              <a:t>(</a:t>
            </a:r>
          </a:p>
          <a:p>
            <a:pPr>
              <a:buNone/>
            </a:pPr>
            <a:r>
              <a:rPr lang="en-US" sz="2000" dirty="0">
                <a:solidFill>
                  <a:srgbClr val="0000FF"/>
                </a:solidFill>
                <a:highlight>
                  <a:srgbClr val="C0C0C0"/>
                </a:highlight>
                <a:latin typeface="Consolas" panose="020B0609020204030204" pitchFamily="49" charset="0"/>
              </a:rPr>
              <a:t>BULK</a:t>
            </a:r>
            <a:r>
              <a:rPr lang="en-US" sz="2000" dirty="0">
                <a:solidFill>
                  <a:srgbClr val="006FE0"/>
                </a:solidFill>
                <a:latin typeface="Consolas" panose="020B0609020204030204" pitchFamily="49" charset="0"/>
              </a:rPr>
              <a:t> </a:t>
            </a:r>
            <a:r>
              <a:rPr lang="en-US" sz="2000" dirty="0">
                <a:solidFill>
                  <a:srgbClr val="FF0000"/>
                </a:solidFill>
                <a:latin typeface="Consolas" panose="020B0609020204030204" pitchFamily="49" charset="0"/>
              </a:rPr>
              <a:t>‘C:\Data\SourceFile.csv’,</a:t>
            </a:r>
          </a:p>
          <a:p>
            <a:pPr>
              <a:buNone/>
            </a:pPr>
            <a:r>
              <a:rPr lang="en-US" sz="2000" dirty="0">
                <a:solidFill>
                  <a:srgbClr val="0000FF"/>
                </a:solidFill>
                <a:highlight>
                  <a:srgbClr val="C0C0C0"/>
                </a:highlight>
                <a:latin typeface="Consolas" panose="020B0609020204030204" pitchFamily="49" charset="0"/>
              </a:rPr>
              <a:t>ORDER</a:t>
            </a:r>
            <a:r>
              <a:rPr lang="en-US" sz="2000" dirty="0">
                <a:solidFill>
                  <a:srgbClr val="333333"/>
                </a:solidFill>
                <a:latin typeface="Consolas" panose="020B0609020204030204" pitchFamily="49" charset="0"/>
              </a:rPr>
              <a:t> (CustomerID ASC)</a:t>
            </a:r>
          </a:p>
          <a:p>
            <a:pPr>
              <a:buNone/>
            </a:pPr>
            <a:r>
              <a:rPr lang="en-US" sz="2000" dirty="0">
                <a:solidFill>
                  <a:srgbClr val="333333"/>
                </a:solidFill>
                <a:latin typeface="Consolas" panose="020B0609020204030204" pitchFamily="49" charset="0"/>
              </a:rPr>
              <a: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AS</a:t>
            </a:r>
            <a:r>
              <a:rPr lang="en-US" sz="2000" dirty="0">
                <a:solidFill>
                  <a:srgbClr val="006FE0"/>
                </a:solidFill>
                <a:latin typeface="Consolas" panose="020B0609020204030204" pitchFamily="49" charset="0"/>
              </a:rPr>
              <a:t> </a:t>
            </a:r>
            <a:r>
              <a:rPr lang="en-US" sz="2000" dirty="0">
                <a:solidFill>
                  <a:srgbClr val="008080"/>
                </a:solidFill>
                <a:latin typeface="Consolas" panose="020B0609020204030204" pitchFamily="49" charset="0"/>
              </a:rPr>
              <a:t>a</a:t>
            </a:r>
            <a:r>
              <a:rPr lang="en-US" sz="2000" dirty="0">
                <a:solidFill>
                  <a:srgbClr val="333333"/>
                </a:solidFill>
                <a:latin typeface="Consolas" panose="020B0609020204030204" pitchFamily="49" charset="0"/>
              </a:rPr>
              <a:t>;</a:t>
            </a:r>
            <a:endParaRPr lang="en-US" sz="2000" dirty="0">
              <a:solidFill>
                <a:srgbClr val="000000"/>
              </a:solidFill>
              <a:latin typeface="Consolas" panose="020B0609020204030204" pitchFamily="49" charset="0"/>
            </a:endParaRPr>
          </a:p>
          <a:p>
            <a:pPr>
              <a:lnSpc>
                <a:spcPct val="110000"/>
              </a:lnSpc>
            </a:pPr>
            <a:endParaRPr lang="en-US" sz="3300" dirty="0">
              <a:solidFill>
                <a:srgbClr val="161616"/>
              </a:solidFill>
              <a:latin typeface="Segoe UI" panose="020B0502040204020203" pitchFamily="34" charset="0"/>
            </a:endParaRPr>
          </a:p>
          <a:p>
            <a:pPr>
              <a:lnSpc>
                <a:spcPct val="110000"/>
              </a:lnSpc>
            </a:pPr>
            <a:r>
              <a:rPr lang="en-US" dirty="0">
                <a:solidFill>
                  <a:srgbClr val="161616"/>
                </a:solidFill>
                <a:latin typeface="Segoe UI" panose="020B0502040204020203" pitchFamily="34" charset="0"/>
              </a:rPr>
              <a:t>If SourceFile.csv is ordered by clustered index CustomerID</a:t>
            </a:r>
          </a:p>
          <a:p>
            <a:pPr>
              <a:lnSpc>
                <a:spcPct val="110000"/>
              </a:lnSpc>
            </a:pPr>
            <a:r>
              <a:rPr lang="en-US" dirty="0">
                <a:solidFill>
                  <a:srgbClr val="161616"/>
                </a:solidFill>
                <a:latin typeface="Segoe UI" panose="020B0502040204020203" pitchFamily="34" charset="0"/>
              </a:rPr>
              <a:t>Add Order clause </a:t>
            </a:r>
            <a:r>
              <a:rPr lang="en-US" sz="2600" dirty="0">
                <a:solidFill>
                  <a:srgbClr val="161616"/>
                </a:solidFill>
                <a:latin typeface="Segoe UI" panose="020B0502040204020203" pitchFamily="34" charset="0"/>
              </a:rPr>
              <a:t>to</a:t>
            </a:r>
            <a:r>
              <a:rPr lang="en-US" dirty="0">
                <a:solidFill>
                  <a:srgbClr val="161616"/>
                </a:solidFill>
                <a:latin typeface="Segoe UI" panose="020B0502040204020203" pitchFamily="34" charset="0"/>
              </a:rPr>
              <a:t> improve insert performance</a:t>
            </a:r>
          </a:p>
          <a:p>
            <a:pPr>
              <a:lnSpc>
                <a:spcPct val="110000"/>
              </a:lnSpc>
            </a:pPr>
            <a:r>
              <a:rPr lang="en-US" dirty="0">
                <a:solidFill>
                  <a:srgbClr val="161616"/>
                </a:solidFill>
                <a:latin typeface="Segoe UI" panose="020B0502040204020203" pitchFamily="34" charset="0"/>
              </a:rPr>
              <a:t>Reduce sorting overhead during the load process</a:t>
            </a:r>
          </a:p>
          <a:p>
            <a:endParaRPr lang="en-US" sz="3400" dirty="0">
              <a:solidFill>
                <a:srgbClr val="161616"/>
              </a:solidFill>
              <a:latin typeface="Segoe UI" panose="020B0502040204020203" pitchFamily="34" charset="0"/>
            </a:endParaRPr>
          </a:p>
          <a:p>
            <a:pPr>
              <a:buNone/>
            </a:pPr>
            <a:endParaRPr lang="en-US" dirty="0">
              <a:solidFill>
                <a:srgbClr val="0000FF"/>
              </a:solidFill>
              <a:latin typeface="inherit"/>
            </a:endParaRPr>
          </a:p>
          <a:p>
            <a:pPr>
              <a:buNone/>
            </a:pPr>
            <a:endParaRPr lang="en-US" dirty="0">
              <a:solidFill>
                <a:srgbClr val="0000FF"/>
              </a:solidFill>
              <a:latin typeface="inherit"/>
            </a:endParaRPr>
          </a:p>
          <a:p>
            <a:pPr algn="l"/>
            <a:endParaRPr lang="en-US" b="0" i="0" dirty="0">
              <a:solidFill>
                <a:srgbClr val="000000"/>
              </a:solidFill>
              <a:effectLst/>
              <a:latin typeface="Roboto Mono" panose="00000009000000000000" pitchFamily="49" charset="0"/>
            </a:endParaRPr>
          </a:p>
        </p:txBody>
      </p:sp>
    </p:spTree>
    <p:extLst>
      <p:ext uri="{BB962C8B-B14F-4D97-AF65-F5344CB8AC3E}">
        <p14:creationId xmlns:p14="http://schemas.microsoft.com/office/powerpoint/2010/main" val="396253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E6BE-5914-1C33-C72D-019852C52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6BFDA-4FDF-24DD-2243-7A34685A359A}"/>
              </a:ext>
            </a:extLst>
          </p:cNvPr>
          <p:cNvSpPr>
            <a:spLocks noGrp="1"/>
          </p:cNvSpPr>
          <p:nvPr>
            <p:ph type="title"/>
          </p:nvPr>
        </p:nvSpPr>
        <p:spPr/>
        <p:txBody>
          <a:bodyPr>
            <a:normAutofit/>
          </a:bodyPr>
          <a:lstStyle/>
          <a:p>
            <a:r>
              <a:rPr lang="en-US" sz="4800" b="1" dirty="0">
                <a:solidFill>
                  <a:schemeClr val="accent2">
                    <a:lumMod val="75000"/>
                  </a:schemeClr>
                </a:solidFill>
              </a:rPr>
              <a:t>Quick tip - Order clause</a:t>
            </a:r>
          </a:p>
        </p:txBody>
      </p:sp>
      <p:sp>
        <p:nvSpPr>
          <p:cNvPr id="3" name="Content Placeholder 2">
            <a:extLst>
              <a:ext uri="{FF2B5EF4-FFF2-40B4-BE49-F238E27FC236}">
                <a16:creationId xmlns:a16="http://schemas.microsoft.com/office/drawing/2014/main" id="{FE24B57C-320B-9489-FE59-AC4A0372122A}"/>
              </a:ext>
            </a:extLst>
          </p:cNvPr>
          <p:cNvSpPr>
            <a:spLocks noGrp="1"/>
          </p:cNvSpPr>
          <p:nvPr>
            <p:ph idx="1"/>
          </p:nvPr>
        </p:nvSpPr>
        <p:spPr/>
        <p:txBody>
          <a:bodyPr>
            <a:normAutofit/>
          </a:bodyPr>
          <a:lstStyle/>
          <a:p>
            <a:pPr>
              <a:lnSpc>
                <a:spcPct val="110000"/>
              </a:lnSpc>
            </a:pPr>
            <a:r>
              <a:rPr lang="en-US" sz="2400" dirty="0">
                <a:solidFill>
                  <a:srgbClr val="161616"/>
                </a:solidFill>
                <a:latin typeface="Segoe UI" panose="020B0502040204020203" pitchFamily="34" charset="0"/>
              </a:rPr>
              <a:t>Data must already be ordered when it arrives from the source</a:t>
            </a:r>
          </a:p>
          <a:p>
            <a:pPr>
              <a:lnSpc>
                <a:spcPct val="110000"/>
              </a:lnSpc>
            </a:pPr>
            <a:r>
              <a:rPr lang="en-US" sz="2400" dirty="0">
                <a:solidFill>
                  <a:srgbClr val="161616"/>
                </a:solidFill>
                <a:latin typeface="Segoe UI" panose="020B0502040204020203" pitchFamily="34" charset="0"/>
              </a:rPr>
              <a:t>Sorting it before inserting will not increase speed</a:t>
            </a:r>
          </a:p>
          <a:p>
            <a:pPr marL="0" indent="0">
              <a:lnSpc>
                <a:spcPct val="110000"/>
              </a:lnSpc>
              <a:buNone/>
            </a:pPr>
            <a:r>
              <a:rPr lang="en-US" sz="2400" b="1" dirty="0">
                <a:solidFill>
                  <a:srgbClr val="161616"/>
                </a:solidFill>
                <a:latin typeface="Segoe UI" panose="020B0502040204020203" pitchFamily="34" charset="0"/>
              </a:rPr>
              <a:t>Concern</a:t>
            </a:r>
            <a:r>
              <a:rPr lang="en-US" sz="2400" dirty="0">
                <a:solidFill>
                  <a:srgbClr val="161616"/>
                </a:solidFill>
                <a:latin typeface="Segoe UI" panose="020B0502040204020203" pitchFamily="34" charset="0"/>
              </a:rPr>
              <a:t>:</a:t>
            </a:r>
          </a:p>
          <a:p>
            <a:pPr>
              <a:lnSpc>
                <a:spcPct val="110000"/>
              </a:lnSpc>
            </a:pPr>
            <a:r>
              <a:rPr lang="en-US" sz="2400" dirty="0">
                <a:solidFill>
                  <a:srgbClr val="161616"/>
                </a:solidFill>
                <a:latin typeface="Segoe UI" panose="020B0502040204020203" pitchFamily="34" charset="0"/>
              </a:rPr>
              <a:t>Sorting data during loading can consume a lot of memory </a:t>
            </a:r>
          </a:p>
          <a:p>
            <a:pPr marL="0" indent="0">
              <a:lnSpc>
                <a:spcPct val="110000"/>
              </a:lnSpc>
              <a:buNone/>
            </a:pPr>
            <a:r>
              <a:rPr lang="en-US" sz="2400" b="1" dirty="0">
                <a:solidFill>
                  <a:srgbClr val="161616"/>
                </a:solidFill>
                <a:latin typeface="Segoe UI" panose="020B0502040204020203" pitchFamily="34" charset="0"/>
              </a:rPr>
              <a:t>Solution</a:t>
            </a:r>
            <a:r>
              <a:rPr lang="en-US" sz="2400" dirty="0">
                <a:solidFill>
                  <a:srgbClr val="161616"/>
                </a:solidFill>
                <a:latin typeface="Segoe UI" panose="020B0502040204020203" pitchFamily="34" charset="0"/>
              </a:rPr>
              <a:t>:</a:t>
            </a:r>
          </a:p>
          <a:p>
            <a:pPr>
              <a:lnSpc>
                <a:spcPct val="110000"/>
              </a:lnSpc>
            </a:pPr>
            <a:r>
              <a:rPr lang="en-US" sz="2400" dirty="0">
                <a:solidFill>
                  <a:srgbClr val="161616"/>
                </a:solidFill>
                <a:latin typeface="Segoe UI" panose="020B0502040204020203" pitchFamily="34" charset="0"/>
              </a:rPr>
              <a:t>If source file is not sorted, first load it in a temp table</a:t>
            </a:r>
          </a:p>
          <a:p>
            <a:pPr>
              <a:lnSpc>
                <a:spcPct val="110000"/>
              </a:lnSpc>
            </a:pPr>
            <a:r>
              <a:rPr lang="en-US" sz="2400" dirty="0">
                <a:solidFill>
                  <a:srgbClr val="161616"/>
                </a:solidFill>
                <a:latin typeface="Segoe UI" panose="020B0502040204020203" pitchFamily="34" charset="0"/>
              </a:rPr>
              <a:t>Then create an index on temp table, matching the index on target table</a:t>
            </a:r>
          </a:p>
          <a:p>
            <a:pPr>
              <a:lnSpc>
                <a:spcPct val="110000"/>
              </a:lnSpc>
            </a:pPr>
            <a:r>
              <a:rPr lang="en-US" sz="2400" dirty="0">
                <a:solidFill>
                  <a:srgbClr val="161616"/>
                </a:solidFill>
                <a:latin typeface="Segoe UI" panose="020B0502040204020203" pitchFamily="34" charset="0"/>
              </a:rPr>
              <a:t>Now push data from temp table to target table</a:t>
            </a:r>
          </a:p>
          <a:p>
            <a:endParaRPr lang="en-US" sz="3400" dirty="0">
              <a:solidFill>
                <a:srgbClr val="161616"/>
              </a:solidFill>
              <a:latin typeface="Segoe UI" panose="020B0502040204020203" pitchFamily="34" charset="0"/>
            </a:endParaRPr>
          </a:p>
          <a:p>
            <a:pPr>
              <a:buNone/>
            </a:pPr>
            <a:endParaRPr lang="en-US" dirty="0">
              <a:solidFill>
                <a:srgbClr val="0000FF"/>
              </a:solidFill>
              <a:latin typeface="inherit"/>
            </a:endParaRPr>
          </a:p>
          <a:p>
            <a:pPr>
              <a:buNone/>
            </a:pPr>
            <a:endParaRPr lang="en-US" dirty="0">
              <a:solidFill>
                <a:srgbClr val="0000FF"/>
              </a:solidFill>
              <a:latin typeface="inherit"/>
            </a:endParaRPr>
          </a:p>
          <a:p>
            <a:pPr algn="l"/>
            <a:endParaRPr lang="en-US" b="0" i="0" dirty="0">
              <a:solidFill>
                <a:srgbClr val="000000"/>
              </a:solidFill>
              <a:effectLst/>
              <a:latin typeface="Roboto Mono" panose="00000009000000000000" pitchFamily="49" charset="0"/>
            </a:endParaRPr>
          </a:p>
        </p:txBody>
      </p:sp>
    </p:spTree>
    <p:extLst>
      <p:ext uri="{BB962C8B-B14F-4D97-AF65-F5344CB8AC3E}">
        <p14:creationId xmlns:p14="http://schemas.microsoft.com/office/powerpoint/2010/main" val="380044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1BCF0-FD1D-1343-E2E8-E7E67AC4B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876FE-E181-27B9-2941-1C307BA655C3}"/>
              </a:ext>
            </a:extLst>
          </p:cNvPr>
          <p:cNvSpPr>
            <a:spLocks noGrp="1"/>
          </p:cNvSpPr>
          <p:nvPr>
            <p:ph type="title"/>
          </p:nvPr>
        </p:nvSpPr>
        <p:spPr/>
        <p:txBody>
          <a:bodyPr>
            <a:normAutofit/>
          </a:bodyPr>
          <a:lstStyle/>
          <a:p>
            <a:r>
              <a:rPr lang="en-US" sz="4800" b="1" dirty="0">
                <a:solidFill>
                  <a:schemeClr val="accent2">
                    <a:lumMod val="75000"/>
                  </a:schemeClr>
                </a:solidFill>
              </a:rPr>
              <a:t>3.4 Openrowset – Tablock</a:t>
            </a:r>
          </a:p>
        </p:txBody>
      </p:sp>
      <p:sp>
        <p:nvSpPr>
          <p:cNvPr id="3" name="Content Placeholder 2">
            <a:extLst>
              <a:ext uri="{FF2B5EF4-FFF2-40B4-BE49-F238E27FC236}">
                <a16:creationId xmlns:a16="http://schemas.microsoft.com/office/drawing/2014/main" id="{06BBCC4B-C709-2F99-98F8-BF9BEACD6FEC}"/>
              </a:ext>
            </a:extLst>
          </p:cNvPr>
          <p:cNvSpPr>
            <a:spLocks noGrp="1"/>
          </p:cNvSpPr>
          <p:nvPr>
            <p:ph idx="1"/>
          </p:nvPr>
        </p:nvSpPr>
        <p:spPr/>
        <p:txBody>
          <a:bodyPr>
            <a:normAutofit lnSpcReduction="10000"/>
          </a:bodyPr>
          <a:lstStyle/>
          <a:p>
            <a:pPr>
              <a:buNone/>
            </a:pPr>
            <a:r>
              <a:rPr lang="en-US" sz="2000" dirty="0">
                <a:solidFill>
                  <a:srgbClr val="0000FF"/>
                </a:solidFill>
                <a:latin typeface="Consolas" panose="020B0609020204030204" pitchFamily="49" charset="0"/>
              </a:rPr>
              <a:t>INSERT</a:t>
            </a:r>
            <a:r>
              <a:rPr lang="en-US" sz="2000" dirty="0">
                <a:solidFill>
                  <a:srgbClr val="006FE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6FE0"/>
                </a:solidFill>
                <a:latin typeface="Consolas" panose="020B0609020204030204" pitchFamily="49" charset="0"/>
              </a:rPr>
              <a:t>  </a:t>
            </a:r>
            <a:r>
              <a:rPr lang="en-US" sz="2000" dirty="0" err="1">
                <a:solidFill>
                  <a:srgbClr val="008080"/>
                </a:solidFill>
                <a:latin typeface="Consolas" panose="020B0609020204030204" pitchFamily="49" charset="0"/>
              </a:rPr>
              <a:t>TargetTable</a:t>
            </a:r>
            <a:r>
              <a:rPr lang="en-US" sz="2000" dirty="0">
                <a:solidFill>
                  <a:srgbClr val="008080"/>
                </a:solidFill>
                <a:latin typeface="Consolas" panose="020B0609020204030204" pitchFamily="49" charset="0"/>
              </a:rPr>
              <a:t> WITH (</a:t>
            </a:r>
            <a:r>
              <a:rPr lang="en-US" sz="2000" b="1" dirty="0">
                <a:solidFill>
                  <a:srgbClr val="008080"/>
                </a:solidFill>
                <a:highlight>
                  <a:srgbClr val="C0C0C0"/>
                </a:highlight>
                <a:latin typeface="Consolas" panose="020B0609020204030204" pitchFamily="49" charset="0"/>
              </a:rPr>
              <a:t>TABLOCK</a:t>
            </a:r>
            <a:r>
              <a:rPr lang="en-US" sz="2000" dirty="0">
                <a:solidFill>
                  <a:srgbClr val="008080"/>
                </a:solidFill>
                <a:latin typeface="Consolas" panose="020B0609020204030204" pitchFamily="49" charset="0"/>
              </a:rPr>
              <a:t>)</a:t>
            </a:r>
          </a:p>
          <a:p>
            <a:pPr>
              <a:buNone/>
            </a:pPr>
            <a:r>
              <a:rPr lang="en-US" sz="2000" dirty="0">
                <a:solidFill>
                  <a:srgbClr val="0000FF"/>
                </a:solidFill>
                <a:latin typeface="Consolas" panose="020B0609020204030204" pitchFamily="49" charset="0"/>
              </a:rPr>
              <a:t>SELECT</a:t>
            </a:r>
            <a:r>
              <a:rPr lang="en-US" sz="2000" dirty="0">
                <a:solidFill>
                  <a:srgbClr val="006FE0"/>
                </a:solidFill>
                <a:latin typeface="Consolas" panose="020B0609020204030204" pitchFamily="49" charset="0"/>
              </a:rPr>
              <a:t> </a:t>
            </a:r>
            <a:r>
              <a:rPr lang="en-US" sz="2000" dirty="0">
                <a:solidFill>
                  <a:srgbClr val="808080"/>
                </a:solidFill>
                <a:latin typeface="Consolas" panose="020B0609020204030204" pitchFamily="49" charset="0"/>
              </a:rPr>
              <a:t>* </a:t>
            </a:r>
            <a:r>
              <a:rPr lang="en-US" sz="2000" dirty="0">
                <a:solidFill>
                  <a:srgbClr val="0000FF"/>
                </a:solidFill>
                <a:latin typeface="Consolas" panose="020B0609020204030204" pitchFamily="49" charset="0"/>
              </a:rPr>
              <a:t>FROM </a:t>
            </a:r>
            <a:r>
              <a:rPr lang="en-US" sz="2000" b="0" i="0" dirty="0">
                <a:solidFill>
                  <a:srgbClr val="0000FF"/>
                </a:solidFill>
                <a:effectLst/>
                <a:highlight>
                  <a:srgbClr val="C0C0C0"/>
                </a:highlight>
                <a:latin typeface="Consolas" panose="020B0609020204030204" pitchFamily="49" charset="0"/>
              </a:rPr>
              <a:t>OPENROWSET</a:t>
            </a:r>
            <a:r>
              <a:rPr lang="en-US" sz="2000" b="0" i="0" dirty="0">
                <a:solidFill>
                  <a:srgbClr val="333333"/>
                </a:solidFill>
                <a:effectLst/>
                <a:latin typeface="Consolas" panose="020B0609020204030204" pitchFamily="49" charset="0"/>
              </a:rPr>
              <a:t>(</a:t>
            </a:r>
          </a:p>
          <a:p>
            <a:pPr>
              <a:buNone/>
            </a:pPr>
            <a:r>
              <a:rPr lang="en-US" sz="2000" b="0" i="0" dirty="0">
                <a:solidFill>
                  <a:srgbClr val="0000FF"/>
                </a:solidFill>
                <a:effectLst/>
                <a:highlight>
                  <a:srgbClr val="C0C0C0"/>
                </a:highlight>
                <a:latin typeface="Consolas" panose="020B0609020204030204" pitchFamily="49" charset="0"/>
              </a:rPr>
              <a:t>BULK</a:t>
            </a:r>
            <a:r>
              <a:rPr lang="en-US" sz="2000" b="0" i="0" dirty="0">
                <a:solidFill>
                  <a:srgbClr val="006FE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‘C:\</a:t>
            </a:r>
            <a:r>
              <a:rPr lang="en-US" sz="2000" dirty="0">
                <a:solidFill>
                  <a:srgbClr val="FF0000"/>
                </a:solidFill>
                <a:latin typeface="Consolas" panose="020B0609020204030204" pitchFamily="49" charset="0"/>
              </a:rPr>
              <a:t>D</a:t>
            </a:r>
            <a:r>
              <a:rPr lang="en-US" sz="2000" b="0" i="0" dirty="0">
                <a:solidFill>
                  <a:srgbClr val="FF0000"/>
                </a:solidFill>
                <a:effectLst/>
                <a:latin typeface="Consolas" panose="020B0609020204030204" pitchFamily="49" charset="0"/>
              </a:rPr>
              <a:t>ata\SourceFile.csv’,</a:t>
            </a:r>
          </a:p>
          <a:p>
            <a:pPr>
              <a:buNone/>
            </a:pPr>
            <a:r>
              <a:rPr lang="en-US" sz="2000" b="0" i="0" dirty="0">
                <a:solidFill>
                  <a:srgbClr val="333333"/>
                </a:solidFill>
                <a:effectLst/>
                <a:latin typeface="Consolas" panose="020B0609020204030204" pitchFamily="49" charset="0"/>
              </a:rPr>
              <a:t>)</a:t>
            </a:r>
            <a:r>
              <a:rPr lang="en-US" sz="2000" b="0" i="0" dirty="0">
                <a:solidFill>
                  <a:srgbClr val="006FE0"/>
                </a:solidFill>
                <a:effectLst/>
                <a:latin typeface="Consolas" panose="020B0609020204030204" pitchFamily="49" charset="0"/>
              </a:rPr>
              <a:t> </a:t>
            </a:r>
            <a:r>
              <a:rPr lang="en-US" sz="2000" b="0" i="0" dirty="0">
                <a:solidFill>
                  <a:srgbClr val="0000FF"/>
                </a:solidFill>
                <a:effectLst/>
                <a:latin typeface="Consolas" panose="020B0609020204030204" pitchFamily="49" charset="0"/>
              </a:rPr>
              <a:t>AS</a:t>
            </a:r>
            <a:r>
              <a:rPr lang="en-US" sz="2000" b="0" i="0" dirty="0">
                <a:solidFill>
                  <a:srgbClr val="006FE0"/>
                </a:solidFill>
                <a:effectLst/>
                <a:latin typeface="Consolas" panose="020B0609020204030204" pitchFamily="49" charset="0"/>
              </a:rPr>
              <a:t> </a:t>
            </a:r>
            <a:r>
              <a:rPr lang="en-US" sz="2000" dirty="0">
                <a:solidFill>
                  <a:srgbClr val="008080"/>
                </a:solidFill>
                <a:latin typeface="Consolas" panose="020B0609020204030204" pitchFamily="49" charset="0"/>
              </a:rPr>
              <a:t>a</a:t>
            </a:r>
            <a:r>
              <a:rPr lang="en-US" sz="2000" b="0" i="0" dirty="0">
                <a:solidFill>
                  <a:srgbClr val="333333"/>
                </a:solidFill>
                <a:effectLst/>
                <a:latin typeface="Consolas" panose="020B0609020204030204" pitchFamily="49" charset="0"/>
              </a:rPr>
              <a:t>;</a:t>
            </a:r>
            <a:endParaRPr lang="en-US" sz="2000" b="0" i="0" dirty="0">
              <a:solidFill>
                <a:srgbClr val="000000"/>
              </a:solidFill>
              <a:effectLst/>
              <a:latin typeface="Consolas" panose="020B0609020204030204" pitchFamily="49" charset="0"/>
            </a:endParaRPr>
          </a:p>
          <a:p>
            <a:pPr>
              <a:lnSpc>
                <a:spcPct val="110000"/>
              </a:lnSpc>
            </a:pPr>
            <a:endParaRPr lang="en-US" sz="3000" dirty="0">
              <a:solidFill>
                <a:srgbClr val="161616"/>
              </a:solidFill>
              <a:latin typeface="Segoe UI" panose="020B0502040204020203" pitchFamily="34" charset="0"/>
            </a:endParaRPr>
          </a:p>
          <a:p>
            <a:pPr>
              <a:lnSpc>
                <a:spcPct val="110000"/>
              </a:lnSpc>
            </a:pPr>
            <a:r>
              <a:rPr lang="en-US" sz="2600" dirty="0">
                <a:solidFill>
                  <a:srgbClr val="161616"/>
                </a:solidFill>
                <a:latin typeface="Segoe UI" panose="020B0502040204020203" pitchFamily="34" charset="0"/>
              </a:rPr>
              <a:t>Runs faster with tablock hint</a:t>
            </a:r>
          </a:p>
          <a:p>
            <a:pPr>
              <a:lnSpc>
                <a:spcPct val="110000"/>
              </a:lnSpc>
            </a:pPr>
            <a:r>
              <a:rPr lang="en-US" sz="2600" dirty="0">
                <a:solidFill>
                  <a:srgbClr val="161616"/>
                </a:solidFill>
                <a:latin typeface="Segoe UI" panose="020B0502040204020203" pitchFamily="34" charset="0"/>
              </a:rPr>
              <a:t>Takes X lock</a:t>
            </a:r>
          </a:p>
          <a:p>
            <a:pPr>
              <a:lnSpc>
                <a:spcPct val="110000"/>
              </a:lnSpc>
            </a:pPr>
            <a:r>
              <a:rPr lang="en-US" sz="2600" dirty="0">
                <a:solidFill>
                  <a:srgbClr val="161616"/>
                </a:solidFill>
                <a:latin typeface="Segoe UI" panose="020B0502040204020203" pitchFamily="34" charset="0"/>
              </a:rPr>
              <a:t>Not fully but efficiently logged</a:t>
            </a:r>
          </a:p>
          <a:p>
            <a:pPr>
              <a:lnSpc>
                <a:spcPct val="110000"/>
              </a:lnSpc>
            </a:pPr>
            <a:r>
              <a:rPr lang="en-US" sz="2600" dirty="0">
                <a:solidFill>
                  <a:srgbClr val="161616"/>
                </a:solidFill>
                <a:latin typeface="Segoe UI" panose="020B0502040204020203" pitchFamily="34" charset="0"/>
              </a:rPr>
              <a:t>Serial operation</a:t>
            </a:r>
          </a:p>
          <a:p>
            <a:pPr>
              <a:buNone/>
            </a:pPr>
            <a:endParaRPr lang="en-US" dirty="0">
              <a:solidFill>
                <a:srgbClr val="0000FF"/>
              </a:solidFill>
              <a:latin typeface="inherit"/>
            </a:endParaRPr>
          </a:p>
          <a:p>
            <a:pPr>
              <a:buNone/>
            </a:pPr>
            <a:endParaRPr lang="en-US" dirty="0">
              <a:solidFill>
                <a:srgbClr val="0000FF"/>
              </a:solidFill>
              <a:latin typeface="inherit"/>
            </a:endParaRPr>
          </a:p>
          <a:p>
            <a:pPr algn="l"/>
            <a:endParaRPr lang="en-US" b="0" i="0" dirty="0">
              <a:solidFill>
                <a:srgbClr val="000000"/>
              </a:solidFill>
              <a:effectLst/>
              <a:latin typeface="Roboto Mono" panose="00000009000000000000" pitchFamily="49" charset="0"/>
            </a:endParaRPr>
          </a:p>
        </p:txBody>
      </p:sp>
    </p:spTree>
    <p:extLst>
      <p:ext uri="{BB962C8B-B14F-4D97-AF65-F5344CB8AC3E}">
        <p14:creationId xmlns:p14="http://schemas.microsoft.com/office/powerpoint/2010/main" val="34676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6934-FD12-67B9-947E-9E5C064998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96754-2F0D-2A81-45D3-557D82D12610}"/>
              </a:ext>
            </a:extLst>
          </p:cNvPr>
          <p:cNvSpPr>
            <a:spLocks noGrp="1"/>
          </p:cNvSpPr>
          <p:nvPr>
            <p:ph type="title"/>
          </p:nvPr>
        </p:nvSpPr>
        <p:spPr/>
        <p:txBody>
          <a:bodyPr>
            <a:normAutofit/>
          </a:bodyPr>
          <a:lstStyle/>
          <a:p>
            <a:r>
              <a:rPr lang="en-US" sz="4800" b="1" dirty="0">
                <a:solidFill>
                  <a:schemeClr val="accent2">
                    <a:lumMod val="75000"/>
                  </a:schemeClr>
                </a:solidFill>
              </a:rPr>
              <a:t>Recap - Openrowset</a:t>
            </a:r>
          </a:p>
        </p:txBody>
      </p:sp>
      <p:sp>
        <p:nvSpPr>
          <p:cNvPr id="3" name="Content Placeholder 2">
            <a:extLst>
              <a:ext uri="{FF2B5EF4-FFF2-40B4-BE49-F238E27FC236}">
                <a16:creationId xmlns:a16="http://schemas.microsoft.com/office/drawing/2014/main" id="{DE7F7651-BB06-9E35-71B3-BCFE7C547DC6}"/>
              </a:ext>
            </a:extLst>
          </p:cNvPr>
          <p:cNvSpPr>
            <a:spLocks noGrp="1"/>
          </p:cNvSpPr>
          <p:nvPr>
            <p:ph idx="1"/>
          </p:nvPr>
        </p:nvSpPr>
        <p:spPr/>
        <p:txBody>
          <a:bodyPr>
            <a:normAutofit/>
          </a:bodyPr>
          <a:lstStyle/>
          <a:p>
            <a:pPr>
              <a:lnSpc>
                <a:spcPct val="110000"/>
              </a:lnSpc>
            </a:pPr>
            <a:r>
              <a:rPr lang="en-US" sz="2400" dirty="0">
                <a:solidFill>
                  <a:srgbClr val="161616"/>
                </a:solidFill>
                <a:latin typeface="Segoe UI" panose="020B0502040204020203" pitchFamily="34" charset="0"/>
              </a:rPr>
              <a:t>Add Bulk hint to load csv files</a:t>
            </a:r>
          </a:p>
          <a:p>
            <a:pPr>
              <a:lnSpc>
                <a:spcPct val="110000"/>
              </a:lnSpc>
            </a:pPr>
            <a:r>
              <a:rPr lang="en-US" sz="2400" dirty="0">
                <a:solidFill>
                  <a:srgbClr val="161616"/>
                </a:solidFill>
                <a:latin typeface="Segoe UI" panose="020B0502040204020203" pitchFamily="34" charset="0"/>
              </a:rPr>
              <a:t>In clustered tables, if source file is already sorted, add </a:t>
            </a:r>
            <a:r>
              <a:rPr lang="en-US" sz="2400" b="1" dirty="0">
                <a:solidFill>
                  <a:srgbClr val="161616"/>
                </a:solidFill>
                <a:latin typeface="Segoe UI" panose="020B0502040204020203" pitchFamily="34" charset="0"/>
              </a:rPr>
              <a:t>Order</a:t>
            </a:r>
            <a:r>
              <a:rPr lang="en-US" sz="2400" dirty="0">
                <a:solidFill>
                  <a:srgbClr val="161616"/>
                </a:solidFill>
                <a:latin typeface="Segoe UI" panose="020B0502040204020203" pitchFamily="34" charset="0"/>
              </a:rPr>
              <a:t> clause to improve insert performance</a:t>
            </a:r>
          </a:p>
          <a:p>
            <a:pPr>
              <a:lnSpc>
                <a:spcPct val="110000"/>
              </a:lnSpc>
            </a:pPr>
            <a:r>
              <a:rPr lang="en-US" sz="2400" dirty="0">
                <a:solidFill>
                  <a:srgbClr val="161616"/>
                </a:solidFill>
                <a:latin typeface="Segoe UI" panose="020B0502040204020203" pitchFamily="34" charset="0"/>
              </a:rPr>
              <a:t>In heap tables, add </a:t>
            </a:r>
            <a:r>
              <a:rPr lang="en-US" sz="2400" b="1" dirty="0">
                <a:solidFill>
                  <a:srgbClr val="161616"/>
                </a:solidFill>
                <a:latin typeface="Segoe UI" panose="020B0502040204020203" pitchFamily="34" charset="0"/>
              </a:rPr>
              <a:t>Tablock</a:t>
            </a:r>
            <a:r>
              <a:rPr lang="en-US" sz="2400" dirty="0">
                <a:solidFill>
                  <a:srgbClr val="161616"/>
                </a:solidFill>
                <a:latin typeface="Segoe UI" panose="020B0502040204020203" pitchFamily="34" charset="0"/>
              </a:rPr>
              <a:t> hint to minimally log and improve insert performance </a:t>
            </a:r>
          </a:p>
          <a:p>
            <a:pPr>
              <a:buNone/>
            </a:pPr>
            <a:endParaRPr lang="en-US" dirty="0">
              <a:solidFill>
                <a:srgbClr val="0000FF"/>
              </a:solidFill>
              <a:latin typeface="inherit"/>
            </a:endParaRPr>
          </a:p>
          <a:p>
            <a:pPr>
              <a:buNone/>
            </a:pPr>
            <a:endParaRPr lang="en-US" dirty="0">
              <a:solidFill>
                <a:srgbClr val="0000FF"/>
              </a:solidFill>
              <a:latin typeface="inherit"/>
            </a:endParaRPr>
          </a:p>
          <a:p>
            <a:pPr algn="l"/>
            <a:endParaRPr lang="en-US" b="0" i="0" dirty="0">
              <a:solidFill>
                <a:srgbClr val="000000"/>
              </a:solidFill>
              <a:effectLst/>
              <a:latin typeface="Roboto Mono" panose="00000009000000000000" pitchFamily="49" charset="0"/>
            </a:endParaRPr>
          </a:p>
        </p:txBody>
      </p:sp>
    </p:spTree>
    <p:extLst>
      <p:ext uri="{BB962C8B-B14F-4D97-AF65-F5344CB8AC3E}">
        <p14:creationId xmlns:p14="http://schemas.microsoft.com/office/powerpoint/2010/main" val="116693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137E-DC1C-EB12-EA95-987A4ECDC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BEFA5-0105-2AC4-9ACD-AA7ACFD97544}"/>
              </a:ext>
            </a:extLst>
          </p:cNvPr>
          <p:cNvSpPr>
            <a:spLocks noGrp="1"/>
          </p:cNvSpPr>
          <p:nvPr>
            <p:ph type="title"/>
          </p:nvPr>
        </p:nvSpPr>
        <p:spPr/>
        <p:txBody>
          <a:bodyPr>
            <a:normAutofit/>
          </a:bodyPr>
          <a:lstStyle/>
          <a:p>
            <a:r>
              <a:rPr lang="en-US" sz="4800" b="1" dirty="0">
                <a:solidFill>
                  <a:schemeClr val="accent2">
                    <a:lumMod val="75000"/>
                  </a:schemeClr>
                </a:solidFill>
              </a:rPr>
              <a:t>DEMO</a:t>
            </a:r>
          </a:p>
        </p:txBody>
      </p:sp>
      <p:sp>
        <p:nvSpPr>
          <p:cNvPr id="3" name="Content Placeholder 2">
            <a:extLst>
              <a:ext uri="{FF2B5EF4-FFF2-40B4-BE49-F238E27FC236}">
                <a16:creationId xmlns:a16="http://schemas.microsoft.com/office/drawing/2014/main" id="{50E3EDF4-01B9-73AB-9915-E35FBB66E2D0}"/>
              </a:ext>
            </a:extLst>
          </p:cNvPr>
          <p:cNvSpPr>
            <a:spLocks noGrp="1"/>
          </p:cNvSpPr>
          <p:nvPr>
            <p:ph idx="1"/>
          </p:nvPr>
        </p:nvSpPr>
        <p:spPr/>
        <p:txBody>
          <a:bodyPr/>
          <a:lstStyle/>
          <a:p>
            <a:pPr marL="514350" indent="-514350">
              <a:buAutoNum type="arabicPeriod"/>
            </a:pPr>
            <a:r>
              <a:rPr lang="en-US" dirty="0">
                <a:solidFill>
                  <a:srgbClr val="161616"/>
                </a:solidFill>
                <a:latin typeface="Segoe UI" panose="020B0502040204020203" pitchFamily="34" charset="0"/>
              </a:rPr>
              <a:t>Insert..Select</a:t>
            </a:r>
          </a:p>
          <a:p>
            <a:pPr marL="0" indent="0">
              <a:buNone/>
            </a:pPr>
            <a:r>
              <a:rPr lang="en-US" dirty="0">
                <a:solidFill>
                  <a:srgbClr val="161616"/>
                </a:solidFill>
                <a:latin typeface="Segoe UI" panose="020B0502040204020203" pitchFamily="34" charset="0"/>
              </a:rPr>
              <a:t>      vs</a:t>
            </a:r>
          </a:p>
          <a:p>
            <a:pPr marL="457200" lvl="1" indent="0">
              <a:buNone/>
            </a:pPr>
            <a:r>
              <a:rPr lang="en-US" sz="2800" dirty="0">
                <a:solidFill>
                  <a:srgbClr val="161616"/>
                </a:solidFill>
                <a:latin typeface="Segoe UI" panose="020B0502040204020203" pitchFamily="34" charset="0"/>
              </a:rPr>
              <a:t> Insert..Select using TABLOCK hint</a:t>
            </a:r>
          </a:p>
          <a:p>
            <a:pPr marL="457200" lvl="1" indent="0">
              <a:buNone/>
            </a:pPr>
            <a:endParaRPr lang="en-US" dirty="0">
              <a:solidFill>
                <a:srgbClr val="161616"/>
              </a:solidFill>
              <a:latin typeface="Segoe UI" panose="020B0502040204020203" pitchFamily="34" charset="0"/>
            </a:endParaRPr>
          </a:p>
          <a:p>
            <a:pPr marL="0" indent="0">
              <a:buNone/>
            </a:pPr>
            <a:r>
              <a:rPr lang="en-US" dirty="0">
                <a:solidFill>
                  <a:srgbClr val="161616"/>
                </a:solidFill>
                <a:latin typeface="Segoe UI" panose="020B0502040204020203" pitchFamily="34" charset="0"/>
              </a:rPr>
              <a:t>2.  Select Into</a:t>
            </a:r>
          </a:p>
          <a:p>
            <a:pPr marL="0" indent="0">
              <a:buNone/>
            </a:pPr>
            <a:endParaRPr lang="en-US" dirty="0">
              <a:solidFill>
                <a:srgbClr val="161616"/>
              </a:solidFill>
              <a:latin typeface="Segoe UI" panose="020B0502040204020203" pitchFamily="34" charset="0"/>
            </a:endParaRPr>
          </a:p>
          <a:p>
            <a:pPr marL="0" indent="0">
              <a:buNone/>
            </a:pPr>
            <a:r>
              <a:rPr lang="en-US" dirty="0">
                <a:solidFill>
                  <a:srgbClr val="161616"/>
                </a:solidFill>
                <a:latin typeface="Segoe UI" panose="020B0502040204020203" pitchFamily="34" charset="0"/>
              </a:rPr>
              <a:t>3.  Insert using openrowset</a:t>
            </a:r>
          </a:p>
          <a:p>
            <a:pPr marL="457200" lvl="1" indent="0">
              <a:buNone/>
            </a:pPr>
            <a:endParaRPr lang="en-US" dirty="0"/>
          </a:p>
          <a:p>
            <a:pPr lvl="1"/>
            <a:endParaRPr lang="en-US" dirty="0"/>
          </a:p>
        </p:txBody>
      </p:sp>
    </p:spTree>
    <p:extLst>
      <p:ext uri="{BB962C8B-B14F-4D97-AF65-F5344CB8AC3E}">
        <p14:creationId xmlns:p14="http://schemas.microsoft.com/office/powerpoint/2010/main" val="31638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261D-A8A2-0F3D-8599-F09F729BB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D588A-9851-E203-22FC-35071AE2C2A5}"/>
              </a:ext>
            </a:extLst>
          </p:cNvPr>
          <p:cNvSpPr>
            <a:spLocks noGrp="1"/>
          </p:cNvSpPr>
          <p:nvPr>
            <p:ph type="title"/>
          </p:nvPr>
        </p:nvSpPr>
        <p:spPr/>
        <p:txBody>
          <a:bodyPr>
            <a:normAutofit/>
          </a:bodyPr>
          <a:lstStyle/>
          <a:p>
            <a:r>
              <a:rPr lang="en-US" sz="4800" b="1" dirty="0">
                <a:solidFill>
                  <a:schemeClr val="accent2">
                    <a:lumMod val="75000"/>
                  </a:schemeClr>
                </a:solidFill>
              </a:rPr>
              <a:t>4. Bulk Insert</a:t>
            </a:r>
          </a:p>
        </p:txBody>
      </p:sp>
      <p:sp>
        <p:nvSpPr>
          <p:cNvPr id="3" name="Content Placeholder 2">
            <a:extLst>
              <a:ext uri="{FF2B5EF4-FFF2-40B4-BE49-F238E27FC236}">
                <a16:creationId xmlns:a16="http://schemas.microsoft.com/office/drawing/2014/main" id="{35118EDC-F711-2AF0-E4F9-AE2DD3889218}"/>
              </a:ext>
            </a:extLst>
          </p:cNvPr>
          <p:cNvSpPr>
            <a:spLocks noGrp="1"/>
          </p:cNvSpPr>
          <p:nvPr>
            <p:ph idx="1"/>
          </p:nvPr>
        </p:nvSpPr>
        <p:spPr>
          <a:xfrm>
            <a:off x="838200" y="1569987"/>
            <a:ext cx="10515600" cy="4351338"/>
          </a:xfrm>
        </p:spPr>
        <p:txBody>
          <a:bodyPr>
            <a:normAutofit fontScale="25000" lnSpcReduction="20000"/>
          </a:bodyPr>
          <a:lstStyle/>
          <a:p>
            <a:pPr marL="0" indent="0">
              <a:buNone/>
            </a:pPr>
            <a:r>
              <a:rPr lang="en-US" sz="7200" dirty="0">
                <a:solidFill>
                  <a:srgbClr val="0000FF"/>
                </a:solidFill>
                <a:latin typeface="Consolas" panose="020B0609020204030204" pitchFamily="49" charset="0"/>
              </a:rPr>
              <a:t>BULK</a:t>
            </a:r>
            <a:r>
              <a:rPr lang="en-US" sz="7200" dirty="0">
                <a:solidFill>
                  <a:srgbClr val="000000"/>
                </a:solidFill>
                <a:latin typeface="Consolas" panose="020B0609020204030204" pitchFamily="49" charset="0"/>
              </a:rPr>
              <a:t> </a:t>
            </a:r>
            <a:r>
              <a:rPr lang="en-US" sz="7200" dirty="0">
                <a:solidFill>
                  <a:srgbClr val="0000FF"/>
                </a:solidFill>
                <a:latin typeface="Consolas" panose="020B0609020204030204" pitchFamily="49" charset="0"/>
              </a:rPr>
              <a:t>INSERT</a:t>
            </a:r>
            <a:r>
              <a:rPr lang="en-US" sz="7200" dirty="0">
                <a:solidFill>
                  <a:srgbClr val="000000"/>
                </a:solidFill>
                <a:latin typeface="Consolas" panose="020B0609020204030204" pitchFamily="49" charset="0"/>
              </a:rPr>
              <a:t> dbo</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TargetTable</a:t>
            </a:r>
          </a:p>
          <a:p>
            <a:pPr marL="0" indent="0">
              <a:buNone/>
            </a:pPr>
            <a:r>
              <a:rPr lang="en-US" sz="7200" dirty="0">
                <a:solidFill>
                  <a:srgbClr val="0000FF"/>
                </a:solidFill>
                <a:latin typeface="Consolas" panose="020B0609020204030204" pitchFamily="49" charset="0"/>
              </a:rPr>
              <a:t>FROM</a:t>
            </a:r>
            <a:r>
              <a:rPr lang="en-US" sz="7200" dirty="0">
                <a:solidFill>
                  <a:srgbClr val="000000"/>
                </a:solidFill>
                <a:latin typeface="Consolas" panose="020B0609020204030204" pitchFamily="49" charset="0"/>
              </a:rPr>
              <a:t> </a:t>
            </a:r>
            <a:r>
              <a:rPr lang="en-US" sz="7200" dirty="0">
                <a:solidFill>
                  <a:srgbClr val="FF0000"/>
                </a:solidFill>
                <a:latin typeface="Consolas" panose="020B0609020204030204" pitchFamily="49" charset="0"/>
              </a:rPr>
              <a:t>‘C:\Data\SourceFile.csv’</a:t>
            </a:r>
            <a:endParaRPr lang="en-US" sz="7200" dirty="0">
              <a:solidFill>
                <a:srgbClr val="000000"/>
              </a:solidFill>
              <a:latin typeface="Consolas" panose="020B0609020204030204" pitchFamily="49" charset="0"/>
            </a:endParaRPr>
          </a:p>
          <a:p>
            <a:pPr marL="0" indent="0">
              <a:buNone/>
            </a:pPr>
            <a:r>
              <a:rPr lang="en-US" sz="7200" dirty="0">
                <a:solidFill>
                  <a:srgbClr val="0000FF"/>
                </a:solidFill>
                <a:latin typeface="Consolas" panose="020B0609020204030204" pitchFamily="49" charset="0"/>
              </a:rPr>
              <a:t>WITH </a:t>
            </a:r>
            <a:r>
              <a:rPr lang="en-US" sz="7200" dirty="0">
                <a:solidFill>
                  <a:srgbClr val="808080"/>
                </a:solidFill>
                <a:latin typeface="Consolas" panose="020B0609020204030204" pitchFamily="49" charset="0"/>
              </a:rPr>
              <a:t>(</a:t>
            </a:r>
            <a:endParaRPr lang="en-US" sz="7200" dirty="0">
              <a:solidFill>
                <a:srgbClr val="000000"/>
              </a:solidFill>
              <a:latin typeface="Consolas" panose="020B0609020204030204" pitchFamily="49" charset="0"/>
            </a:endParaRPr>
          </a:p>
          <a:p>
            <a:pPr marL="0" indent="0">
              <a:buNone/>
            </a:pPr>
            <a:r>
              <a:rPr lang="en-US" sz="7200" dirty="0">
                <a:solidFill>
                  <a:srgbClr val="000000"/>
                </a:solidFill>
                <a:latin typeface="Consolas" panose="020B0609020204030204" pitchFamily="49" charset="0"/>
              </a:rPr>
              <a:t>    </a:t>
            </a:r>
            <a:r>
              <a:rPr lang="en-US" sz="7200" dirty="0">
                <a:solidFill>
                  <a:srgbClr val="0000FF"/>
                </a:solidFill>
                <a:latin typeface="Consolas" panose="020B0609020204030204" pitchFamily="49" charset="0"/>
              </a:rPr>
              <a:t>FIELDTERMINATOR</a:t>
            </a:r>
            <a:r>
              <a:rPr lang="en-US" sz="7200" dirty="0">
                <a:solidFill>
                  <a:srgbClr val="000000"/>
                </a:solidFill>
                <a:latin typeface="Consolas" panose="020B0609020204030204" pitchFamily="49" charset="0"/>
              </a:rPr>
              <a:t> </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 </a:t>
            </a:r>
            <a:r>
              <a:rPr lang="en-US" sz="7200" dirty="0">
                <a:solidFill>
                  <a:srgbClr val="FF0000"/>
                </a:solidFill>
                <a:latin typeface="Consolas" panose="020B0609020204030204" pitchFamily="49" charset="0"/>
              </a:rPr>
              <a:t>','</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   </a:t>
            </a:r>
            <a:r>
              <a:rPr lang="en-US" sz="7200" dirty="0">
                <a:solidFill>
                  <a:srgbClr val="008000"/>
                </a:solidFill>
                <a:latin typeface="Consolas" panose="020B0609020204030204" pitchFamily="49" charset="0"/>
              </a:rPr>
              <a:t>-- for a comma-separated CSV</a:t>
            </a:r>
            <a:endParaRPr lang="en-US" sz="7200" dirty="0">
              <a:solidFill>
                <a:srgbClr val="000000"/>
              </a:solidFill>
              <a:latin typeface="Consolas" panose="020B0609020204030204" pitchFamily="49" charset="0"/>
            </a:endParaRPr>
          </a:p>
          <a:p>
            <a:pPr marL="0" indent="0">
              <a:buNone/>
            </a:pPr>
            <a:r>
              <a:rPr lang="en-US" sz="7200" dirty="0">
                <a:solidFill>
                  <a:srgbClr val="000000"/>
                </a:solidFill>
                <a:latin typeface="Consolas" panose="020B0609020204030204" pitchFamily="49" charset="0"/>
              </a:rPr>
              <a:t>    </a:t>
            </a:r>
            <a:r>
              <a:rPr lang="en-US" sz="7200" dirty="0">
                <a:solidFill>
                  <a:srgbClr val="0000FF"/>
                </a:solidFill>
                <a:latin typeface="Consolas" panose="020B0609020204030204" pitchFamily="49" charset="0"/>
              </a:rPr>
              <a:t>ROWTERMINATOR</a:t>
            </a:r>
            <a:r>
              <a:rPr lang="en-US" sz="7200" dirty="0">
                <a:solidFill>
                  <a:srgbClr val="000000"/>
                </a:solidFill>
                <a:latin typeface="Consolas" panose="020B0609020204030204" pitchFamily="49" charset="0"/>
              </a:rPr>
              <a:t> </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 </a:t>
            </a:r>
            <a:r>
              <a:rPr lang="en-US" sz="7200" dirty="0">
                <a:solidFill>
                  <a:srgbClr val="FF0000"/>
                </a:solidFill>
                <a:latin typeface="Consolas" panose="020B0609020204030204" pitchFamily="49" charset="0"/>
              </a:rPr>
              <a:t>'\n'</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    </a:t>
            </a:r>
            <a:r>
              <a:rPr lang="en-US" sz="7200" dirty="0">
                <a:solidFill>
                  <a:srgbClr val="008000"/>
                </a:solidFill>
                <a:latin typeface="Consolas" panose="020B0609020204030204" pitchFamily="49" charset="0"/>
              </a:rPr>
              <a:t>-- rows end with newline</a:t>
            </a:r>
            <a:endParaRPr lang="en-US" sz="7200" dirty="0">
              <a:solidFill>
                <a:srgbClr val="000000"/>
              </a:solidFill>
              <a:latin typeface="Consolas" panose="020B0609020204030204" pitchFamily="49" charset="0"/>
            </a:endParaRPr>
          </a:p>
          <a:p>
            <a:pPr marL="0" indent="0">
              <a:buNone/>
            </a:pPr>
            <a:r>
              <a:rPr lang="en-US" sz="7200" dirty="0">
                <a:solidFill>
                  <a:srgbClr val="000000"/>
                </a:solidFill>
                <a:latin typeface="Consolas" panose="020B0609020204030204" pitchFamily="49" charset="0"/>
              </a:rPr>
              <a:t>    </a:t>
            </a:r>
            <a:r>
              <a:rPr lang="en-US" sz="7200" dirty="0">
                <a:solidFill>
                  <a:srgbClr val="0000FF"/>
                </a:solidFill>
                <a:latin typeface="Consolas" panose="020B0609020204030204" pitchFamily="49" charset="0"/>
              </a:rPr>
              <a:t>FIRSTROW</a:t>
            </a:r>
            <a:r>
              <a:rPr lang="en-US" sz="7200" dirty="0">
                <a:solidFill>
                  <a:srgbClr val="000000"/>
                </a:solidFill>
                <a:latin typeface="Consolas" panose="020B0609020204030204" pitchFamily="49" charset="0"/>
              </a:rPr>
              <a:t> </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 2 </a:t>
            </a:r>
            <a:r>
              <a:rPr lang="en-US" sz="7200" dirty="0">
                <a:solidFill>
                  <a:srgbClr val="808080"/>
                </a:solidFill>
                <a:latin typeface="Consolas" panose="020B0609020204030204" pitchFamily="49" charset="0"/>
              </a:rPr>
              <a:t>,</a:t>
            </a:r>
            <a:r>
              <a:rPr lang="en-US" sz="7200" dirty="0">
                <a:solidFill>
                  <a:srgbClr val="000000"/>
                </a:solidFill>
                <a:latin typeface="Consolas" panose="020B0609020204030204" pitchFamily="49" charset="0"/>
              </a:rPr>
              <a:t>           </a:t>
            </a:r>
            <a:r>
              <a:rPr lang="en-US" sz="7200" dirty="0">
                <a:solidFill>
                  <a:srgbClr val="008000"/>
                </a:solidFill>
                <a:latin typeface="Consolas" panose="020B0609020204030204" pitchFamily="49" charset="0"/>
              </a:rPr>
              <a:t>-- skip header row</a:t>
            </a:r>
            <a:endParaRPr lang="en-US" sz="7200" dirty="0">
              <a:solidFill>
                <a:srgbClr val="000000"/>
              </a:solidFill>
              <a:latin typeface="Consolas" panose="020B0609020204030204" pitchFamily="49" charset="0"/>
            </a:endParaRPr>
          </a:p>
          <a:p>
            <a:pPr marL="0" indent="0">
              <a:buNone/>
            </a:pPr>
            <a:r>
              <a:rPr lang="en-US" sz="7200" dirty="0">
                <a:solidFill>
                  <a:srgbClr val="808080"/>
                </a:solidFill>
                <a:latin typeface="Consolas" panose="020B0609020204030204" pitchFamily="49" charset="0"/>
              </a:rPr>
              <a:t>);</a:t>
            </a:r>
            <a:endParaRPr lang="en-US" sz="7200" dirty="0">
              <a:latin typeface="Consolas" panose="020B0609020204030204" pitchFamily="49" charset="0"/>
            </a:endParaRPr>
          </a:p>
          <a:p>
            <a:r>
              <a:rPr lang="en-US" sz="8000" dirty="0">
                <a:solidFill>
                  <a:srgbClr val="161616"/>
                </a:solidFill>
                <a:latin typeface="Segoe UI" panose="020B0502040204020203" pitchFamily="34" charset="0"/>
              </a:rPr>
              <a:t>Import data from a text or csv file into a table or view</a:t>
            </a:r>
          </a:p>
          <a:p>
            <a:r>
              <a:rPr lang="en-US" sz="8000" dirty="0">
                <a:solidFill>
                  <a:srgbClr val="161616"/>
                </a:solidFill>
                <a:latin typeface="Segoe UI" panose="020B0502040204020203" pitchFamily="34" charset="0"/>
              </a:rPr>
              <a:t>No export </a:t>
            </a:r>
          </a:p>
          <a:p>
            <a:r>
              <a:rPr lang="en-US" sz="8000" dirty="0">
                <a:solidFill>
                  <a:srgbClr val="161616"/>
                </a:solidFill>
                <a:latin typeface="Segoe UI" panose="020B0502040204020203" pitchFamily="34" charset="0"/>
              </a:rPr>
              <a:t>Uses Sqlservr.exe - Fast way to load data into SQL Server</a:t>
            </a:r>
          </a:p>
          <a:p>
            <a:r>
              <a:rPr lang="en-US" sz="8000" dirty="0">
                <a:solidFill>
                  <a:srgbClr val="161616"/>
                </a:solidFill>
                <a:latin typeface="Segoe UI" panose="020B0502040204020203" pitchFamily="34" charset="0"/>
              </a:rPr>
              <a:t>Used in stored procedures </a:t>
            </a:r>
          </a:p>
          <a:p>
            <a:r>
              <a:rPr lang="en-US" sz="8000" dirty="0">
                <a:solidFill>
                  <a:srgbClr val="161616"/>
                </a:solidFill>
                <a:latin typeface="Segoe UI" panose="020B0502040204020203" pitchFamily="34" charset="0"/>
              </a:rPr>
              <a:t>Exclusive(X) lock on the table</a:t>
            </a:r>
          </a:p>
          <a:p>
            <a:r>
              <a:rPr lang="en-US" sz="8000" dirty="0">
                <a:solidFill>
                  <a:srgbClr val="161616"/>
                </a:solidFill>
                <a:latin typeface="Segoe UI" panose="020B0502040204020203" pitchFamily="34" charset="0"/>
              </a:rPr>
              <a:t>Minimally logged </a:t>
            </a:r>
          </a:p>
          <a:p>
            <a:r>
              <a:rPr lang="en-US" sz="8000" dirty="0">
                <a:solidFill>
                  <a:srgbClr val="161616"/>
                </a:solidFill>
                <a:latin typeface="Segoe UI" panose="020B0502040204020203" pitchFamily="34" charset="0"/>
              </a:rPr>
              <a:t>Serial operation</a:t>
            </a:r>
          </a:p>
          <a:p>
            <a:r>
              <a:rPr lang="en-US" sz="8000" dirty="0">
                <a:solidFill>
                  <a:srgbClr val="161616"/>
                </a:solidFill>
                <a:latin typeface="Segoe UI" panose="020B0502040204020203" pitchFamily="34" charset="0"/>
              </a:rPr>
              <a:t>Control batch size</a:t>
            </a:r>
          </a:p>
          <a:p>
            <a:pPr marL="0" indent="0">
              <a:buNone/>
            </a:pPr>
            <a:endParaRPr lang="en-US" sz="5400" dirty="0">
              <a:solidFill>
                <a:srgbClr val="0000FF"/>
              </a:solidFill>
              <a:latin typeface="Consolas" panose="020B0609020204030204" pitchFamily="49" charset="0"/>
            </a:endParaRPr>
          </a:p>
          <a:p>
            <a:endParaRPr lang="en-US" sz="5100" dirty="0">
              <a:solidFill>
                <a:srgbClr val="161616"/>
              </a:solidFill>
              <a:latin typeface="Segoe UI" panose="020B0502040204020203" pitchFamily="34" charset="0"/>
            </a:endParaRPr>
          </a:p>
          <a:p>
            <a:endParaRPr lang="en-US" sz="7800" dirty="0">
              <a:solidFill>
                <a:srgbClr val="161616"/>
              </a:solidFill>
              <a:latin typeface="Segoe UI" panose="020B0502040204020203" pitchFamily="34" charset="0"/>
            </a:endParaRP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2682681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D8D6-9016-FE10-1B48-1BF12898D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98295-4706-D14D-D078-3560C0D602C6}"/>
              </a:ext>
            </a:extLst>
          </p:cNvPr>
          <p:cNvSpPr>
            <a:spLocks noGrp="1"/>
          </p:cNvSpPr>
          <p:nvPr>
            <p:ph type="title"/>
          </p:nvPr>
        </p:nvSpPr>
        <p:spPr/>
        <p:txBody>
          <a:bodyPr>
            <a:normAutofit/>
          </a:bodyPr>
          <a:lstStyle/>
          <a:p>
            <a:r>
              <a:rPr lang="en-US" sz="4800" b="1" dirty="0">
                <a:solidFill>
                  <a:schemeClr val="accent2">
                    <a:lumMod val="75000"/>
                  </a:schemeClr>
                </a:solidFill>
              </a:rPr>
              <a:t>4.1 Bulk Insert - Tablock</a:t>
            </a:r>
          </a:p>
        </p:txBody>
      </p:sp>
      <p:sp>
        <p:nvSpPr>
          <p:cNvPr id="3" name="Content Placeholder 2">
            <a:extLst>
              <a:ext uri="{FF2B5EF4-FFF2-40B4-BE49-F238E27FC236}">
                <a16:creationId xmlns:a16="http://schemas.microsoft.com/office/drawing/2014/main" id="{51C800ED-25E6-E453-55C3-AD57B258AA09}"/>
              </a:ext>
            </a:extLst>
          </p:cNvPr>
          <p:cNvSpPr>
            <a:spLocks noGrp="1"/>
          </p:cNvSpPr>
          <p:nvPr>
            <p:ph idx="1"/>
          </p:nvPr>
        </p:nvSpPr>
        <p:spPr/>
        <p:txBody>
          <a:bodyPr>
            <a:normAutofit fontScale="92500" lnSpcReduction="20000"/>
          </a:bodyPr>
          <a:lstStyle/>
          <a:p>
            <a:pPr marL="0" indent="0">
              <a:buNone/>
            </a:pPr>
            <a:r>
              <a:rPr lang="en-US" sz="2100" dirty="0">
                <a:solidFill>
                  <a:srgbClr val="0000FF"/>
                </a:solidFill>
                <a:latin typeface="Consolas" panose="020B0609020204030204" pitchFamily="49" charset="0"/>
              </a:rPr>
              <a:t>BULK</a:t>
            </a: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INSERT</a:t>
            </a:r>
            <a:r>
              <a:rPr lang="en-US" sz="2100" dirty="0">
                <a:solidFill>
                  <a:srgbClr val="000000"/>
                </a:solidFill>
                <a:latin typeface="Consolas" panose="020B0609020204030204" pitchFamily="49" charset="0"/>
              </a:rPr>
              <a:t> dbo</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TargetTable </a:t>
            </a:r>
          </a:p>
          <a:p>
            <a:pPr marL="0" indent="0">
              <a:buNone/>
            </a:pPr>
            <a:r>
              <a:rPr lang="en-US" sz="2100" dirty="0">
                <a:solidFill>
                  <a:srgbClr val="0000FF"/>
                </a:solidFill>
                <a:latin typeface="Consolas" panose="020B0609020204030204" pitchFamily="49" charset="0"/>
              </a:rPr>
              <a:t>FROM</a:t>
            </a:r>
            <a:r>
              <a:rPr lang="en-US" sz="2100" dirty="0">
                <a:solidFill>
                  <a:srgbClr val="000000"/>
                </a:solidFill>
                <a:latin typeface="Consolas" panose="020B0609020204030204" pitchFamily="49" charset="0"/>
              </a:rPr>
              <a:t> </a:t>
            </a:r>
            <a:r>
              <a:rPr lang="en-US" sz="2100" dirty="0">
                <a:solidFill>
                  <a:srgbClr val="FF0000"/>
                </a:solidFill>
                <a:latin typeface="Consolas" panose="020B0609020204030204" pitchFamily="49" charset="0"/>
              </a:rPr>
              <a:t>‘C:\Data\SourceFile.csv'</a:t>
            </a:r>
            <a:endParaRPr lang="en-US" sz="2100" dirty="0">
              <a:solidFill>
                <a:srgbClr val="000000"/>
              </a:solidFill>
              <a:latin typeface="Consolas" panose="020B0609020204030204" pitchFamily="49" charset="0"/>
            </a:endParaRPr>
          </a:p>
          <a:p>
            <a:pPr marL="0" indent="0">
              <a:buNone/>
            </a:pPr>
            <a:r>
              <a:rPr lang="en-US" sz="2100" dirty="0">
                <a:solidFill>
                  <a:srgbClr val="0000FF"/>
                </a:solidFill>
                <a:latin typeface="Consolas" panose="020B0609020204030204" pitchFamily="49" charset="0"/>
              </a:rPr>
              <a:t>WITH </a:t>
            </a:r>
            <a:r>
              <a:rPr lang="en-US" sz="2100" dirty="0">
                <a:solidFill>
                  <a:srgbClr val="808080"/>
                </a:solidFill>
                <a:latin typeface="Consolas" panose="020B0609020204030204" pitchFamily="49" charset="0"/>
              </a:rPr>
              <a:t>(</a:t>
            </a:r>
            <a:endParaRPr lang="en-US" sz="2100" dirty="0">
              <a:solidFill>
                <a:srgbClr val="000000"/>
              </a:solidFill>
              <a:latin typeface="Consolas" panose="020B0609020204030204" pitchFamily="49" charset="0"/>
            </a:endParaRPr>
          </a:p>
          <a:p>
            <a:pPr marL="0" indent="0">
              <a:buNone/>
            </a:pP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FIELDTERMINATOR</a:t>
            </a:r>
            <a:r>
              <a:rPr lang="en-US" sz="2100" dirty="0">
                <a:solidFill>
                  <a:srgbClr val="000000"/>
                </a:solidFill>
                <a:latin typeface="Consolas" panose="020B0609020204030204" pitchFamily="49" charset="0"/>
              </a:rPr>
              <a:t> </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 </a:t>
            </a:r>
            <a:r>
              <a:rPr lang="en-US" sz="2100" dirty="0">
                <a:solidFill>
                  <a:srgbClr val="FF0000"/>
                </a:solidFill>
                <a:latin typeface="Consolas" panose="020B0609020204030204" pitchFamily="49" charset="0"/>
              </a:rPr>
              <a:t>','</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   </a:t>
            </a:r>
            <a:r>
              <a:rPr lang="en-US" sz="2100" dirty="0">
                <a:solidFill>
                  <a:srgbClr val="008000"/>
                </a:solidFill>
                <a:latin typeface="Consolas" panose="020B0609020204030204" pitchFamily="49" charset="0"/>
              </a:rPr>
              <a:t>-- for a comma-separated CSV</a:t>
            </a:r>
            <a:endParaRPr lang="en-US" sz="2100" dirty="0">
              <a:solidFill>
                <a:srgbClr val="000000"/>
              </a:solidFill>
              <a:latin typeface="Consolas" panose="020B0609020204030204" pitchFamily="49" charset="0"/>
            </a:endParaRPr>
          </a:p>
          <a:p>
            <a:pPr marL="0" indent="0">
              <a:buNone/>
            </a:pP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ROWTERMINATOR</a:t>
            </a:r>
            <a:r>
              <a:rPr lang="en-US" sz="2100" dirty="0">
                <a:solidFill>
                  <a:srgbClr val="000000"/>
                </a:solidFill>
                <a:latin typeface="Consolas" panose="020B0609020204030204" pitchFamily="49" charset="0"/>
              </a:rPr>
              <a:t> </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 </a:t>
            </a:r>
            <a:r>
              <a:rPr lang="en-US" sz="2100" dirty="0">
                <a:solidFill>
                  <a:srgbClr val="FF0000"/>
                </a:solidFill>
                <a:latin typeface="Consolas" panose="020B0609020204030204" pitchFamily="49" charset="0"/>
              </a:rPr>
              <a:t>'\n'</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    </a:t>
            </a:r>
            <a:r>
              <a:rPr lang="en-US" sz="2100" dirty="0">
                <a:solidFill>
                  <a:srgbClr val="008000"/>
                </a:solidFill>
                <a:latin typeface="Consolas" panose="020B0609020204030204" pitchFamily="49" charset="0"/>
              </a:rPr>
              <a:t>-- rows end with newline</a:t>
            </a:r>
            <a:endParaRPr lang="en-US" sz="2100" dirty="0">
              <a:solidFill>
                <a:srgbClr val="000000"/>
              </a:solidFill>
              <a:latin typeface="Consolas" panose="020B0609020204030204" pitchFamily="49" charset="0"/>
            </a:endParaRPr>
          </a:p>
          <a:p>
            <a:pPr marL="0" indent="0">
              <a:buNone/>
            </a:pP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FIRSTROW</a:t>
            </a:r>
            <a:r>
              <a:rPr lang="en-US" sz="2100" dirty="0">
                <a:solidFill>
                  <a:srgbClr val="000000"/>
                </a:solidFill>
                <a:latin typeface="Consolas" panose="020B0609020204030204" pitchFamily="49" charset="0"/>
              </a:rPr>
              <a:t> </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 2 </a:t>
            </a:r>
            <a:r>
              <a:rPr lang="en-US" sz="2100" dirty="0">
                <a:solidFill>
                  <a:srgbClr val="808080"/>
                </a:solidFill>
                <a:latin typeface="Consolas" panose="020B0609020204030204" pitchFamily="49" charset="0"/>
              </a:rPr>
              <a:t>,</a:t>
            </a:r>
            <a:r>
              <a:rPr lang="en-US" sz="2100" dirty="0">
                <a:solidFill>
                  <a:srgbClr val="000000"/>
                </a:solidFill>
                <a:latin typeface="Consolas" panose="020B0609020204030204" pitchFamily="49" charset="0"/>
              </a:rPr>
              <a:t>           </a:t>
            </a:r>
            <a:r>
              <a:rPr lang="en-US" sz="2100" dirty="0">
                <a:solidFill>
                  <a:srgbClr val="008000"/>
                </a:solidFill>
                <a:latin typeface="Consolas" panose="020B0609020204030204" pitchFamily="49" charset="0"/>
              </a:rPr>
              <a:t>-- skip header row</a:t>
            </a:r>
            <a:endParaRPr lang="en-US" sz="2100" dirty="0">
              <a:solidFill>
                <a:srgbClr val="000000"/>
              </a:solidFill>
              <a:latin typeface="Consolas" panose="020B0609020204030204" pitchFamily="49" charset="0"/>
            </a:endParaRPr>
          </a:p>
          <a:p>
            <a:pPr marL="0" indent="0">
              <a:buNone/>
            </a:pPr>
            <a:r>
              <a:rPr lang="en-US" sz="2100" b="1" dirty="0">
                <a:solidFill>
                  <a:srgbClr val="0000FF"/>
                </a:solidFill>
                <a:highlight>
                  <a:srgbClr val="C0C0C0"/>
                </a:highlight>
                <a:latin typeface="Consolas" panose="020B0609020204030204" pitchFamily="49" charset="0"/>
              </a:rPr>
              <a:t>TABLOCK</a:t>
            </a:r>
            <a:r>
              <a:rPr lang="en-US" sz="2100" dirty="0">
                <a:solidFill>
                  <a:srgbClr val="000000"/>
                </a:solidFill>
                <a:latin typeface="Consolas" panose="020B0609020204030204" pitchFamily="49" charset="0"/>
              </a:rPr>
              <a:t> </a:t>
            </a:r>
          </a:p>
          <a:p>
            <a:pPr marL="0" indent="0">
              <a:buNone/>
            </a:pPr>
            <a:r>
              <a:rPr lang="en-US" sz="2100" dirty="0">
                <a:solidFill>
                  <a:srgbClr val="808080"/>
                </a:solidFill>
                <a:latin typeface="Consolas" panose="020B0609020204030204" pitchFamily="49" charset="0"/>
              </a:rPr>
              <a:t>);</a:t>
            </a:r>
          </a:p>
          <a:p>
            <a:pPr marL="0" indent="0">
              <a:buNone/>
            </a:pPr>
            <a:endParaRPr lang="en-US" sz="2100" dirty="0">
              <a:solidFill>
                <a:srgbClr val="808080"/>
              </a:solidFill>
              <a:latin typeface="Consolas" panose="020B0609020204030204" pitchFamily="49" charset="0"/>
            </a:endParaRPr>
          </a:p>
          <a:p>
            <a:r>
              <a:rPr lang="en-US" sz="2400" dirty="0">
                <a:solidFill>
                  <a:srgbClr val="161616"/>
                </a:solidFill>
                <a:latin typeface="Segoe UI" panose="020B0502040204020203" pitchFamily="34" charset="0"/>
              </a:rPr>
              <a:t>Runs twice as fast</a:t>
            </a:r>
          </a:p>
          <a:p>
            <a:r>
              <a:rPr lang="en-US" sz="2400" dirty="0">
                <a:solidFill>
                  <a:srgbClr val="161616"/>
                </a:solidFill>
                <a:latin typeface="Segoe UI" panose="020B0502040204020203" pitchFamily="34" charset="0"/>
              </a:rPr>
              <a:t>Takes Bulk Update(BU) lock</a:t>
            </a:r>
          </a:p>
          <a:p>
            <a:r>
              <a:rPr lang="en-US" sz="2400" dirty="0">
                <a:solidFill>
                  <a:srgbClr val="161616"/>
                </a:solidFill>
                <a:latin typeface="Segoe UI" panose="020B0502040204020203" pitchFamily="34" charset="0"/>
              </a:rPr>
              <a:t>Concurrent bulk inserts into the same table is possible</a:t>
            </a:r>
          </a:p>
          <a:p>
            <a:pPr marL="0" indent="0">
              <a:buNone/>
            </a:pPr>
            <a:endParaRPr lang="en-US" sz="2100" dirty="0"/>
          </a:p>
        </p:txBody>
      </p:sp>
    </p:spTree>
    <p:extLst>
      <p:ext uri="{BB962C8B-B14F-4D97-AF65-F5344CB8AC3E}">
        <p14:creationId xmlns:p14="http://schemas.microsoft.com/office/powerpoint/2010/main" val="395299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6197B-B914-DC0F-541D-47F7DFB43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B6ED4-80D6-63CF-6A1E-023B5BEE442A}"/>
              </a:ext>
            </a:extLst>
          </p:cNvPr>
          <p:cNvSpPr>
            <a:spLocks noGrp="1"/>
          </p:cNvSpPr>
          <p:nvPr>
            <p:ph type="title"/>
          </p:nvPr>
        </p:nvSpPr>
        <p:spPr/>
        <p:txBody>
          <a:bodyPr>
            <a:normAutofit/>
          </a:bodyPr>
          <a:lstStyle/>
          <a:p>
            <a:r>
              <a:rPr lang="en-US" sz="4800" b="1" dirty="0">
                <a:solidFill>
                  <a:schemeClr val="accent2">
                    <a:lumMod val="75000"/>
                  </a:schemeClr>
                </a:solidFill>
              </a:rPr>
              <a:t>4.2 Bulk Insert – Native format</a:t>
            </a:r>
          </a:p>
        </p:txBody>
      </p:sp>
      <p:sp>
        <p:nvSpPr>
          <p:cNvPr id="3" name="Content Placeholder 2">
            <a:extLst>
              <a:ext uri="{FF2B5EF4-FFF2-40B4-BE49-F238E27FC236}">
                <a16:creationId xmlns:a16="http://schemas.microsoft.com/office/drawing/2014/main" id="{11FCB898-D65D-16C8-2769-3FCC46DBC45A}"/>
              </a:ext>
            </a:extLst>
          </p:cNvPr>
          <p:cNvSpPr>
            <a:spLocks noGrp="1"/>
          </p:cNvSpPr>
          <p:nvPr>
            <p:ph idx="1"/>
          </p:nvPr>
        </p:nvSpPr>
        <p:spPr/>
        <p:txBody>
          <a:bodyPr>
            <a:normAutofit/>
          </a:bodyPr>
          <a:lstStyle/>
          <a:p>
            <a:pPr marL="0" indent="0">
              <a:buNone/>
            </a:pPr>
            <a:r>
              <a:rPr lang="en-US" sz="1800" dirty="0">
                <a:solidFill>
                  <a:srgbClr val="0000FF"/>
                </a:solidFill>
                <a:latin typeface="Consolas" panose="020B0609020204030204" pitchFamily="49" charset="0"/>
              </a:rPr>
              <a:t>BULK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dbo</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TargetTable</a:t>
            </a:r>
          </a:p>
          <a:p>
            <a:pPr marL="0" indent="0">
              <a:buNone/>
            </a:pP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'C:\Data\SourceFile.</a:t>
            </a:r>
            <a:r>
              <a:rPr lang="en-US" sz="1800" dirty="0">
                <a:solidFill>
                  <a:srgbClr val="FF0000"/>
                </a:solidFill>
                <a:highlight>
                  <a:srgbClr val="C0C0C0"/>
                </a:highlight>
                <a:latin typeface="Consolas" panose="020B0609020204030204" pitchFamily="49" charset="0"/>
              </a:rPr>
              <a:t>dat</a:t>
            </a:r>
            <a:r>
              <a:rPr lang="en-US" sz="1800" dirty="0">
                <a:solidFill>
                  <a:srgbClr val="FF0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WITH </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DATAFILETYPE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highlight>
                  <a:srgbClr val="C0C0C0"/>
                </a:highlight>
                <a:latin typeface="Consolas" panose="020B0609020204030204" pitchFamily="49" charset="0"/>
              </a:rPr>
              <a:t>'native'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TABLOCK</a:t>
            </a:r>
            <a:endParaRPr lang="en-US" sz="1800" dirty="0">
              <a:solidFill>
                <a:srgbClr val="80808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     );</a:t>
            </a:r>
          </a:p>
          <a:p>
            <a:pPr marL="0" indent="0">
              <a:buNone/>
            </a:pPr>
            <a:endParaRPr lang="en-US" sz="1800" dirty="0">
              <a:solidFill>
                <a:srgbClr val="161616"/>
              </a:solidFill>
              <a:latin typeface="Segoe UI" panose="020B0502040204020203" pitchFamily="34" charset="0"/>
            </a:endParaRPr>
          </a:p>
          <a:p>
            <a:r>
              <a:rPr lang="en-US" sz="2000" dirty="0">
                <a:solidFill>
                  <a:srgbClr val="161616"/>
                </a:solidFill>
                <a:latin typeface="Segoe UI" panose="020B0502040204020203" pitchFamily="34" charset="0"/>
              </a:rPr>
              <a:t>Importing a native format file greatly improves insert performance</a:t>
            </a:r>
          </a:p>
          <a:p>
            <a:pPr marL="0" indent="0">
              <a:buNone/>
            </a:pPr>
            <a:endParaRPr lang="en-US" sz="1800" dirty="0">
              <a:solidFill>
                <a:srgbClr val="808080"/>
              </a:solidFill>
              <a:latin typeface="Consolas" panose="020B0609020204030204" pitchFamily="49" charset="0"/>
            </a:endParaRPr>
          </a:p>
        </p:txBody>
      </p:sp>
    </p:spTree>
    <p:extLst>
      <p:ext uri="{BB962C8B-B14F-4D97-AF65-F5344CB8AC3E}">
        <p14:creationId xmlns:p14="http://schemas.microsoft.com/office/powerpoint/2010/main" val="120681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8197-0992-013E-0080-45A21BAD1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947AE-7239-7043-0791-54141AB5793B}"/>
              </a:ext>
            </a:extLst>
          </p:cNvPr>
          <p:cNvSpPr>
            <a:spLocks noGrp="1"/>
          </p:cNvSpPr>
          <p:nvPr>
            <p:ph type="title"/>
          </p:nvPr>
        </p:nvSpPr>
        <p:spPr/>
        <p:txBody>
          <a:bodyPr>
            <a:normAutofit/>
          </a:bodyPr>
          <a:lstStyle/>
          <a:p>
            <a:r>
              <a:rPr lang="en-US" sz="4800" b="1" dirty="0">
                <a:solidFill>
                  <a:schemeClr val="accent2">
                    <a:lumMod val="75000"/>
                  </a:schemeClr>
                </a:solidFill>
              </a:rPr>
              <a:t>4.3 Bulk Insert – Indexed tables</a:t>
            </a:r>
          </a:p>
        </p:txBody>
      </p:sp>
      <p:sp>
        <p:nvSpPr>
          <p:cNvPr id="3" name="Content Placeholder 2">
            <a:extLst>
              <a:ext uri="{FF2B5EF4-FFF2-40B4-BE49-F238E27FC236}">
                <a16:creationId xmlns:a16="http://schemas.microsoft.com/office/drawing/2014/main" id="{A3388BF1-E1DE-0BE1-CCA2-118A64DA4BA4}"/>
              </a:ext>
            </a:extLst>
          </p:cNvPr>
          <p:cNvSpPr>
            <a:spLocks noGrp="1"/>
          </p:cNvSpPr>
          <p:nvPr>
            <p:ph idx="1"/>
          </p:nvPr>
        </p:nvSpPr>
        <p:spPr/>
        <p:txBody>
          <a:bodyPr>
            <a:normAutofit/>
          </a:bodyPr>
          <a:lstStyle/>
          <a:p>
            <a:pPr marL="0" indent="0">
              <a:buNone/>
            </a:pPr>
            <a:r>
              <a:rPr lang="en-US" sz="1800" dirty="0">
                <a:solidFill>
                  <a:srgbClr val="0000FF"/>
                </a:solidFill>
                <a:latin typeface="Consolas" panose="020B0609020204030204" pitchFamily="49" charset="0"/>
              </a:rPr>
              <a:t>BULK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dbo</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TargetTable</a:t>
            </a:r>
          </a:p>
          <a:p>
            <a:pPr marL="0" indent="0">
              <a:buNone/>
            </a:pP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'C:\Data\SourceFile.dat'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WITH </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DATAFILETYPE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'native'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highlight>
                  <a:srgbClr val="C0C0C0"/>
                </a:highlight>
                <a:latin typeface="Consolas" panose="020B0609020204030204" pitchFamily="49" charset="0"/>
              </a:rPr>
              <a:t>ORDER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latin typeface="Consolas" panose="020B0609020204030204" pitchFamily="49" charset="0"/>
              </a:rPr>
              <a:t>Object</a:t>
            </a:r>
            <a:r>
              <a:rPr lang="en-US" sz="1800" dirty="0">
                <a:solidFill>
                  <a:srgbClr val="000000"/>
                </a:solidFill>
                <a:latin typeface="Consolas" panose="020B0609020204030204" pitchFamily="49" charset="0"/>
              </a:rPr>
              <a:t>ID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2400" dirty="0"/>
              <a:t>In this case, source file is ordered by </a:t>
            </a:r>
            <a:r>
              <a:rPr lang="en-US" sz="2400" dirty="0">
                <a:latin typeface="Consolas" panose="020B0609020204030204" pitchFamily="49" charset="0"/>
              </a:rPr>
              <a:t>Object</a:t>
            </a:r>
            <a:r>
              <a:rPr lang="en-US" sz="2400" dirty="0">
                <a:solidFill>
                  <a:srgbClr val="000000"/>
                </a:solidFill>
                <a:latin typeface="Consolas" panose="020B0609020204030204" pitchFamily="49" charset="0"/>
              </a:rPr>
              <a:t>ID</a:t>
            </a:r>
            <a:r>
              <a:rPr lang="en-US" sz="2400" dirty="0"/>
              <a:t> in ascending order</a:t>
            </a:r>
          </a:p>
          <a:p>
            <a:r>
              <a:rPr lang="en-US" sz="2400" dirty="0"/>
              <a:t>Target table has clustered index on </a:t>
            </a:r>
            <a:r>
              <a:rPr lang="en-US" sz="2400" dirty="0">
                <a:latin typeface="Consolas" panose="020B0609020204030204" pitchFamily="49" charset="0"/>
              </a:rPr>
              <a:t>Object</a:t>
            </a:r>
            <a:r>
              <a:rPr lang="en-US" sz="2400" dirty="0">
                <a:solidFill>
                  <a:srgbClr val="000000"/>
                </a:solidFill>
                <a:latin typeface="Consolas" panose="020B0609020204030204" pitchFamily="49" charset="0"/>
              </a:rPr>
              <a:t>ID</a:t>
            </a:r>
          </a:p>
          <a:p>
            <a:r>
              <a:rPr lang="en-US" sz="2400" dirty="0"/>
              <a:t>Use order clause to speed up insert performance </a:t>
            </a:r>
          </a:p>
          <a:p>
            <a:r>
              <a:rPr lang="en-US" sz="2400" dirty="0"/>
              <a:t>Sorting overhead is reduced</a:t>
            </a:r>
          </a:p>
        </p:txBody>
      </p:sp>
    </p:spTree>
    <p:extLst>
      <p:ext uri="{BB962C8B-B14F-4D97-AF65-F5344CB8AC3E}">
        <p14:creationId xmlns:p14="http://schemas.microsoft.com/office/powerpoint/2010/main" val="980440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FFE21-5A56-672D-0288-3F09D25D4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C0FAC-2B1F-1F00-0950-49BF77D8E184}"/>
              </a:ext>
            </a:extLst>
          </p:cNvPr>
          <p:cNvSpPr>
            <a:spLocks noGrp="1"/>
          </p:cNvSpPr>
          <p:nvPr>
            <p:ph type="title"/>
          </p:nvPr>
        </p:nvSpPr>
        <p:spPr/>
        <p:txBody>
          <a:bodyPr>
            <a:normAutofit/>
          </a:bodyPr>
          <a:lstStyle/>
          <a:p>
            <a:r>
              <a:rPr lang="en-US" sz="4800" b="1" dirty="0">
                <a:solidFill>
                  <a:schemeClr val="accent2">
                    <a:lumMod val="75000"/>
                  </a:schemeClr>
                </a:solidFill>
              </a:rPr>
              <a:t>Recap- Bulk Insert</a:t>
            </a:r>
          </a:p>
        </p:txBody>
      </p:sp>
      <p:sp>
        <p:nvSpPr>
          <p:cNvPr id="3" name="Content Placeholder 2">
            <a:extLst>
              <a:ext uri="{FF2B5EF4-FFF2-40B4-BE49-F238E27FC236}">
                <a16:creationId xmlns:a16="http://schemas.microsoft.com/office/drawing/2014/main" id="{6B25341C-7970-E625-697E-2823E68FA2FA}"/>
              </a:ext>
            </a:extLst>
          </p:cNvPr>
          <p:cNvSpPr>
            <a:spLocks noGrp="1"/>
          </p:cNvSpPr>
          <p:nvPr>
            <p:ph idx="1"/>
          </p:nvPr>
        </p:nvSpPr>
        <p:spPr/>
        <p:txBody>
          <a:bodyPr>
            <a:normAutofit/>
          </a:bodyPr>
          <a:lstStyle/>
          <a:p>
            <a:r>
              <a:rPr lang="en-US" sz="2400" dirty="0">
                <a:latin typeface="Segoe UI" panose="020B0502040204020203" pitchFamily="34" charset="0"/>
                <a:cs typeface="Segoe UI" panose="020B0502040204020203" pitchFamily="34" charset="0"/>
              </a:rPr>
              <a:t>Only imports, no exports</a:t>
            </a:r>
          </a:p>
          <a:p>
            <a:r>
              <a:rPr lang="en-US" sz="2400" dirty="0">
                <a:latin typeface="Segoe UI" panose="020B0502040204020203" pitchFamily="34" charset="0"/>
                <a:cs typeface="Segoe UI" panose="020B0502040204020203" pitchFamily="34" charset="0"/>
              </a:rPr>
              <a:t>Import from csv or dat or txt files</a:t>
            </a:r>
          </a:p>
          <a:p>
            <a:r>
              <a:rPr lang="en-US" sz="2400" dirty="0">
                <a:latin typeface="Segoe UI" panose="020B0502040204020203" pitchFamily="34" charset="0"/>
                <a:cs typeface="Segoe UI" panose="020B0502040204020203" pitchFamily="34" charset="0"/>
              </a:rPr>
              <a:t>For faster performance:</a:t>
            </a:r>
          </a:p>
          <a:p>
            <a:pPr lvl="1"/>
            <a:r>
              <a:rPr lang="en-US" dirty="0">
                <a:latin typeface="Segoe UI" panose="020B0502040204020203" pitchFamily="34" charset="0"/>
                <a:cs typeface="Segoe UI" panose="020B0502040204020203" pitchFamily="34" charset="0"/>
              </a:rPr>
              <a:t>Use native format as source file</a:t>
            </a:r>
          </a:p>
          <a:p>
            <a:pPr lvl="1"/>
            <a:r>
              <a:rPr lang="en-US" dirty="0">
                <a:latin typeface="Segoe UI" panose="020B0502040204020203" pitchFamily="34" charset="0"/>
                <a:cs typeface="Segoe UI" panose="020B0502040204020203" pitchFamily="34" charset="0"/>
              </a:rPr>
              <a:t>Use ORDER clause for indexed tables if source file is sorted</a:t>
            </a:r>
          </a:p>
          <a:p>
            <a:pPr lvl="2"/>
            <a:r>
              <a:rPr lang="en-US" dirty="0">
                <a:latin typeface="Segoe UI" panose="020B0502040204020203" pitchFamily="34" charset="0"/>
                <a:cs typeface="Segoe UI" panose="020B0502040204020203" pitchFamily="34" charset="0"/>
              </a:rPr>
              <a:t>Concurrent bulk inserts are possible </a:t>
            </a:r>
          </a:p>
          <a:p>
            <a:pPr lvl="2"/>
            <a:r>
              <a:rPr lang="en-US" dirty="0">
                <a:latin typeface="Segoe UI" panose="020B0502040204020203" pitchFamily="34" charset="0"/>
                <a:cs typeface="Segoe UI" panose="020B0502040204020203" pitchFamily="34" charset="0"/>
              </a:rPr>
              <a:t>Have non-overlapping ranges in key column of input data</a:t>
            </a:r>
          </a:p>
          <a:p>
            <a:pPr lvl="1"/>
            <a:r>
              <a:rPr lang="en-US" dirty="0">
                <a:latin typeface="Segoe UI" panose="020B0502040204020203" pitchFamily="34" charset="0"/>
                <a:cs typeface="Segoe UI" panose="020B0502040204020203" pitchFamily="34" charset="0"/>
              </a:rPr>
              <a:t>Use TABLOCK for heap tables</a:t>
            </a:r>
          </a:p>
          <a:p>
            <a:pPr lvl="2"/>
            <a:r>
              <a:rPr lang="en-US" dirty="0">
                <a:latin typeface="Segoe UI" panose="020B0502040204020203" pitchFamily="34" charset="0"/>
                <a:cs typeface="Segoe UI" panose="020B0502040204020203" pitchFamily="34" charset="0"/>
              </a:rPr>
              <a:t>Concurrent bulk inserts are possible </a:t>
            </a:r>
          </a:p>
          <a:p>
            <a:pPr lvl="2"/>
            <a:r>
              <a:rPr lang="en-US" dirty="0">
                <a:latin typeface="Segoe UI" panose="020B0502040204020203" pitchFamily="34" charset="0"/>
                <a:cs typeface="Segoe UI" panose="020B0502040204020203" pitchFamily="34" charset="0"/>
              </a:rPr>
              <a:t>Holds BU locks which are compatible with other BU locks</a:t>
            </a: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8429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DDB28-485F-E9C5-CCB5-F8796520B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0224C-E65D-778E-D88D-00DBCC120CBD}"/>
              </a:ext>
            </a:extLst>
          </p:cNvPr>
          <p:cNvSpPr>
            <a:spLocks noGrp="1"/>
          </p:cNvSpPr>
          <p:nvPr>
            <p:ph type="title"/>
          </p:nvPr>
        </p:nvSpPr>
        <p:spPr/>
        <p:txBody>
          <a:bodyPr>
            <a:normAutofit/>
          </a:bodyPr>
          <a:lstStyle/>
          <a:p>
            <a:r>
              <a:rPr lang="en-US" sz="4800" b="1" dirty="0">
                <a:solidFill>
                  <a:schemeClr val="accent2">
                    <a:lumMod val="75000"/>
                  </a:schemeClr>
                </a:solidFill>
              </a:rPr>
              <a:t>Quick Note - Insert Bulk</a:t>
            </a:r>
          </a:p>
        </p:txBody>
      </p:sp>
      <p:sp>
        <p:nvSpPr>
          <p:cNvPr id="3" name="Content Placeholder 2">
            <a:extLst>
              <a:ext uri="{FF2B5EF4-FFF2-40B4-BE49-F238E27FC236}">
                <a16:creationId xmlns:a16="http://schemas.microsoft.com/office/drawing/2014/main" id="{A64579D4-DE3C-E922-DC69-325767716296}"/>
              </a:ext>
            </a:extLst>
          </p:cNvPr>
          <p:cNvSpPr>
            <a:spLocks noGrp="1"/>
          </p:cNvSpPr>
          <p:nvPr>
            <p:ph idx="1"/>
          </p:nvPr>
        </p:nvSpPr>
        <p:spPr/>
        <p:txBody>
          <a:bodyPr>
            <a:normAutofit lnSpcReduction="10000"/>
          </a:bodyPr>
          <a:lstStyle/>
          <a:p>
            <a:pPr marL="0" indent="0">
              <a:buNone/>
            </a:pPr>
            <a:r>
              <a:rPr lang="en-US" sz="2400" dirty="0">
                <a:solidFill>
                  <a:srgbClr val="0000FF"/>
                </a:solidFill>
                <a:latin typeface="Consolas" panose="020B0609020204030204" pitchFamily="49" charset="0"/>
              </a:rPr>
              <a:t>INSERT</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BULK</a:t>
            </a:r>
            <a:r>
              <a:rPr lang="en-US" sz="2400" dirty="0">
                <a:solidFill>
                  <a:srgbClr val="000000"/>
                </a:solidFill>
                <a:latin typeface="Consolas" panose="020B0609020204030204" pitchFamily="49" charset="0"/>
              </a:rPr>
              <a:t> dbo</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MyTable</a:t>
            </a:r>
            <a:r>
              <a:rPr lang="en-US" sz="2400" dirty="0">
                <a:solidFill>
                  <a:srgbClr val="0000FF"/>
                </a:solidFill>
                <a:latin typeface="Consolas" panose="020B0609020204030204" pitchFamily="49" charset="0"/>
              </a:rPr>
              <a:t> </a:t>
            </a:r>
            <a:r>
              <a:rPr lang="en-US" sz="2400" dirty="0">
                <a:solidFill>
                  <a:srgbClr val="80808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buNone/>
            </a:pPr>
            <a:r>
              <a:rPr lang="en-US" sz="2400" dirty="0">
                <a:solidFill>
                  <a:srgbClr val="000000"/>
                </a:solidFill>
                <a:latin typeface="Consolas" panose="020B0609020204030204" pitchFamily="49" charset="0"/>
              </a:rPr>
              <a:t>    ID </a:t>
            </a:r>
            <a:r>
              <a:rPr lang="en-US" sz="2400" dirty="0">
                <a:solidFill>
                  <a:srgbClr val="0000FF"/>
                </a:solidFill>
                <a:latin typeface="Consolas" panose="020B0609020204030204" pitchFamily="49" charset="0"/>
              </a:rPr>
              <a:t>int</a:t>
            </a:r>
            <a:r>
              <a:rPr lang="en-US" sz="2400" dirty="0">
                <a:solidFill>
                  <a:srgbClr val="80808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buNone/>
            </a:pP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Name</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nvarchar</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100</a:t>
            </a:r>
            <a:r>
              <a:rPr lang="en-US" sz="2400" dirty="0">
                <a:solidFill>
                  <a:srgbClr val="80808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buNone/>
            </a:pPr>
            <a:r>
              <a:rPr lang="en-US" sz="2400" dirty="0">
                <a:solidFill>
                  <a:srgbClr val="000000"/>
                </a:solidFill>
                <a:latin typeface="Consolas" panose="020B0609020204030204" pitchFamily="49" charset="0"/>
              </a:rPr>
              <a:t>    Salary </a:t>
            </a:r>
            <a:r>
              <a:rPr lang="en-US" sz="2400" dirty="0">
                <a:solidFill>
                  <a:srgbClr val="0000FF"/>
                </a:solidFill>
                <a:latin typeface="Consolas" panose="020B0609020204030204" pitchFamily="49" charset="0"/>
              </a:rPr>
              <a:t>float</a:t>
            </a:r>
            <a:endParaRPr lang="en-US" sz="2400" dirty="0">
              <a:solidFill>
                <a:srgbClr val="000000"/>
              </a:solidFill>
              <a:latin typeface="Consolas" panose="020B0609020204030204" pitchFamily="49" charset="0"/>
            </a:endParaRPr>
          </a:p>
          <a:p>
            <a:pPr marL="0" indent="0">
              <a:buNone/>
            </a:pPr>
            <a:r>
              <a:rPr lang="en-US" sz="2400" dirty="0">
                <a:solidFill>
                  <a:srgbClr val="80808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buNone/>
            </a:pPr>
            <a:endParaRPr lang="en-US" sz="2400" dirty="0">
              <a:solidFill>
                <a:srgbClr val="161616"/>
              </a:solidFill>
              <a:latin typeface="Segoe UI" panose="020B0502040204020203" pitchFamily="34" charset="0"/>
            </a:endParaRPr>
          </a:p>
          <a:p>
            <a:r>
              <a:rPr lang="en-US" sz="2400" dirty="0">
                <a:solidFill>
                  <a:srgbClr val="161616"/>
                </a:solidFill>
                <a:latin typeface="Segoe UI" panose="020B0502040204020203" pitchFamily="34" charset="0"/>
              </a:rPr>
              <a:t>This is not the same syntax as ‘Bulk Insert’</a:t>
            </a:r>
          </a:p>
          <a:p>
            <a:r>
              <a:rPr lang="en-US" sz="2400" dirty="0">
                <a:solidFill>
                  <a:srgbClr val="161616"/>
                </a:solidFill>
                <a:latin typeface="Segoe UI" panose="020B0502040204020203" pitchFamily="34" charset="0"/>
              </a:rPr>
              <a:t>Insert Bulk - Internal syntax used by ‘data move’ software or monitoring software </a:t>
            </a:r>
          </a:p>
          <a:p>
            <a:r>
              <a:rPr lang="en-US" sz="2400" dirty="0">
                <a:solidFill>
                  <a:srgbClr val="161616"/>
                </a:solidFill>
                <a:latin typeface="Segoe UI" panose="020B0502040204020203" pitchFamily="34" charset="0"/>
              </a:rPr>
              <a:t>Not written for manual operations</a:t>
            </a:r>
          </a:p>
          <a:p>
            <a:pPr marL="457200" lvl="1" indent="0">
              <a:buNone/>
            </a:pPr>
            <a:endParaRPr lang="en-US" dirty="0"/>
          </a:p>
        </p:txBody>
      </p:sp>
    </p:spTree>
    <p:extLst>
      <p:ext uri="{BB962C8B-B14F-4D97-AF65-F5344CB8AC3E}">
        <p14:creationId xmlns:p14="http://schemas.microsoft.com/office/powerpoint/2010/main" val="88374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2B151-2929-6B39-E6C3-80FAC0195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42C67-D7D6-C41F-0FA4-71EC82D4CA58}"/>
              </a:ext>
            </a:extLst>
          </p:cNvPr>
          <p:cNvSpPr>
            <a:spLocks noGrp="1"/>
          </p:cNvSpPr>
          <p:nvPr>
            <p:ph type="title"/>
          </p:nvPr>
        </p:nvSpPr>
        <p:spPr/>
        <p:txBody>
          <a:bodyPr/>
          <a:lstStyle/>
          <a:p>
            <a:r>
              <a:rPr lang="en-US" sz="4800" b="1" dirty="0">
                <a:solidFill>
                  <a:schemeClr val="accent2">
                    <a:lumMod val="75000"/>
                  </a:schemeClr>
                </a:solidFill>
              </a:rPr>
              <a:t>5. bcp	</a:t>
            </a:r>
          </a:p>
        </p:txBody>
      </p:sp>
      <p:sp>
        <p:nvSpPr>
          <p:cNvPr id="3" name="Content Placeholder 2">
            <a:extLst>
              <a:ext uri="{FF2B5EF4-FFF2-40B4-BE49-F238E27FC236}">
                <a16:creationId xmlns:a16="http://schemas.microsoft.com/office/drawing/2014/main" id="{EA48BA4C-9CFC-D1C2-B2FA-9327A1FECBA6}"/>
              </a:ext>
            </a:extLst>
          </p:cNvPr>
          <p:cNvSpPr>
            <a:spLocks noGrp="1"/>
          </p:cNvSpPr>
          <p:nvPr>
            <p:ph idx="1"/>
          </p:nvPr>
        </p:nvSpPr>
        <p:spPr>
          <a:xfrm>
            <a:off x="838200" y="1825625"/>
            <a:ext cx="11117826" cy="4351338"/>
          </a:xfrm>
        </p:spPr>
        <p:txBody>
          <a:bodyPr>
            <a:normAutofit/>
          </a:bodyPr>
          <a:lstStyle/>
          <a:p>
            <a:pPr marL="0" indent="0">
              <a:buNone/>
            </a:pPr>
            <a:r>
              <a:rPr lang="en-US" sz="2000" dirty="0">
                <a:solidFill>
                  <a:schemeClr val="tx2">
                    <a:lumMod val="75000"/>
                    <a:lumOff val="25000"/>
                  </a:schemeClr>
                </a:solidFill>
                <a:latin typeface="Consolas" panose="020B0609020204030204" pitchFamily="49" charset="0"/>
              </a:rPr>
              <a:t>bcp </a:t>
            </a:r>
            <a:r>
              <a:rPr lang="en-US" sz="2000" dirty="0">
                <a:solidFill>
                  <a:schemeClr val="accent2">
                    <a:lumMod val="75000"/>
                  </a:schemeClr>
                </a:solidFill>
                <a:latin typeface="Consolas" panose="020B0609020204030204" pitchFamily="49" charset="0"/>
              </a:rPr>
              <a:t>DBATest.dbo.TargetTable1 </a:t>
            </a:r>
            <a:r>
              <a:rPr lang="en-US" sz="2000" dirty="0">
                <a:solidFill>
                  <a:schemeClr val="tx2">
                    <a:lumMod val="75000"/>
                    <a:lumOff val="25000"/>
                  </a:schemeClr>
                </a:solidFill>
                <a:latin typeface="Consolas" panose="020B0609020204030204" pitchFamily="49" charset="0"/>
              </a:rPr>
              <a:t>out "</a:t>
            </a:r>
            <a:r>
              <a:rPr lang="en-US" sz="2000" dirty="0">
                <a:solidFill>
                  <a:schemeClr val="accent2">
                    <a:lumMod val="75000"/>
                  </a:schemeClr>
                </a:solidFill>
                <a:latin typeface="Consolas" panose="020B0609020204030204" pitchFamily="49" charset="0"/>
              </a:rPr>
              <a:t>C:\Data\SourceTable.dat</a:t>
            </a:r>
            <a:r>
              <a:rPr lang="en-US" sz="2000" dirty="0">
                <a:solidFill>
                  <a:schemeClr val="tx2">
                    <a:lumMod val="75000"/>
                    <a:lumOff val="25000"/>
                  </a:schemeClr>
                </a:solidFill>
                <a:latin typeface="Consolas" panose="020B0609020204030204" pitchFamily="49" charset="0"/>
              </a:rPr>
              <a:t>" -n -S .\SQL2022 –T</a:t>
            </a:r>
          </a:p>
          <a:p>
            <a:pPr marL="0" indent="0">
              <a:buNone/>
            </a:pPr>
            <a:endParaRPr lang="en-US" dirty="0">
              <a:solidFill>
                <a:srgbClr val="161616"/>
              </a:solidFill>
              <a:latin typeface="Segoe UI" panose="020B0502040204020203" pitchFamily="34" charset="0"/>
            </a:endParaRPr>
          </a:p>
          <a:p>
            <a:r>
              <a:rPr lang="en-US" dirty="0">
                <a:solidFill>
                  <a:srgbClr val="161616"/>
                </a:solidFill>
                <a:latin typeface="Segoe UI" panose="020B0502040204020203" pitchFamily="34" charset="0"/>
              </a:rPr>
              <a:t>Command-line tool </a:t>
            </a:r>
          </a:p>
          <a:p>
            <a:r>
              <a:rPr lang="en-US" dirty="0">
                <a:solidFill>
                  <a:srgbClr val="161616"/>
                </a:solidFill>
                <a:latin typeface="Segoe UI" panose="020B0502040204020203" pitchFamily="34" charset="0"/>
              </a:rPr>
              <a:t>Export to file from SQL server table and vice versa</a:t>
            </a:r>
          </a:p>
          <a:p>
            <a:r>
              <a:rPr lang="en-US" dirty="0">
                <a:solidFill>
                  <a:srgbClr val="161616"/>
                </a:solidFill>
                <a:latin typeface="Segoe UI" panose="020B0502040204020203" pitchFamily="34" charset="0"/>
              </a:rPr>
              <a:t>Import into SQL Server table from file and vice versa</a:t>
            </a:r>
          </a:p>
          <a:p>
            <a:r>
              <a:rPr lang="en-US" dirty="0">
                <a:solidFill>
                  <a:srgbClr val="161616"/>
                </a:solidFill>
                <a:latin typeface="Segoe UI" panose="020B0502040204020203" pitchFamily="34" charset="0"/>
              </a:rPr>
              <a:t>The tool is built using the bulk API </a:t>
            </a:r>
          </a:p>
        </p:txBody>
      </p:sp>
    </p:spTree>
    <p:extLst>
      <p:ext uri="{BB962C8B-B14F-4D97-AF65-F5344CB8AC3E}">
        <p14:creationId xmlns:p14="http://schemas.microsoft.com/office/powerpoint/2010/main" val="161079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2A8B7-53D6-26D6-4D85-210C289BA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1F569-8C89-28CB-2DE1-942D9ADA82D9}"/>
              </a:ext>
            </a:extLst>
          </p:cNvPr>
          <p:cNvSpPr>
            <a:spLocks noGrp="1"/>
          </p:cNvSpPr>
          <p:nvPr>
            <p:ph type="title"/>
          </p:nvPr>
        </p:nvSpPr>
        <p:spPr/>
        <p:txBody>
          <a:bodyPr/>
          <a:lstStyle/>
          <a:p>
            <a:r>
              <a:rPr lang="en-US" sz="4800" b="1" dirty="0">
                <a:solidFill>
                  <a:schemeClr val="accent2">
                    <a:lumMod val="75000"/>
                  </a:schemeClr>
                </a:solidFill>
              </a:rPr>
              <a:t>5.1 bcp – Native Format</a:t>
            </a:r>
          </a:p>
        </p:txBody>
      </p:sp>
      <p:sp>
        <p:nvSpPr>
          <p:cNvPr id="3" name="Content Placeholder 2">
            <a:extLst>
              <a:ext uri="{FF2B5EF4-FFF2-40B4-BE49-F238E27FC236}">
                <a16:creationId xmlns:a16="http://schemas.microsoft.com/office/drawing/2014/main" id="{C3406AAF-DA72-2985-25EF-177F892334CD}"/>
              </a:ext>
            </a:extLst>
          </p:cNvPr>
          <p:cNvSpPr>
            <a:spLocks noGrp="1"/>
          </p:cNvSpPr>
          <p:nvPr>
            <p:ph idx="1"/>
          </p:nvPr>
        </p:nvSpPr>
        <p:spPr>
          <a:xfrm>
            <a:off x="838200" y="1825625"/>
            <a:ext cx="11117826" cy="4351338"/>
          </a:xfrm>
        </p:spPr>
        <p:txBody>
          <a:bodyPr>
            <a:normAutofit/>
          </a:bodyPr>
          <a:lstStyle/>
          <a:p>
            <a:pPr marL="0" indent="0">
              <a:buNone/>
            </a:pPr>
            <a:r>
              <a:rPr lang="en-US" sz="2000" dirty="0">
                <a:solidFill>
                  <a:schemeClr val="tx2">
                    <a:lumMod val="75000"/>
                    <a:lumOff val="25000"/>
                  </a:schemeClr>
                </a:solidFill>
                <a:latin typeface="Consolas" panose="020B0609020204030204" pitchFamily="49" charset="0"/>
              </a:rPr>
              <a:t>bcp </a:t>
            </a:r>
            <a:r>
              <a:rPr lang="en-US" sz="2000" dirty="0">
                <a:solidFill>
                  <a:schemeClr val="accent2">
                    <a:lumMod val="75000"/>
                  </a:schemeClr>
                </a:solidFill>
                <a:latin typeface="Consolas" panose="020B0609020204030204" pitchFamily="49" charset="0"/>
              </a:rPr>
              <a:t>DBATest.dbo.TargetTable1 </a:t>
            </a:r>
            <a:r>
              <a:rPr lang="en-US" sz="2000" dirty="0">
                <a:solidFill>
                  <a:schemeClr val="tx2">
                    <a:lumMod val="75000"/>
                    <a:lumOff val="25000"/>
                  </a:schemeClr>
                </a:solidFill>
                <a:latin typeface="Consolas" panose="020B0609020204030204" pitchFamily="49" charset="0"/>
              </a:rPr>
              <a:t>out "</a:t>
            </a:r>
            <a:r>
              <a:rPr lang="en-US" sz="2000" dirty="0">
                <a:solidFill>
                  <a:schemeClr val="accent2">
                    <a:lumMod val="75000"/>
                  </a:schemeClr>
                </a:solidFill>
                <a:latin typeface="Consolas" panose="020B0609020204030204" pitchFamily="49" charset="0"/>
              </a:rPr>
              <a:t>C:\Data\SourceTable.</a:t>
            </a:r>
            <a:r>
              <a:rPr lang="en-US" sz="2000" b="1" dirty="0">
                <a:solidFill>
                  <a:schemeClr val="accent2">
                    <a:lumMod val="75000"/>
                  </a:schemeClr>
                </a:solidFill>
                <a:highlight>
                  <a:srgbClr val="C0C0C0"/>
                </a:highlight>
                <a:latin typeface="Consolas" panose="020B0609020204030204" pitchFamily="49" charset="0"/>
              </a:rPr>
              <a:t>dat</a:t>
            </a:r>
            <a:r>
              <a:rPr lang="en-US" sz="2000" dirty="0">
                <a:solidFill>
                  <a:schemeClr val="tx2">
                    <a:lumMod val="75000"/>
                    <a:lumOff val="25000"/>
                  </a:schemeClr>
                </a:solidFill>
                <a:latin typeface="Consolas" panose="020B0609020204030204" pitchFamily="49" charset="0"/>
              </a:rPr>
              <a:t>" </a:t>
            </a:r>
            <a:r>
              <a:rPr lang="en-US" sz="2000" b="1" dirty="0">
                <a:solidFill>
                  <a:schemeClr val="tx2">
                    <a:lumMod val="75000"/>
                    <a:lumOff val="25000"/>
                  </a:schemeClr>
                </a:solidFill>
                <a:highlight>
                  <a:srgbClr val="C0C0C0"/>
                </a:highlight>
                <a:latin typeface="Consolas" panose="020B0609020204030204" pitchFamily="49" charset="0"/>
              </a:rPr>
              <a:t>-n</a:t>
            </a:r>
            <a:r>
              <a:rPr lang="en-US" sz="2000" dirty="0">
                <a:solidFill>
                  <a:schemeClr val="tx2">
                    <a:lumMod val="75000"/>
                    <a:lumOff val="25000"/>
                  </a:schemeClr>
                </a:solidFill>
                <a:latin typeface="Consolas" panose="020B0609020204030204" pitchFamily="49" charset="0"/>
              </a:rPr>
              <a:t> -S .\SQL2022 –T</a:t>
            </a:r>
          </a:p>
          <a:p>
            <a:pPr marL="0" indent="0">
              <a:buNone/>
            </a:pPr>
            <a:endParaRPr lang="en-US" sz="2400" dirty="0">
              <a:solidFill>
                <a:schemeClr val="tx2">
                  <a:lumMod val="75000"/>
                  <a:lumOff val="25000"/>
                </a:schemeClr>
              </a:solidFill>
            </a:endParaRPr>
          </a:p>
          <a:p>
            <a:r>
              <a:rPr lang="en-US" dirty="0">
                <a:solidFill>
                  <a:srgbClr val="161616"/>
                </a:solidFill>
                <a:latin typeface="Segoe UI" panose="020B0502040204020203" pitchFamily="34" charset="0"/>
              </a:rPr>
              <a:t>Use native format to export, so the import next time can be faster</a:t>
            </a:r>
          </a:p>
          <a:p>
            <a:r>
              <a:rPr lang="en-US" dirty="0">
                <a:solidFill>
                  <a:srgbClr val="161616"/>
                </a:solidFill>
                <a:latin typeface="Segoe UI" panose="020B0502040204020203" pitchFamily="34" charset="0"/>
              </a:rPr>
              <a:t>This writes a binary native format .dat file to disk</a:t>
            </a:r>
          </a:p>
          <a:p>
            <a:r>
              <a:rPr lang="en-US" dirty="0">
                <a:solidFill>
                  <a:srgbClr val="161616"/>
                </a:solidFill>
                <a:latin typeface="Segoe UI" panose="020B0502040204020203" pitchFamily="34" charset="0"/>
              </a:rPr>
              <a:t>Faster ‘bulk insert’ with .dat file</a:t>
            </a:r>
          </a:p>
        </p:txBody>
      </p:sp>
    </p:spTree>
    <p:extLst>
      <p:ext uri="{BB962C8B-B14F-4D97-AF65-F5344CB8AC3E}">
        <p14:creationId xmlns:p14="http://schemas.microsoft.com/office/powerpoint/2010/main" val="3968928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D7AF-5B66-1A97-BB36-FBB9DE5D2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3A879-A9DD-B774-9F1A-16F6476092AF}"/>
              </a:ext>
            </a:extLst>
          </p:cNvPr>
          <p:cNvSpPr>
            <a:spLocks noGrp="1"/>
          </p:cNvSpPr>
          <p:nvPr>
            <p:ph type="title"/>
          </p:nvPr>
        </p:nvSpPr>
        <p:spPr/>
        <p:txBody>
          <a:bodyPr/>
          <a:lstStyle/>
          <a:p>
            <a:r>
              <a:rPr lang="en-US" sz="4800" b="1" dirty="0">
                <a:solidFill>
                  <a:schemeClr val="accent2">
                    <a:lumMod val="75000"/>
                  </a:schemeClr>
                </a:solidFill>
              </a:rPr>
              <a:t>5.2 bcp – Order to Export</a:t>
            </a:r>
          </a:p>
        </p:txBody>
      </p:sp>
      <p:sp>
        <p:nvSpPr>
          <p:cNvPr id="3" name="Content Placeholder 2">
            <a:extLst>
              <a:ext uri="{FF2B5EF4-FFF2-40B4-BE49-F238E27FC236}">
                <a16:creationId xmlns:a16="http://schemas.microsoft.com/office/drawing/2014/main" id="{38591AB3-553D-E4D1-C55F-4D48385F833D}"/>
              </a:ext>
            </a:extLst>
          </p:cNvPr>
          <p:cNvSpPr>
            <a:spLocks noGrp="1"/>
          </p:cNvSpPr>
          <p:nvPr>
            <p:ph idx="1"/>
          </p:nvPr>
        </p:nvSpPr>
        <p:spPr/>
        <p:txBody>
          <a:bodyPr>
            <a:normAutofit/>
          </a:bodyPr>
          <a:lstStyle/>
          <a:p>
            <a:pPr marL="0" indent="0">
              <a:buNone/>
            </a:pPr>
            <a:r>
              <a:rPr lang="en-US" sz="2000" b="0" i="0" dirty="0">
                <a:solidFill>
                  <a:schemeClr val="tx2">
                    <a:lumMod val="75000"/>
                    <a:lumOff val="25000"/>
                  </a:schemeClr>
                </a:solidFill>
                <a:effectLst/>
                <a:latin typeface="Consolas" panose="020B0609020204030204" pitchFamily="49" charset="0"/>
              </a:rPr>
              <a:t>bcp</a:t>
            </a:r>
            <a:r>
              <a:rPr lang="en-US" sz="2000" b="0" i="0" dirty="0">
                <a:solidFill>
                  <a:srgbClr val="161616"/>
                </a:solidFill>
                <a:effectLst/>
                <a:latin typeface="Consolas" panose="020B0609020204030204" pitchFamily="49" charset="0"/>
              </a:rPr>
              <a:t> </a:t>
            </a:r>
            <a:r>
              <a:rPr lang="en-US" sz="2000" dirty="0">
                <a:solidFill>
                  <a:schemeClr val="accent2">
                    <a:lumMod val="75000"/>
                  </a:schemeClr>
                </a:solidFill>
                <a:latin typeface="Consolas" panose="020B0609020204030204" pitchFamily="49" charset="0"/>
              </a:rPr>
              <a:t>“DBATest.dbo.TestTable” </a:t>
            </a:r>
            <a:r>
              <a:rPr lang="en-US" sz="2000" b="0" i="0" dirty="0">
                <a:solidFill>
                  <a:schemeClr val="tx2">
                    <a:lumMod val="75000"/>
                    <a:lumOff val="25000"/>
                  </a:schemeClr>
                </a:solidFill>
                <a:effectLst/>
                <a:latin typeface="Consolas" panose="020B0609020204030204" pitchFamily="49" charset="0"/>
              </a:rPr>
              <a:t>out</a:t>
            </a:r>
            <a:r>
              <a:rPr lang="en-US" sz="2000" b="0" i="0" dirty="0">
                <a:solidFill>
                  <a:srgbClr val="161616"/>
                </a:solidFill>
                <a:effectLst/>
                <a:latin typeface="Consolas" panose="020B0609020204030204" pitchFamily="49" charset="0"/>
              </a:rPr>
              <a:t> </a:t>
            </a:r>
            <a:r>
              <a:rPr lang="en-US" sz="2000" dirty="0">
                <a:solidFill>
                  <a:schemeClr val="accent2">
                    <a:lumMod val="75000"/>
                  </a:schemeClr>
                </a:solidFill>
                <a:latin typeface="Consolas" panose="020B0609020204030204" pitchFamily="49" charset="0"/>
              </a:rPr>
              <a:t>“</a:t>
            </a:r>
            <a:r>
              <a:rPr lang="en-US" sz="2000" b="0" i="0" dirty="0">
                <a:solidFill>
                  <a:schemeClr val="accent2">
                    <a:lumMod val="75000"/>
                  </a:schemeClr>
                </a:solidFill>
                <a:effectLst/>
                <a:latin typeface="Consolas" panose="020B0609020204030204" pitchFamily="49" charset="0"/>
              </a:rPr>
              <a:t>C:\Data\Employees.dat” </a:t>
            </a:r>
            <a:r>
              <a:rPr lang="en-US" sz="2000" b="0" i="0" dirty="0">
                <a:solidFill>
                  <a:schemeClr val="tx2">
                    <a:lumMod val="75000"/>
                    <a:lumOff val="25000"/>
                  </a:schemeClr>
                </a:solidFill>
                <a:effectLst/>
                <a:latin typeface="Consolas" panose="020B0609020204030204" pitchFamily="49" charset="0"/>
              </a:rPr>
              <a:t>-n</a:t>
            </a:r>
            <a:r>
              <a:rPr lang="en-US" sz="2000" b="0" i="0" dirty="0">
                <a:solidFill>
                  <a:schemeClr val="accent2">
                    <a:lumMod val="75000"/>
                  </a:schemeClr>
                </a:solidFill>
                <a:effectLst/>
                <a:latin typeface="Consolas" panose="020B0609020204030204" pitchFamily="49" charset="0"/>
              </a:rPr>
              <a:t> </a:t>
            </a:r>
            <a:r>
              <a:rPr lang="en-US" sz="2000" b="0" i="0" dirty="0">
                <a:solidFill>
                  <a:schemeClr val="tx2">
                    <a:lumMod val="75000"/>
                    <a:lumOff val="25000"/>
                  </a:schemeClr>
                </a:solidFill>
                <a:effectLst/>
                <a:latin typeface="Consolas" panose="020B0609020204030204" pitchFamily="49" charset="0"/>
              </a:rPr>
              <a:t>-c –t, -S .\SQL2022 –T</a:t>
            </a:r>
          </a:p>
          <a:p>
            <a:pPr marL="0" indent="0">
              <a:buNone/>
            </a:pPr>
            <a:r>
              <a:rPr lang="en-US" sz="2400" b="0" i="0" dirty="0">
                <a:effectLst/>
                <a:latin typeface="Segoe UI" panose="020B0502040204020203" pitchFamily="34" charset="0"/>
              </a:rPr>
              <a:t>Ordering is not guaranteed</a:t>
            </a:r>
          </a:p>
          <a:p>
            <a:pPr marL="0" indent="0">
              <a:buNone/>
            </a:pPr>
            <a:endParaRPr lang="en-US" b="0" i="0" dirty="0">
              <a:effectLst/>
              <a:latin typeface="Segoe UI" panose="020B0502040204020203" pitchFamily="34" charset="0"/>
            </a:endParaRPr>
          </a:p>
          <a:p>
            <a:pPr marL="0" indent="0">
              <a:buNone/>
            </a:pPr>
            <a:r>
              <a:rPr lang="en-US" sz="1800" b="0" i="0" dirty="0">
                <a:solidFill>
                  <a:schemeClr val="tx2">
                    <a:lumMod val="75000"/>
                    <a:lumOff val="25000"/>
                  </a:schemeClr>
                </a:solidFill>
                <a:effectLst/>
                <a:latin typeface="Consolas" panose="020B0609020204030204" pitchFamily="49" charset="0"/>
              </a:rPr>
              <a:t>bcp</a:t>
            </a:r>
            <a:r>
              <a:rPr lang="en-US" sz="1800" b="0" i="0" dirty="0">
                <a:solidFill>
                  <a:srgbClr val="161616"/>
                </a:solidFill>
                <a:effectLst/>
                <a:latin typeface="Consolas" panose="020B0609020204030204" pitchFamily="49" charset="0"/>
              </a:rPr>
              <a:t> </a:t>
            </a:r>
            <a:r>
              <a:rPr lang="en-US" sz="1800" b="0" i="0" dirty="0">
                <a:solidFill>
                  <a:schemeClr val="accent2">
                    <a:lumMod val="75000"/>
                  </a:schemeClr>
                </a:solidFill>
                <a:effectLst/>
                <a:latin typeface="Consolas" panose="020B0609020204030204" pitchFamily="49" charset="0"/>
              </a:rPr>
              <a:t>“SELECT id, text FROM </a:t>
            </a:r>
            <a:r>
              <a:rPr lang="en-US" sz="1800" dirty="0">
                <a:solidFill>
                  <a:schemeClr val="accent2">
                    <a:lumMod val="75000"/>
                  </a:schemeClr>
                </a:solidFill>
                <a:latin typeface="Consolas" panose="020B0609020204030204" pitchFamily="49" charset="0"/>
              </a:rPr>
              <a:t>DBATest.dbo.TestTable</a:t>
            </a:r>
            <a:r>
              <a:rPr lang="en-US" sz="1800" b="0" i="0" dirty="0">
                <a:solidFill>
                  <a:schemeClr val="accent2">
                    <a:lumMod val="75000"/>
                  </a:schemeClr>
                </a:solidFill>
                <a:effectLst/>
                <a:latin typeface="Consolas" panose="020B0609020204030204" pitchFamily="49" charset="0"/>
              </a:rPr>
              <a:t> </a:t>
            </a:r>
            <a:r>
              <a:rPr lang="en-US" sz="1800" b="1" i="0" dirty="0">
                <a:solidFill>
                  <a:schemeClr val="accent2">
                    <a:lumMod val="75000"/>
                  </a:schemeClr>
                </a:solidFill>
                <a:effectLst/>
                <a:latin typeface="Consolas" panose="020B0609020204030204" pitchFamily="49" charset="0"/>
              </a:rPr>
              <a:t>ORDER BY </a:t>
            </a:r>
            <a:r>
              <a:rPr lang="en-US" sz="1800" b="1" i="0" dirty="0" err="1">
                <a:solidFill>
                  <a:schemeClr val="accent2">
                    <a:lumMod val="75000"/>
                  </a:schemeClr>
                </a:solidFill>
                <a:effectLst/>
                <a:latin typeface="Consolas" panose="020B0609020204030204" pitchFamily="49" charset="0"/>
              </a:rPr>
              <a:t>ObjectId</a:t>
            </a:r>
            <a:r>
              <a:rPr lang="en-US" sz="1800" b="0" i="0" dirty="0">
                <a:solidFill>
                  <a:schemeClr val="accent2">
                    <a:lumMod val="75000"/>
                  </a:schemeClr>
                </a:solidFill>
                <a:effectLst/>
                <a:latin typeface="Consolas" panose="020B0609020204030204" pitchFamily="49" charset="0"/>
              </a:rPr>
              <a:t>” </a:t>
            </a:r>
            <a:r>
              <a:rPr lang="en-US" sz="1800" b="1" i="0" dirty="0">
                <a:solidFill>
                  <a:schemeClr val="tx2">
                    <a:lumMod val="75000"/>
                    <a:lumOff val="25000"/>
                  </a:schemeClr>
                </a:solidFill>
                <a:effectLst/>
                <a:latin typeface="Consolas" panose="020B0609020204030204" pitchFamily="49" charset="0"/>
              </a:rPr>
              <a:t>queryout</a:t>
            </a:r>
            <a:r>
              <a:rPr lang="en-US" sz="1800" b="0" i="0" dirty="0">
                <a:solidFill>
                  <a:srgbClr val="161616"/>
                </a:solidFill>
                <a:effectLst/>
                <a:latin typeface="Consolas" panose="020B0609020204030204" pitchFamily="49" charset="0"/>
              </a:rPr>
              <a:t> </a:t>
            </a:r>
            <a:r>
              <a:rPr lang="en-US" sz="1800" b="0" i="0" dirty="0">
                <a:solidFill>
                  <a:schemeClr val="accent2">
                    <a:lumMod val="75000"/>
                  </a:schemeClr>
                </a:solidFill>
                <a:effectLst/>
                <a:latin typeface="Consolas" panose="020B0609020204030204" pitchFamily="49" charset="0"/>
              </a:rPr>
              <a:t>"C:\Data\ResultFile.dat" </a:t>
            </a:r>
            <a:r>
              <a:rPr lang="en-US" sz="1800" b="0" i="0" dirty="0">
                <a:solidFill>
                  <a:schemeClr val="tx2">
                    <a:lumMod val="75000"/>
                    <a:lumOff val="25000"/>
                  </a:schemeClr>
                </a:solidFill>
                <a:effectLst/>
                <a:latin typeface="Consolas" panose="020B0609020204030204" pitchFamily="49" charset="0"/>
              </a:rPr>
              <a:t>-n -c –t, -S .\SQL2022 –T</a:t>
            </a:r>
          </a:p>
          <a:p>
            <a:pPr marL="0" indent="0">
              <a:buNone/>
            </a:pPr>
            <a:r>
              <a:rPr lang="en-US" sz="2400" dirty="0">
                <a:latin typeface="Segoe UI" panose="020B0502040204020203" pitchFamily="34" charset="0"/>
              </a:rPr>
              <a:t>ORDER BY – ordering is guaranteed</a:t>
            </a:r>
          </a:p>
          <a:p>
            <a:pPr marL="0" indent="0">
              <a:buNone/>
            </a:pPr>
            <a:r>
              <a:rPr lang="en-US" sz="2400" dirty="0">
                <a:latin typeface="Segoe UI" panose="020B0502040204020203" pitchFamily="34" charset="0"/>
              </a:rPr>
              <a:t>Now ResultFile is ordered by ObjectID </a:t>
            </a:r>
          </a:p>
          <a:p>
            <a:pPr marL="0" indent="0">
              <a:buNone/>
            </a:pPr>
            <a:r>
              <a:rPr lang="en-US" sz="2400" dirty="0">
                <a:latin typeface="Segoe UI" panose="020B0502040204020203" pitchFamily="34" charset="0"/>
              </a:rPr>
              <a:t>When this file is used as source to import, it improves performance in case of indexed tables</a:t>
            </a:r>
          </a:p>
          <a:p>
            <a:pPr marL="0" indent="0">
              <a:buNone/>
            </a:pPr>
            <a:endParaRPr lang="en-US" sz="2000" b="0" i="0" dirty="0">
              <a:solidFill>
                <a:schemeClr val="tx2">
                  <a:lumMod val="75000"/>
                  <a:lumOff val="25000"/>
                </a:schemeClr>
              </a:solidFill>
              <a:effectLst/>
              <a:latin typeface="Segoe UI" panose="020B0502040204020203" pitchFamily="34" charset="0"/>
            </a:endParaRPr>
          </a:p>
          <a:p>
            <a:pPr marL="0" indent="0">
              <a:buNone/>
            </a:pPr>
            <a:endParaRPr lang="en-US" sz="2000" b="0" i="0" dirty="0">
              <a:solidFill>
                <a:schemeClr val="tx2">
                  <a:lumMod val="75000"/>
                  <a:lumOff val="25000"/>
                </a:schemeClr>
              </a:solidFill>
              <a:effectLst/>
              <a:latin typeface="Segoe UI" panose="020B0502040204020203" pitchFamily="34" charset="0"/>
            </a:endParaRPr>
          </a:p>
          <a:p>
            <a:pPr marL="0" indent="0">
              <a:buNone/>
            </a:pPr>
            <a:endParaRPr lang="en-US" b="0" i="0" dirty="0">
              <a:effectLst/>
              <a:latin typeface="Segoe UI" panose="020B0502040204020203" pitchFamily="34" charset="0"/>
            </a:endParaRPr>
          </a:p>
          <a:p>
            <a:pPr marL="0" indent="0">
              <a:buNone/>
            </a:pPr>
            <a:endParaRPr lang="en-US" b="0" i="0" dirty="0">
              <a:solidFill>
                <a:schemeClr val="tx2">
                  <a:lumMod val="75000"/>
                  <a:lumOff val="25000"/>
                </a:schemeClr>
              </a:solidFill>
              <a:effectLst/>
              <a:latin typeface="Segoe UI" panose="020B0502040204020203" pitchFamily="34" charset="0"/>
            </a:endParaRPr>
          </a:p>
          <a:p>
            <a:pPr marL="0" indent="0">
              <a:buNone/>
            </a:pPr>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419149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D502-F508-A740-639D-3B41FD635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FCC07-90A3-9565-610B-8491E330D785}"/>
              </a:ext>
            </a:extLst>
          </p:cNvPr>
          <p:cNvSpPr>
            <a:spLocks noGrp="1"/>
          </p:cNvSpPr>
          <p:nvPr>
            <p:ph type="title"/>
          </p:nvPr>
        </p:nvSpPr>
        <p:spPr/>
        <p:txBody>
          <a:bodyPr/>
          <a:lstStyle/>
          <a:p>
            <a:r>
              <a:rPr lang="en-US" sz="4800" b="1" dirty="0">
                <a:solidFill>
                  <a:schemeClr val="accent2">
                    <a:lumMod val="75000"/>
                  </a:schemeClr>
                </a:solidFill>
              </a:rPr>
              <a:t>5.3 bcp – Order to Import</a:t>
            </a:r>
          </a:p>
        </p:txBody>
      </p:sp>
      <p:sp>
        <p:nvSpPr>
          <p:cNvPr id="3" name="Content Placeholder 2">
            <a:extLst>
              <a:ext uri="{FF2B5EF4-FFF2-40B4-BE49-F238E27FC236}">
                <a16:creationId xmlns:a16="http://schemas.microsoft.com/office/drawing/2014/main" id="{BFF2FED9-A757-05CA-424A-1B8607D1182B}"/>
              </a:ext>
            </a:extLst>
          </p:cNvPr>
          <p:cNvSpPr>
            <a:spLocks noGrp="1"/>
          </p:cNvSpPr>
          <p:nvPr>
            <p:ph idx="1"/>
          </p:nvPr>
        </p:nvSpPr>
        <p:spPr>
          <a:xfrm>
            <a:off x="838200" y="1825625"/>
            <a:ext cx="11353800" cy="4351338"/>
          </a:xfrm>
        </p:spPr>
        <p:txBody>
          <a:bodyPr>
            <a:normAutofit/>
          </a:bodyPr>
          <a:lstStyle/>
          <a:p>
            <a:pPr marL="0" indent="0">
              <a:buNone/>
            </a:pPr>
            <a:r>
              <a:rPr lang="en-US" sz="2000" b="0" i="0" dirty="0">
                <a:solidFill>
                  <a:schemeClr val="tx2">
                    <a:lumMod val="75000"/>
                    <a:lumOff val="25000"/>
                  </a:schemeClr>
                </a:solidFill>
                <a:effectLst/>
                <a:latin typeface="Segoe UI" panose="020B0502040204020203" pitchFamily="34" charset="0"/>
              </a:rPr>
              <a:t>bcp </a:t>
            </a:r>
            <a:r>
              <a:rPr lang="en-US" sz="2000" b="0" i="0" dirty="0">
                <a:solidFill>
                  <a:schemeClr val="accent2">
                    <a:lumMod val="75000"/>
                  </a:schemeClr>
                </a:solidFill>
                <a:effectLst/>
                <a:latin typeface="Segoe UI" panose="020B0502040204020203" pitchFamily="34" charset="0"/>
              </a:rPr>
              <a:t>DBATest.dbo.TestTable </a:t>
            </a:r>
            <a:r>
              <a:rPr lang="en-US" sz="2000" b="0" i="0" dirty="0">
                <a:solidFill>
                  <a:schemeClr val="tx2">
                    <a:lumMod val="75000"/>
                    <a:lumOff val="25000"/>
                  </a:schemeClr>
                </a:solidFill>
                <a:effectLst/>
                <a:latin typeface="Segoe UI" panose="020B0502040204020203" pitchFamily="34" charset="0"/>
              </a:rPr>
              <a:t>in </a:t>
            </a:r>
            <a:r>
              <a:rPr lang="en-US" sz="2000" b="0" i="0" dirty="0">
                <a:solidFill>
                  <a:schemeClr val="accent2">
                    <a:lumMod val="75000"/>
                  </a:schemeClr>
                </a:solidFill>
                <a:effectLst/>
                <a:latin typeface="Segoe UI" panose="020B0502040204020203" pitchFamily="34" charset="0"/>
              </a:rPr>
              <a:t>C:\Data\ResultFile.dat </a:t>
            </a:r>
            <a:r>
              <a:rPr lang="en-US" sz="2000" b="0" i="0" dirty="0">
                <a:solidFill>
                  <a:schemeClr val="tx2">
                    <a:lumMod val="75000"/>
                    <a:lumOff val="25000"/>
                  </a:schemeClr>
                </a:solidFill>
                <a:effectLst/>
                <a:latin typeface="Segoe UI" panose="020B0502040204020203" pitchFamily="34" charset="0"/>
              </a:rPr>
              <a:t>-c –t, -S .\SQL2022 -T -E </a:t>
            </a:r>
            <a:r>
              <a:rPr lang="en-US" sz="2000" i="0" dirty="0">
                <a:solidFill>
                  <a:schemeClr val="tx2">
                    <a:lumMod val="75000"/>
                    <a:lumOff val="25000"/>
                  </a:schemeClr>
                </a:solidFill>
                <a:effectLst/>
                <a:highlight>
                  <a:srgbClr val="C0C0C0"/>
                </a:highlight>
                <a:latin typeface="Segoe UI" panose="020B0502040204020203" pitchFamily="34" charset="0"/>
              </a:rPr>
              <a:t>-h </a:t>
            </a:r>
            <a:r>
              <a:rPr lang="en-US" sz="2000" b="1" i="0" dirty="0">
                <a:solidFill>
                  <a:schemeClr val="tx2">
                    <a:lumMod val="75000"/>
                    <a:lumOff val="25000"/>
                  </a:schemeClr>
                </a:solidFill>
                <a:effectLst/>
                <a:highlight>
                  <a:srgbClr val="C0C0C0"/>
                </a:highlight>
                <a:latin typeface="Segoe UI" panose="020B0502040204020203" pitchFamily="34" charset="0"/>
              </a:rPr>
              <a:t>ORDER</a:t>
            </a:r>
            <a:r>
              <a:rPr lang="en-US" sz="2000" i="0" dirty="0">
                <a:solidFill>
                  <a:schemeClr val="tx2">
                    <a:lumMod val="75000"/>
                    <a:lumOff val="25000"/>
                  </a:schemeClr>
                </a:solidFill>
                <a:effectLst/>
                <a:highlight>
                  <a:srgbClr val="C0C0C0"/>
                </a:highlight>
                <a:latin typeface="Segoe UI" panose="020B0502040204020203" pitchFamily="34" charset="0"/>
              </a:rPr>
              <a:t>(ObjectID) </a:t>
            </a:r>
          </a:p>
          <a:p>
            <a:pPr marL="0" indent="0">
              <a:buNone/>
            </a:pPr>
            <a:endParaRPr lang="en-US" sz="2400" dirty="0">
              <a:latin typeface="Segoe UI" panose="020B0502040204020203" pitchFamily="34" charset="0"/>
            </a:endParaRPr>
          </a:p>
          <a:p>
            <a:r>
              <a:rPr lang="en-US" sz="2400" b="0" i="0" dirty="0">
                <a:solidFill>
                  <a:srgbClr val="161616"/>
                </a:solidFill>
                <a:effectLst/>
                <a:latin typeface="Segoe UI" panose="020B0502040204020203" pitchFamily="34" charset="0"/>
              </a:rPr>
              <a:t>Performance improves </a:t>
            </a:r>
            <a:r>
              <a:rPr lang="en-US" sz="2400" dirty="0">
                <a:solidFill>
                  <a:srgbClr val="161616"/>
                </a:solidFill>
                <a:latin typeface="Segoe UI" panose="020B0502040204020203" pitchFamily="34" charset="0"/>
              </a:rPr>
              <a:t>when</a:t>
            </a:r>
            <a:r>
              <a:rPr lang="en-US" sz="2400" b="0" i="0" dirty="0">
                <a:solidFill>
                  <a:srgbClr val="161616"/>
                </a:solidFill>
                <a:effectLst/>
                <a:latin typeface="Segoe UI" panose="020B0502040204020203" pitchFamily="34" charset="0"/>
              </a:rPr>
              <a:t> </a:t>
            </a:r>
          </a:p>
          <a:p>
            <a:pPr lvl="1"/>
            <a:r>
              <a:rPr lang="en-US" sz="2000" b="0" i="0" dirty="0">
                <a:solidFill>
                  <a:srgbClr val="161616"/>
                </a:solidFill>
                <a:effectLst/>
                <a:latin typeface="Segoe UI" panose="020B0502040204020203" pitchFamily="34" charset="0"/>
              </a:rPr>
              <a:t>If source data file is sorted according to clustered index on target table </a:t>
            </a:r>
          </a:p>
          <a:p>
            <a:pPr lvl="1"/>
            <a:r>
              <a:rPr lang="en-US" sz="2000" b="0" i="0" dirty="0">
                <a:solidFill>
                  <a:srgbClr val="161616"/>
                </a:solidFill>
                <a:effectLst/>
                <a:latin typeface="Segoe UI" panose="020B0502040204020203" pitchFamily="34" charset="0"/>
              </a:rPr>
              <a:t>And when ORDER clause is used</a:t>
            </a:r>
          </a:p>
          <a:p>
            <a:pPr lvl="1"/>
            <a:r>
              <a:rPr lang="en-US" sz="2000" dirty="0">
                <a:solidFill>
                  <a:srgbClr val="161616"/>
                </a:solidFill>
                <a:latin typeface="Segoe UI" panose="020B0502040204020203" pitchFamily="34" charset="0"/>
              </a:rPr>
              <a:t>Reduces sorting overhead</a:t>
            </a:r>
            <a:r>
              <a:rPr lang="en-US" sz="2000" b="0" i="0" dirty="0">
                <a:solidFill>
                  <a:srgbClr val="161616"/>
                </a:solidFill>
                <a:effectLst/>
                <a:latin typeface="Segoe UI" panose="020B0502040204020203" pitchFamily="34" charset="0"/>
              </a:rPr>
              <a:t> </a:t>
            </a:r>
          </a:p>
          <a:p>
            <a:endParaRPr lang="en-US" sz="2400" b="0" i="0" dirty="0">
              <a:solidFill>
                <a:srgbClr val="161616"/>
              </a:solidFill>
              <a:effectLst/>
              <a:latin typeface="Segoe UI" panose="020B0502040204020203" pitchFamily="34" charset="0"/>
            </a:endParaRPr>
          </a:p>
          <a:p>
            <a:r>
              <a:rPr lang="en-US" sz="2400" dirty="0">
                <a:solidFill>
                  <a:srgbClr val="161616"/>
                </a:solidFill>
                <a:latin typeface="Segoe UI" panose="020B0502040204020203" pitchFamily="34" charset="0"/>
              </a:rPr>
              <a:t>Sorted file + ORDER clause = faster insert</a:t>
            </a:r>
          </a:p>
          <a:p>
            <a:r>
              <a:rPr lang="en-US" sz="2400" dirty="0">
                <a:solidFill>
                  <a:srgbClr val="161616"/>
                </a:solidFill>
                <a:latin typeface="Segoe UI" panose="020B0502040204020203" pitchFamily="34" charset="0"/>
              </a:rPr>
              <a:t>Unsorted file + ORDER clause = won’t run faster</a:t>
            </a:r>
          </a:p>
          <a:p>
            <a:r>
              <a:rPr lang="en-US" sz="2400" dirty="0">
                <a:solidFill>
                  <a:srgbClr val="161616"/>
                </a:solidFill>
                <a:latin typeface="Segoe UI" panose="020B0502040204020203" pitchFamily="34" charset="0"/>
              </a:rPr>
              <a:t>By default, bcp assumes the data file is unordered</a:t>
            </a:r>
            <a:endParaRPr lang="en-US" sz="2400" b="0" i="0" dirty="0">
              <a:solidFill>
                <a:srgbClr val="161616"/>
              </a:solidFill>
              <a:effectLst/>
              <a:latin typeface="Segoe UI" panose="020B0502040204020203" pitchFamily="34" charset="0"/>
            </a:endParaRPr>
          </a:p>
          <a:p>
            <a:pPr marL="0" indent="0">
              <a:buNone/>
            </a:pPr>
            <a:endParaRPr lang="en-US" sz="2400" b="0" i="0" dirty="0">
              <a:effectLst/>
              <a:latin typeface="Segoe UI" panose="020B0502040204020203" pitchFamily="34" charset="0"/>
            </a:endParaRPr>
          </a:p>
          <a:p>
            <a:pPr marL="0" indent="0">
              <a:buNone/>
            </a:pPr>
            <a:endParaRPr lang="en-US" sz="2000" b="0" i="0" dirty="0">
              <a:solidFill>
                <a:schemeClr val="tx2">
                  <a:lumMod val="75000"/>
                  <a:lumOff val="25000"/>
                </a:schemeClr>
              </a:solidFill>
              <a:effectLst/>
              <a:latin typeface="Segoe UI" panose="020B0502040204020203" pitchFamily="34" charset="0"/>
            </a:endParaRPr>
          </a:p>
          <a:p>
            <a:pPr marL="0" indent="0">
              <a:buNone/>
            </a:pPr>
            <a:endParaRPr lang="en-US" sz="2000" b="0" i="0" dirty="0">
              <a:solidFill>
                <a:schemeClr val="tx2">
                  <a:lumMod val="75000"/>
                  <a:lumOff val="25000"/>
                </a:schemeClr>
              </a:solidFill>
              <a:effectLst/>
              <a:latin typeface="Segoe UI" panose="020B0502040204020203" pitchFamily="34" charset="0"/>
            </a:endParaRPr>
          </a:p>
          <a:p>
            <a:pPr marL="0" indent="0">
              <a:buNone/>
            </a:pPr>
            <a:endParaRPr lang="en-US" b="0" i="0" dirty="0">
              <a:effectLst/>
              <a:latin typeface="Segoe UI" panose="020B0502040204020203" pitchFamily="34" charset="0"/>
            </a:endParaRPr>
          </a:p>
          <a:p>
            <a:pPr marL="0" indent="0">
              <a:buNone/>
            </a:pPr>
            <a:endParaRPr lang="en-US" b="0" i="0" dirty="0">
              <a:solidFill>
                <a:schemeClr val="tx2">
                  <a:lumMod val="75000"/>
                  <a:lumOff val="25000"/>
                </a:schemeClr>
              </a:solidFill>
              <a:effectLst/>
              <a:latin typeface="Segoe UI" panose="020B0502040204020203" pitchFamily="34" charset="0"/>
            </a:endParaRPr>
          </a:p>
          <a:p>
            <a:pPr marL="0" indent="0">
              <a:buNone/>
            </a:pPr>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82961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D06E-D28A-A41C-82E2-2789EC1C2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2B92D-9C8C-16E7-B6A7-457976F5FE17}"/>
              </a:ext>
            </a:extLst>
          </p:cNvPr>
          <p:cNvSpPr>
            <a:spLocks noGrp="1"/>
          </p:cNvSpPr>
          <p:nvPr>
            <p:ph type="title"/>
          </p:nvPr>
        </p:nvSpPr>
        <p:spPr/>
        <p:txBody>
          <a:bodyPr/>
          <a:lstStyle/>
          <a:p>
            <a:r>
              <a:rPr lang="en-US" sz="4800" b="1" dirty="0">
                <a:solidFill>
                  <a:schemeClr val="accent2">
                    <a:lumMod val="75000"/>
                  </a:schemeClr>
                </a:solidFill>
              </a:rPr>
              <a:t>5.4 bcp - Tablock hint</a:t>
            </a:r>
          </a:p>
        </p:txBody>
      </p:sp>
      <p:sp>
        <p:nvSpPr>
          <p:cNvPr id="3" name="Content Placeholder 2">
            <a:extLst>
              <a:ext uri="{FF2B5EF4-FFF2-40B4-BE49-F238E27FC236}">
                <a16:creationId xmlns:a16="http://schemas.microsoft.com/office/drawing/2014/main" id="{ED974D86-D634-FE32-5D84-5E8143125641}"/>
              </a:ext>
            </a:extLst>
          </p:cNvPr>
          <p:cNvSpPr>
            <a:spLocks noGrp="1"/>
          </p:cNvSpPr>
          <p:nvPr>
            <p:ph idx="1"/>
          </p:nvPr>
        </p:nvSpPr>
        <p:spPr/>
        <p:txBody>
          <a:bodyPr>
            <a:normAutofit/>
          </a:bodyPr>
          <a:lstStyle/>
          <a:p>
            <a:pPr marL="0" indent="0">
              <a:buNone/>
            </a:pPr>
            <a:r>
              <a:rPr lang="en-US" sz="2000" dirty="0">
                <a:solidFill>
                  <a:schemeClr val="accent2">
                    <a:lumMod val="75000"/>
                  </a:schemeClr>
                </a:solidFill>
                <a:latin typeface="Consolas" panose="020B0609020204030204" pitchFamily="49" charset="0"/>
              </a:rPr>
              <a:t>bcp</a:t>
            </a:r>
            <a:r>
              <a:rPr lang="en-US" sz="2000" dirty="0">
                <a:solidFill>
                  <a:schemeClr val="tx2">
                    <a:lumMod val="75000"/>
                    <a:lumOff val="25000"/>
                  </a:schemeClr>
                </a:solidFill>
                <a:latin typeface="Consolas" panose="020B0609020204030204" pitchFamily="49" charset="0"/>
              </a:rPr>
              <a:t> DBATest.dbo.HeapTable </a:t>
            </a:r>
            <a:r>
              <a:rPr lang="en-US" sz="2000" dirty="0">
                <a:solidFill>
                  <a:schemeClr val="accent2">
                    <a:lumMod val="75000"/>
                  </a:schemeClr>
                </a:solidFill>
                <a:latin typeface="Consolas" panose="020B0609020204030204" pitchFamily="49" charset="0"/>
              </a:rPr>
              <a:t>IN</a:t>
            </a:r>
            <a:r>
              <a:rPr lang="en-US" sz="2000" dirty="0">
                <a:solidFill>
                  <a:schemeClr val="tx2">
                    <a:lumMod val="75000"/>
                    <a:lumOff val="25000"/>
                  </a:schemeClr>
                </a:solidFill>
                <a:latin typeface="Consolas" panose="020B0609020204030204" pitchFamily="49" charset="0"/>
              </a:rPr>
              <a:t> C:\Data\SortedFile.bcp </a:t>
            </a:r>
            <a:r>
              <a:rPr lang="en-US" sz="2000" dirty="0">
                <a:solidFill>
                  <a:schemeClr val="accent2">
                    <a:lumMod val="75000"/>
                  </a:schemeClr>
                </a:solidFill>
                <a:latin typeface="Consolas" panose="020B0609020204030204" pitchFamily="49" charset="0"/>
              </a:rPr>
              <a:t>-b 5000 -h "</a:t>
            </a:r>
            <a:r>
              <a:rPr lang="en-US" sz="2000" b="1" dirty="0">
                <a:solidFill>
                  <a:schemeClr val="tx2">
                    <a:lumMod val="75000"/>
                    <a:lumOff val="25000"/>
                  </a:schemeClr>
                </a:solidFill>
                <a:highlight>
                  <a:srgbClr val="C0C0C0"/>
                </a:highlight>
                <a:latin typeface="Consolas" panose="020B0609020204030204" pitchFamily="49" charset="0"/>
              </a:rPr>
              <a:t>TABLOCK</a:t>
            </a:r>
            <a:r>
              <a:rPr lang="en-US" sz="2000" dirty="0">
                <a:solidFill>
                  <a:schemeClr val="accent2">
                    <a:lumMod val="75000"/>
                  </a:schemeClr>
                </a:solidFill>
                <a:latin typeface="Consolas" panose="020B0609020204030204" pitchFamily="49" charset="0"/>
              </a:rPr>
              <a:t>"  -S .\SQL2022</a:t>
            </a:r>
          </a:p>
          <a:p>
            <a:pPr marL="0" indent="0">
              <a:buNone/>
            </a:pPr>
            <a:endParaRPr lang="en-US" sz="2400" dirty="0">
              <a:solidFill>
                <a:srgbClr val="161616"/>
              </a:solidFill>
              <a:latin typeface="Segoe UI" panose="020B0502040204020203" pitchFamily="34" charset="0"/>
            </a:endParaRPr>
          </a:p>
          <a:p>
            <a:r>
              <a:rPr lang="en-US" sz="2400" dirty="0">
                <a:solidFill>
                  <a:srgbClr val="161616"/>
                </a:solidFill>
                <a:latin typeface="Segoe UI" panose="020B0502040204020203" pitchFamily="34" charset="0"/>
              </a:rPr>
              <a:t>Improves performance via minimal logging</a:t>
            </a:r>
          </a:p>
          <a:p>
            <a:r>
              <a:rPr lang="en-US" sz="2400" dirty="0">
                <a:solidFill>
                  <a:srgbClr val="161616"/>
                </a:solidFill>
                <a:latin typeface="Segoe UI" panose="020B0502040204020203" pitchFamily="34" charset="0"/>
              </a:rPr>
              <a:t>Holds Bulk Update(BU) lock</a:t>
            </a:r>
          </a:p>
          <a:p>
            <a:r>
              <a:rPr lang="en-US" sz="2400" dirty="0">
                <a:solidFill>
                  <a:srgbClr val="161616"/>
                </a:solidFill>
                <a:latin typeface="Segoe UI" panose="020B0502040204020203" pitchFamily="34" charset="0"/>
              </a:rPr>
              <a:t>Concurrent loads are possible</a:t>
            </a:r>
          </a:p>
        </p:txBody>
      </p:sp>
    </p:spTree>
    <p:extLst>
      <p:ext uri="{BB962C8B-B14F-4D97-AF65-F5344CB8AC3E}">
        <p14:creationId xmlns:p14="http://schemas.microsoft.com/office/powerpoint/2010/main" val="105662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8ED0D-D720-02AD-E94C-C0B52F635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A2810-2207-D02B-737A-670EE883A052}"/>
              </a:ext>
            </a:extLst>
          </p:cNvPr>
          <p:cNvSpPr>
            <a:spLocks noGrp="1"/>
          </p:cNvSpPr>
          <p:nvPr>
            <p:ph type="title"/>
          </p:nvPr>
        </p:nvSpPr>
        <p:spPr/>
        <p:txBody>
          <a:bodyPr/>
          <a:lstStyle/>
          <a:p>
            <a:r>
              <a:rPr lang="en-US" sz="4800" b="1" dirty="0">
                <a:solidFill>
                  <a:schemeClr val="accent2">
                    <a:lumMod val="75000"/>
                  </a:schemeClr>
                </a:solidFill>
              </a:rPr>
              <a:t>Recap - bcp</a:t>
            </a:r>
          </a:p>
        </p:txBody>
      </p:sp>
      <p:sp>
        <p:nvSpPr>
          <p:cNvPr id="3" name="Content Placeholder 2">
            <a:extLst>
              <a:ext uri="{FF2B5EF4-FFF2-40B4-BE49-F238E27FC236}">
                <a16:creationId xmlns:a16="http://schemas.microsoft.com/office/drawing/2014/main" id="{5834EC62-472F-CC90-1096-ABC8C30031A7}"/>
              </a:ext>
            </a:extLst>
          </p:cNvPr>
          <p:cNvSpPr>
            <a:spLocks noGrp="1"/>
          </p:cNvSpPr>
          <p:nvPr>
            <p:ph idx="1"/>
          </p:nvPr>
        </p:nvSpPr>
        <p:spPr/>
        <p:txBody>
          <a:bodyPr>
            <a:normAutofit/>
          </a:bodyPr>
          <a:lstStyle/>
          <a:p>
            <a:r>
              <a:rPr lang="en-US" sz="2400" dirty="0">
                <a:solidFill>
                  <a:srgbClr val="161616"/>
                </a:solidFill>
                <a:latin typeface="Segoe UI" panose="020B0502040204020203" pitchFamily="34" charset="0"/>
              </a:rPr>
              <a:t>Export using Native format and ‘queryout’ with ‘order by’ clause</a:t>
            </a:r>
          </a:p>
          <a:p>
            <a:r>
              <a:rPr lang="en-US" sz="2400" dirty="0">
                <a:solidFill>
                  <a:srgbClr val="161616"/>
                </a:solidFill>
                <a:latin typeface="Segoe UI" panose="020B0502040204020203" pitchFamily="34" charset="0"/>
              </a:rPr>
              <a:t>Import using formatted file for faster insert</a:t>
            </a:r>
          </a:p>
          <a:p>
            <a:r>
              <a:rPr lang="en-US" sz="2400" dirty="0">
                <a:solidFill>
                  <a:srgbClr val="161616"/>
                </a:solidFill>
                <a:latin typeface="Segoe UI" panose="020B0502040204020203" pitchFamily="34" charset="0"/>
              </a:rPr>
              <a:t>Use Order hint for clustered tables</a:t>
            </a:r>
          </a:p>
          <a:p>
            <a:r>
              <a:rPr lang="en-US" sz="2400" dirty="0">
                <a:solidFill>
                  <a:srgbClr val="161616"/>
                </a:solidFill>
                <a:latin typeface="Segoe UI" panose="020B0502040204020203" pitchFamily="34" charset="0"/>
              </a:rPr>
              <a:t>Use Tablock hint for heap tables </a:t>
            </a:r>
          </a:p>
        </p:txBody>
      </p:sp>
    </p:spTree>
    <p:extLst>
      <p:ext uri="{BB962C8B-B14F-4D97-AF65-F5344CB8AC3E}">
        <p14:creationId xmlns:p14="http://schemas.microsoft.com/office/powerpoint/2010/main" val="136374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92048-5937-205B-801F-B74FECDF0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958A2-7C41-EDAB-A293-39FFEA584AFA}"/>
              </a:ext>
            </a:extLst>
          </p:cNvPr>
          <p:cNvSpPr>
            <a:spLocks noGrp="1"/>
          </p:cNvSpPr>
          <p:nvPr>
            <p:ph type="title"/>
          </p:nvPr>
        </p:nvSpPr>
        <p:spPr/>
        <p:txBody>
          <a:bodyPr/>
          <a:lstStyle/>
          <a:p>
            <a:r>
              <a:rPr lang="en-US" sz="4800" b="1" dirty="0">
                <a:solidFill>
                  <a:schemeClr val="accent2">
                    <a:lumMod val="75000"/>
                  </a:schemeClr>
                </a:solidFill>
              </a:rPr>
              <a:t>6. dbatools</a:t>
            </a:r>
          </a:p>
        </p:txBody>
      </p:sp>
      <p:sp>
        <p:nvSpPr>
          <p:cNvPr id="3" name="Content Placeholder 2">
            <a:extLst>
              <a:ext uri="{FF2B5EF4-FFF2-40B4-BE49-F238E27FC236}">
                <a16:creationId xmlns:a16="http://schemas.microsoft.com/office/drawing/2014/main" id="{21E2FAEB-95A9-AC0C-3E42-7D0013CA289E}"/>
              </a:ext>
            </a:extLst>
          </p:cNvPr>
          <p:cNvSpPr>
            <a:spLocks noGrp="1"/>
          </p:cNvSpPr>
          <p:nvPr>
            <p:ph idx="1"/>
          </p:nvPr>
        </p:nvSpPr>
        <p:spPr/>
        <p:txBody>
          <a:bodyPr/>
          <a:lstStyle/>
          <a:p>
            <a:r>
              <a:rPr lang="en-US" sz="2400" dirty="0">
                <a:solidFill>
                  <a:srgbClr val="161616"/>
                </a:solidFill>
                <a:latin typeface="Segoe UI" panose="020B0502040204020203" pitchFamily="34" charset="0"/>
              </a:rPr>
              <a:t>Open-source PowerShell module to automate SQL Server tasks</a:t>
            </a:r>
          </a:p>
          <a:p>
            <a:r>
              <a:rPr lang="en-US" sz="2400" dirty="0">
                <a:solidFill>
                  <a:srgbClr val="161616"/>
                </a:solidFill>
                <a:latin typeface="Segoe UI" panose="020B0502040204020203" pitchFamily="34" charset="0"/>
              </a:rPr>
              <a:t>Data migration, backups, restores etc.</a:t>
            </a:r>
          </a:p>
          <a:p>
            <a:pPr marL="0" indent="0">
              <a:buNone/>
            </a:pPr>
            <a:endParaRPr lang="en-US" dirty="0">
              <a:solidFill>
                <a:srgbClr val="161616"/>
              </a:solidFill>
              <a:latin typeface="Segoe UI" panose="020B0502040204020203" pitchFamily="34" charset="0"/>
            </a:endParaRPr>
          </a:p>
          <a:p>
            <a:pPr marL="0" indent="0">
              <a:buNone/>
            </a:pPr>
            <a:r>
              <a:rPr lang="en-US" sz="2400" dirty="0">
                <a:solidFill>
                  <a:schemeClr val="tx2">
                    <a:lumMod val="75000"/>
                    <a:lumOff val="25000"/>
                  </a:schemeClr>
                </a:solidFill>
                <a:latin typeface="Segoe UI" panose="020B0502040204020203" pitchFamily="34" charset="0"/>
              </a:rPr>
              <a:t>Data Move:</a:t>
            </a:r>
          </a:p>
          <a:p>
            <a:r>
              <a:rPr lang="en-US" sz="2400" dirty="0">
                <a:solidFill>
                  <a:srgbClr val="161616"/>
                </a:solidFill>
                <a:latin typeface="Segoe UI" panose="020B0502040204020203" pitchFamily="34" charset="0"/>
              </a:rPr>
              <a:t>Write-</a:t>
            </a:r>
            <a:r>
              <a:rPr lang="en-US" sz="2400" dirty="0" err="1">
                <a:solidFill>
                  <a:srgbClr val="161616"/>
                </a:solidFill>
                <a:latin typeface="Segoe UI" panose="020B0502040204020203" pitchFamily="34" charset="0"/>
              </a:rPr>
              <a:t>DbaDbTableData</a:t>
            </a:r>
            <a:endParaRPr lang="en-US" sz="2400" dirty="0">
              <a:solidFill>
                <a:srgbClr val="161616"/>
              </a:solidFill>
              <a:latin typeface="Segoe UI" panose="020B0502040204020203" pitchFamily="34" charset="0"/>
            </a:endParaRPr>
          </a:p>
          <a:p>
            <a:r>
              <a:rPr lang="en-US" sz="2400" dirty="0">
                <a:solidFill>
                  <a:srgbClr val="161616"/>
                </a:solidFill>
                <a:latin typeface="Segoe UI" panose="020B0502040204020203" pitchFamily="34" charset="0"/>
              </a:rPr>
              <a:t>Copy-</a:t>
            </a:r>
            <a:r>
              <a:rPr lang="en-US" sz="2400" dirty="0" err="1">
                <a:solidFill>
                  <a:srgbClr val="161616"/>
                </a:solidFill>
                <a:latin typeface="Segoe UI" panose="020B0502040204020203" pitchFamily="34" charset="0"/>
              </a:rPr>
              <a:t>DbaDbTableData</a:t>
            </a:r>
            <a:endParaRPr lang="en-US" sz="2400" dirty="0">
              <a:solidFill>
                <a:srgbClr val="161616"/>
              </a:solidFill>
              <a:latin typeface="Segoe UI" panose="020B0502040204020203" pitchFamily="34" charset="0"/>
            </a:endParaRPr>
          </a:p>
          <a:p>
            <a:r>
              <a:rPr lang="en-US" sz="2400" dirty="0">
                <a:solidFill>
                  <a:srgbClr val="161616"/>
                </a:solidFill>
                <a:latin typeface="Segoe UI" panose="020B0502040204020203" pitchFamily="34" charset="0"/>
              </a:rPr>
              <a:t>Import-</a:t>
            </a:r>
            <a:r>
              <a:rPr lang="en-US" sz="2400" dirty="0" err="1">
                <a:solidFill>
                  <a:srgbClr val="161616"/>
                </a:solidFill>
                <a:latin typeface="Segoe UI" panose="020B0502040204020203" pitchFamily="34" charset="0"/>
              </a:rPr>
              <a:t>DbaCsv</a:t>
            </a:r>
            <a:endParaRPr lang="en-US" sz="2400" dirty="0">
              <a:solidFill>
                <a:srgbClr val="161616"/>
              </a:solidFill>
              <a:latin typeface="Segoe UI" panose="020B0502040204020203" pitchFamily="34" charset="0"/>
            </a:endParaRPr>
          </a:p>
          <a:p>
            <a:endParaRPr lang="en-US" dirty="0">
              <a:solidFill>
                <a:srgbClr val="161616"/>
              </a:solidFill>
              <a:latin typeface="Segoe UI" panose="020B0502040204020203" pitchFamily="34" charset="0"/>
            </a:endParaRPr>
          </a:p>
          <a:p>
            <a:pPr marL="0" indent="0">
              <a:buNone/>
            </a:pPr>
            <a:endParaRPr lang="en-US" dirty="0">
              <a:solidFill>
                <a:srgbClr val="161616"/>
              </a:solidFill>
              <a:latin typeface="Segoe UI" panose="020B0502040204020203" pitchFamily="34" charset="0"/>
            </a:endParaRPr>
          </a:p>
          <a:p>
            <a:endParaRPr lang="en-US" dirty="0"/>
          </a:p>
        </p:txBody>
      </p:sp>
    </p:spTree>
    <p:extLst>
      <p:ext uri="{BB962C8B-B14F-4D97-AF65-F5344CB8AC3E}">
        <p14:creationId xmlns:p14="http://schemas.microsoft.com/office/powerpoint/2010/main" val="75663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6A79B-4901-C96E-F35E-5FDFA82F7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B1E7B-C846-5C0A-814F-5FE8B05E44A8}"/>
              </a:ext>
            </a:extLst>
          </p:cNvPr>
          <p:cNvSpPr>
            <a:spLocks noGrp="1"/>
          </p:cNvSpPr>
          <p:nvPr>
            <p:ph type="title"/>
          </p:nvPr>
        </p:nvSpPr>
        <p:spPr>
          <a:xfrm>
            <a:off x="838200" y="542105"/>
            <a:ext cx="10515600" cy="1325563"/>
          </a:xfrm>
        </p:spPr>
        <p:txBody>
          <a:bodyPr>
            <a:normAutofit fontScale="90000"/>
          </a:bodyPr>
          <a:lstStyle/>
          <a:p>
            <a:r>
              <a:rPr lang="en-US" sz="5300" b="1" dirty="0">
                <a:solidFill>
                  <a:schemeClr val="accent2">
                    <a:lumMod val="75000"/>
                  </a:schemeClr>
                </a:solidFill>
              </a:rPr>
              <a:t>6.1 Write-</a:t>
            </a:r>
            <a:r>
              <a:rPr lang="en-US" sz="5300" b="1" dirty="0" err="1">
                <a:solidFill>
                  <a:schemeClr val="accent2">
                    <a:lumMod val="75000"/>
                  </a:schemeClr>
                </a:solidFill>
              </a:rPr>
              <a:t>DbaDbTableData</a:t>
            </a:r>
            <a:br>
              <a:rPr lang="en-US" sz="3600" dirty="0"/>
            </a:br>
            <a:endParaRPr lang="en-US" sz="5400" b="1" dirty="0">
              <a:solidFill>
                <a:schemeClr val="accent2">
                  <a:lumMod val="75000"/>
                </a:schemeClr>
              </a:solidFill>
            </a:endParaRPr>
          </a:p>
        </p:txBody>
      </p:sp>
      <p:sp>
        <p:nvSpPr>
          <p:cNvPr id="3" name="Content Placeholder 2">
            <a:extLst>
              <a:ext uri="{FF2B5EF4-FFF2-40B4-BE49-F238E27FC236}">
                <a16:creationId xmlns:a16="http://schemas.microsoft.com/office/drawing/2014/main" id="{5A6AC654-4D33-E9BC-4956-2A88F37959ED}"/>
              </a:ext>
            </a:extLst>
          </p:cNvPr>
          <p:cNvSpPr>
            <a:spLocks noGrp="1"/>
          </p:cNvSpPr>
          <p:nvPr>
            <p:ph idx="1"/>
          </p:nvPr>
        </p:nvSpPr>
        <p:spPr>
          <a:xfrm>
            <a:off x="838200" y="1550322"/>
            <a:ext cx="10515600" cy="4351338"/>
          </a:xfrm>
        </p:spPr>
        <p:txBody>
          <a:bodyPr>
            <a:normAutofit/>
          </a:bodyPr>
          <a:lstStyle/>
          <a:p>
            <a:pPr marL="0" indent="0">
              <a:buNone/>
            </a:pPr>
            <a:r>
              <a:rPr lang="en-US" sz="1800" dirty="0">
                <a:solidFill>
                  <a:schemeClr val="tx2">
                    <a:lumMod val="75000"/>
                    <a:lumOff val="25000"/>
                  </a:schemeClr>
                </a:solidFill>
                <a:latin typeface="Consolas" panose="020B0609020204030204" pitchFamily="49" charset="0"/>
              </a:rPr>
              <a:t>$</a:t>
            </a:r>
            <a:r>
              <a:rPr lang="en-US" sz="1800" dirty="0" err="1">
                <a:solidFill>
                  <a:schemeClr val="tx2">
                    <a:lumMod val="75000"/>
                    <a:lumOff val="25000"/>
                  </a:schemeClr>
                </a:solidFill>
                <a:latin typeface="Consolas" panose="020B0609020204030204" pitchFamily="49" charset="0"/>
              </a:rPr>
              <a:t>DataTable</a:t>
            </a:r>
            <a:r>
              <a:rPr lang="en-US" sz="1800" dirty="0">
                <a:solidFill>
                  <a:schemeClr val="tx2">
                    <a:lumMod val="75000"/>
                    <a:lumOff val="25000"/>
                  </a:schemeClr>
                </a:solidFill>
                <a:latin typeface="Consolas" panose="020B0609020204030204" pitchFamily="49" charset="0"/>
              </a:rPr>
              <a:t> </a:t>
            </a:r>
            <a:r>
              <a:rPr lang="en-US" sz="1800" dirty="0">
                <a:solidFill>
                  <a:srgbClr val="333333"/>
                </a:solidFill>
                <a:latin typeface="Consolas" panose="020B0609020204030204" pitchFamily="49" charset="0"/>
              </a:rPr>
              <a:t>= </a:t>
            </a:r>
            <a:r>
              <a:rPr lang="en-US" sz="1800" dirty="0">
                <a:solidFill>
                  <a:schemeClr val="tx2">
                    <a:lumMod val="75000"/>
                    <a:lumOff val="25000"/>
                  </a:schemeClr>
                </a:solidFill>
                <a:latin typeface="Consolas" panose="020B0609020204030204" pitchFamily="49" charset="0"/>
              </a:rPr>
              <a:t>Invoke-</a:t>
            </a:r>
            <a:r>
              <a:rPr lang="en-US" sz="1800" dirty="0" err="1">
                <a:solidFill>
                  <a:schemeClr val="tx2">
                    <a:lumMod val="75000"/>
                    <a:lumOff val="25000"/>
                  </a:schemeClr>
                </a:solidFill>
                <a:latin typeface="Consolas" panose="020B0609020204030204" pitchFamily="49" charset="0"/>
              </a:rPr>
              <a:t>DbaQuery</a:t>
            </a:r>
            <a:r>
              <a:rPr lang="en-US" sz="1800" dirty="0">
                <a:solidFill>
                  <a:srgbClr val="333333"/>
                </a:solidFill>
                <a:latin typeface="Consolas" panose="020B0609020204030204" pitchFamily="49" charset="0"/>
              </a:rPr>
              <a:t> -</a:t>
            </a:r>
            <a:r>
              <a:rPr lang="en-US" sz="1800" dirty="0" err="1">
                <a:solidFill>
                  <a:srgbClr val="333333"/>
                </a:solidFill>
                <a:latin typeface="Consolas" panose="020B0609020204030204" pitchFamily="49" charset="0"/>
              </a:rPr>
              <a:t>SqlInstance</a:t>
            </a:r>
            <a:r>
              <a:rPr lang="en-US" sz="1800" dirty="0">
                <a:solidFill>
                  <a:srgbClr val="333333"/>
                </a:solidFill>
                <a:latin typeface="Consolas" panose="020B0609020204030204" pitchFamily="49" charset="0"/>
              </a:rPr>
              <a:t> </a:t>
            </a:r>
            <a:r>
              <a:rPr lang="en-US" sz="1800" dirty="0" err="1">
                <a:solidFill>
                  <a:schemeClr val="accent2">
                    <a:lumMod val="75000"/>
                  </a:schemeClr>
                </a:solidFill>
                <a:latin typeface="Consolas" panose="020B0609020204030204" pitchFamily="49" charset="0"/>
              </a:rPr>
              <a:t>haripriya</a:t>
            </a:r>
            <a:r>
              <a:rPr lang="en-US" sz="1800" dirty="0">
                <a:solidFill>
                  <a:schemeClr val="accent2">
                    <a:lumMod val="75000"/>
                  </a:schemeClr>
                </a:solidFill>
                <a:latin typeface="Consolas" panose="020B0609020204030204" pitchFamily="49" charset="0"/>
              </a:rPr>
              <a:t>\sql2022 </a:t>
            </a:r>
            <a:r>
              <a:rPr lang="en-US" sz="1800" dirty="0">
                <a:solidFill>
                  <a:srgbClr val="333333"/>
                </a:solidFill>
                <a:latin typeface="Consolas" panose="020B0609020204030204" pitchFamily="49" charset="0"/>
              </a:rPr>
              <a:t>-Database </a:t>
            </a:r>
            <a:r>
              <a:rPr lang="en-US" sz="1800" dirty="0" err="1">
                <a:solidFill>
                  <a:schemeClr val="accent2">
                    <a:lumMod val="75000"/>
                  </a:schemeClr>
                </a:solidFill>
                <a:latin typeface="Consolas" panose="020B0609020204030204" pitchFamily="49" charset="0"/>
              </a:rPr>
              <a:t>dbatest</a:t>
            </a:r>
            <a:r>
              <a:rPr lang="en-US" sz="1800" dirty="0">
                <a:solidFill>
                  <a:srgbClr val="333333"/>
                </a:solidFill>
                <a:latin typeface="Consolas" panose="020B0609020204030204" pitchFamily="49" charset="0"/>
              </a:rPr>
              <a:t> -Query </a:t>
            </a:r>
            <a:r>
              <a:rPr lang="en-US" sz="1800" dirty="0">
                <a:solidFill>
                  <a:schemeClr val="accent2">
                    <a:lumMod val="75000"/>
                  </a:schemeClr>
                </a:solidFill>
                <a:latin typeface="Consolas" panose="020B0609020204030204" pitchFamily="49" charset="0"/>
              </a:rPr>
              <a:t>"SELECT * FROM t1"</a:t>
            </a:r>
          </a:p>
          <a:p>
            <a:pPr marL="0" indent="0">
              <a:buNone/>
            </a:pPr>
            <a:r>
              <a:rPr lang="en-US" sz="1800" dirty="0">
                <a:solidFill>
                  <a:schemeClr val="tx2">
                    <a:lumMod val="75000"/>
                    <a:lumOff val="25000"/>
                  </a:schemeClr>
                </a:solidFill>
                <a:latin typeface="Consolas" panose="020B0609020204030204" pitchFamily="49" charset="0"/>
              </a:rPr>
              <a:t>Write-</a:t>
            </a:r>
            <a:r>
              <a:rPr lang="en-US" sz="1800" dirty="0" err="1">
                <a:solidFill>
                  <a:schemeClr val="tx2">
                    <a:lumMod val="75000"/>
                    <a:lumOff val="25000"/>
                  </a:schemeClr>
                </a:solidFill>
                <a:latin typeface="Consolas" panose="020B0609020204030204" pitchFamily="49" charset="0"/>
              </a:rPr>
              <a:t>DbaDbTableData</a:t>
            </a:r>
            <a:r>
              <a:rPr lang="en-US" sz="1800" dirty="0">
                <a:solidFill>
                  <a:srgbClr val="333333"/>
                </a:solidFill>
                <a:latin typeface="Consolas" panose="020B0609020204030204" pitchFamily="49" charset="0"/>
              </a:rPr>
              <a:t> </a:t>
            </a:r>
            <a:r>
              <a:rPr lang="en-US" sz="1800" dirty="0">
                <a:latin typeface="Consolas" panose="020B0609020204030204" pitchFamily="49" charset="0"/>
              </a:rPr>
              <a:t>-</a:t>
            </a:r>
            <a:r>
              <a:rPr lang="en-US" sz="1800" dirty="0" err="1">
                <a:latin typeface="Consolas" panose="020B0609020204030204" pitchFamily="49" charset="0"/>
              </a:rPr>
              <a:t>SqlInstance</a:t>
            </a:r>
            <a:r>
              <a:rPr lang="en-US" sz="1800" dirty="0">
                <a:latin typeface="Consolas" panose="020B0609020204030204" pitchFamily="49" charset="0"/>
              </a:rPr>
              <a:t> </a:t>
            </a:r>
            <a:r>
              <a:rPr lang="en-US" sz="1800" dirty="0" err="1">
                <a:solidFill>
                  <a:schemeClr val="accent2">
                    <a:lumMod val="75000"/>
                  </a:schemeClr>
                </a:solidFill>
                <a:latin typeface="Consolas" panose="020B0609020204030204" pitchFamily="49" charset="0"/>
              </a:rPr>
              <a:t>haripriya</a:t>
            </a:r>
            <a:r>
              <a:rPr lang="en-US" sz="1800" dirty="0">
                <a:solidFill>
                  <a:schemeClr val="accent2">
                    <a:lumMod val="75000"/>
                  </a:schemeClr>
                </a:solidFill>
                <a:latin typeface="Consolas" panose="020B0609020204030204" pitchFamily="49" charset="0"/>
              </a:rPr>
              <a:t>\sql2019  </a:t>
            </a:r>
            <a:r>
              <a:rPr lang="en-US" sz="1800" dirty="0">
                <a:solidFill>
                  <a:srgbClr val="333333"/>
                </a:solidFill>
                <a:latin typeface="Consolas" panose="020B0609020204030204" pitchFamily="49" charset="0"/>
              </a:rPr>
              <a:t>-</a:t>
            </a:r>
            <a:r>
              <a:rPr lang="en-US" sz="1800" dirty="0" err="1">
                <a:solidFill>
                  <a:srgbClr val="333333"/>
                </a:solidFill>
                <a:latin typeface="Consolas" panose="020B0609020204030204" pitchFamily="49" charset="0"/>
              </a:rPr>
              <a:t>InputObject</a:t>
            </a:r>
            <a:r>
              <a:rPr lang="en-US" sz="1800" dirty="0">
                <a:solidFill>
                  <a:srgbClr val="333333"/>
                </a:solidFill>
                <a:latin typeface="Consolas" panose="020B0609020204030204" pitchFamily="49" charset="0"/>
              </a:rPr>
              <a:t> </a:t>
            </a:r>
            <a:r>
              <a:rPr lang="en-US" sz="1800" dirty="0">
                <a:solidFill>
                  <a:schemeClr val="accent2">
                    <a:lumMod val="75000"/>
                  </a:schemeClr>
                </a:solidFill>
                <a:latin typeface="Consolas" panose="020B0609020204030204" pitchFamily="49" charset="0"/>
              </a:rPr>
              <a:t>$</a:t>
            </a:r>
            <a:r>
              <a:rPr lang="en-US" sz="1800" dirty="0" err="1">
                <a:solidFill>
                  <a:schemeClr val="accent2">
                    <a:lumMod val="75000"/>
                  </a:schemeClr>
                </a:solidFill>
                <a:latin typeface="Consolas" panose="020B0609020204030204" pitchFamily="49" charset="0"/>
              </a:rPr>
              <a:t>DataTable</a:t>
            </a:r>
            <a:r>
              <a:rPr lang="en-US" sz="1800" dirty="0">
                <a:solidFill>
                  <a:schemeClr val="accent2">
                    <a:lumMod val="75000"/>
                  </a:schemeClr>
                </a:solidFill>
                <a:latin typeface="Consolas" panose="020B0609020204030204" pitchFamily="49" charset="0"/>
              </a:rPr>
              <a:t> </a:t>
            </a:r>
            <a:r>
              <a:rPr lang="en-US" sz="1800" dirty="0">
                <a:solidFill>
                  <a:srgbClr val="333333"/>
                </a:solidFill>
                <a:latin typeface="Consolas" panose="020B0609020204030204" pitchFamily="49" charset="0"/>
              </a:rPr>
              <a:t>-Database </a:t>
            </a:r>
            <a:r>
              <a:rPr lang="en-US" sz="1800" dirty="0" err="1">
                <a:solidFill>
                  <a:schemeClr val="accent2">
                    <a:lumMod val="75000"/>
                  </a:schemeClr>
                </a:solidFill>
                <a:latin typeface="Consolas" panose="020B0609020204030204" pitchFamily="49" charset="0"/>
              </a:rPr>
              <a:t>dbatest</a:t>
            </a:r>
            <a:r>
              <a:rPr lang="en-US" sz="1800" dirty="0">
                <a:solidFill>
                  <a:srgbClr val="333333"/>
                </a:solidFill>
                <a:latin typeface="Consolas" panose="020B0609020204030204" pitchFamily="49" charset="0"/>
              </a:rPr>
              <a:t> -Table </a:t>
            </a:r>
            <a:r>
              <a:rPr lang="en-US" sz="1800" dirty="0">
                <a:solidFill>
                  <a:schemeClr val="accent2">
                    <a:lumMod val="75000"/>
                  </a:schemeClr>
                </a:solidFill>
                <a:latin typeface="Consolas" panose="020B0609020204030204" pitchFamily="49" charset="0"/>
              </a:rPr>
              <a:t>dbo.t1</a:t>
            </a:r>
          </a:p>
          <a:p>
            <a:pPr marL="0" indent="0">
              <a:buNone/>
            </a:pPr>
            <a:endParaRPr lang="en-US" sz="2000" dirty="0">
              <a:solidFill>
                <a:schemeClr val="accent2">
                  <a:lumMod val="75000"/>
                </a:schemeClr>
              </a:solidFill>
              <a:latin typeface="Consolas" panose="020B0609020204030204" pitchFamily="49" charset="0"/>
            </a:endParaRPr>
          </a:p>
          <a:p>
            <a:r>
              <a:rPr lang="en-US" sz="2400" dirty="0">
                <a:solidFill>
                  <a:srgbClr val="161616"/>
                </a:solidFill>
                <a:latin typeface="Segoe UI" panose="020B0502040204020203" pitchFamily="34" charset="0"/>
              </a:rPr>
              <a:t>Writes data to SQL Server table using SQL Bulk Copy</a:t>
            </a:r>
          </a:p>
          <a:p>
            <a:r>
              <a:rPr lang="en-US" sz="2400" dirty="0">
                <a:solidFill>
                  <a:srgbClr val="161616"/>
                </a:solidFill>
                <a:latin typeface="Segoe UI" panose="020B0502040204020203" pitchFamily="34" charset="0"/>
              </a:rPr>
              <a:t>Import into table from csv</a:t>
            </a:r>
          </a:p>
          <a:p>
            <a:r>
              <a:rPr lang="en-US" sz="2400" dirty="0">
                <a:solidFill>
                  <a:srgbClr val="161616"/>
                </a:solidFill>
                <a:latin typeface="Segoe UI" panose="020B0502040204020203" pitchFamily="34" charset="0"/>
              </a:rPr>
              <a:t>This will buffer the contents of that table in memory of the machine running the commands.</a:t>
            </a:r>
          </a:p>
          <a:p>
            <a:r>
              <a:rPr lang="en-US" sz="2400" dirty="0">
                <a:solidFill>
                  <a:srgbClr val="161616"/>
                </a:solidFill>
                <a:latin typeface="Segoe UI" panose="020B0502040204020203" pitchFamily="34" charset="0"/>
              </a:rPr>
              <a:t>By default, this operation will lock the destination table while running.</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239489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F7B5-773A-6DB5-7B74-C1770010C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FDB00-1AAB-74CB-A91F-72424D3E619B}"/>
              </a:ext>
            </a:extLst>
          </p:cNvPr>
          <p:cNvSpPr>
            <a:spLocks noGrp="1"/>
          </p:cNvSpPr>
          <p:nvPr>
            <p:ph type="title"/>
          </p:nvPr>
        </p:nvSpPr>
        <p:spPr>
          <a:xfrm>
            <a:off x="838200" y="681037"/>
            <a:ext cx="10515600" cy="1325563"/>
          </a:xfrm>
        </p:spPr>
        <p:txBody>
          <a:bodyPr>
            <a:normAutofit fontScale="90000"/>
          </a:bodyPr>
          <a:lstStyle/>
          <a:p>
            <a:r>
              <a:rPr lang="en-US" sz="5300" b="1" dirty="0">
                <a:solidFill>
                  <a:schemeClr val="accent2">
                    <a:lumMod val="75000"/>
                  </a:schemeClr>
                </a:solidFill>
              </a:rPr>
              <a:t>6.2 Copy-</a:t>
            </a:r>
            <a:r>
              <a:rPr lang="en-US" sz="5300" b="1" dirty="0" err="1">
                <a:solidFill>
                  <a:schemeClr val="accent2">
                    <a:lumMod val="75000"/>
                  </a:schemeClr>
                </a:solidFill>
              </a:rPr>
              <a:t>DbaDbTableData</a:t>
            </a:r>
            <a:br>
              <a:rPr lang="en-US" sz="3600" dirty="0"/>
            </a:br>
            <a:endParaRPr lang="en-US" sz="5400" b="1" dirty="0">
              <a:solidFill>
                <a:schemeClr val="accent2">
                  <a:lumMod val="75000"/>
                </a:schemeClr>
              </a:solidFill>
            </a:endParaRPr>
          </a:p>
        </p:txBody>
      </p:sp>
      <p:sp>
        <p:nvSpPr>
          <p:cNvPr id="3" name="Content Placeholder 2">
            <a:extLst>
              <a:ext uri="{FF2B5EF4-FFF2-40B4-BE49-F238E27FC236}">
                <a16:creationId xmlns:a16="http://schemas.microsoft.com/office/drawing/2014/main" id="{2F89BB9B-35DA-D97B-79BF-15DFB3F17DB2}"/>
              </a:ext>
            </a:extLst>
          </p:cNvPr>
          <p:cNvSpPr>
            <a:spLocks noGrp="1"/>
          </p:cNvSpPr>
          <p:nvPr>
            <p:ph idx="1"/>
          </p:nvPr>
        </p:nvSpPr>
        <p:spPr>
          <a:xfrm>
            <a:off x="838200" y="1825624"/>
            <a:ext cx="12356690" cy="4565343"/>
          </a:xfrm>
        </p:spPr>
        <p:txBody>
          <a:bodyPr>
            <a:normAutofit/>
          </a:bodyPr>
          <a:lstStyle/>
          <a:p>
            <a:pPr marL="0" indent="0">
              <a:buNone/>
            </a:pPr>
            <a:r>
              <a:rPr lang="en-US" sz="1800" dirty="0">
                <a:solidFill>
                  <a:schemeClr val="tx2">
                    <a:lumMod val="75000"/>
                    <a:lumOff val="25000"/>
                  </a:schemeClr>
                </a:solidFill>
                <a:latin typeface="Consolas" panose="020B0609020204030204" pitchFamily="49" charset="0"/>
              </a:rPr>
              <a:t>Copy-</a:t>
            </a:r>
            <a:r>
              <a:rPr lang="en-US" sz="1800" dirty="0" err="1">
                <a:solidFill>
                  <a:schemeClr val="tx2">
                    <a:lumMod val="75000"/>
                    <a:lumOff val="25000"/>
                  </a:schemeClr>
                </a:solidFill>
                <a:latin typeface="Consolas" panose="020B0609020204030204" pitchFamily="49" charset="0"/>
              </a:rPr>
              <a:t>DbaDbTableData</a:t>
            </a:r>
            <a:r>
              <a:rPr lang="en-US" sz="1800" dirty="0"/>
              <a:t> </a:t>
            </a:r>
            <a:r>
              <a:rPr lang="en-US" sz="1800" dirty="0">
                <a:latin typeface="Consolas" panose="020B0609020204030204" pitchFamily="49" charset="0"/>
              </a:rPr>
              <a:t>-</a:t>
            </a:r>
            <a:r>
              <a:rPr lang="en-US" sz="1800" dirty="0" err="1">
                <a:latin typeface="Consolas" panose="020B0609020204030204" pitchFamily="49" charset="0"/>
              </a:rPr>
              <a:t>SqlInstance</a:t>
            </a:r>
            <a:r>
              <a:rPr lang="en-US" sz="1800" dirty="0">
                <a:latin typeface="Consolas" panose="020B0609020204030204" pitchFamily="49" charset="0"/>
              </a:rPr>
              <a:t> </a:t>
            </a:r>
            <a:r>
              <a:rPr lang="en-US" sz="1800" dirty="0">
                <a:solidFill>
                  <a:schemeClr val="accent2">
                    <a:lumMod val="75000"/>
                  </a:schemeClr>
                </a:solidFill>
                <a:latin typeface="Consolas" panose="020B0609020204030204" pitchFamily="49" charset="0"/>
              </a:rPr>
              <a:t>Server1 </a:t>
            </a:r>
            <a:r>
              <a:rPr lang="en-US" sz="1800" dirty="0">
                <a:latin typeface="Consolas" panose="020B0609020204030204" pitchFamily="49" charset="0"/>
              </a:rPr>
              <a:t>-Destination </a:t>
            </a:r>
            <a:r>
              <a:rPr lang="en-US" sz="1800" dirty="0">
                <a:solidFill>
                  <a:schemeClr val="accent2">
                    <a:lumMod val="75000"/>
                  </a:schemeClr>
                </a:solidFill>
                <a:latin typeface="Consolas" panose="020B0609020204030204" pitchFamily="49" charset="0"/>
              </a:rPr>
              <a:t>Server2 </a:t>
            </a:r>
            <a:r>
              <a:rPr lang="en-US" sz="1800" dirty="0">
                <a:latin typeface="Consolas" panose="020B0609020204030204" pitchFamily="49" charset="0"/>
              </a:rPr>
              <a:t>-Database </a:t>
            </a:r>
            <a:r>
              <a:rPr lang="en-US" sz="1800" dirty="0" err="1">
                <a:solidFill>
                  <a:schemeClr val="accent2">
                    <a:lumMod val="75000"/>
                  </a:schemeClr>
                </a:solidFill>
                <a:latin typeface="Consolas" panose="020B0609020204030204" pitchFamily="49" charset="0"/>
              </a:rPr>
              <a:t>dbatest</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-Table </a:t>
            </a:r>
            <a:r>
              <a:rPr lang="en-US" sz="1800" dirty="0">
                <a:solidFill>
                  <a:schemeClr val="accent2">
                    <a:lumMod val="75000"/>
                  </a:schemeClr>
                </a:solidFill>
                <a:latin typeface="Consolas" panose="020B0609020204030204" pitchFamily="49" charset="0"/>
              </a:rPr>
              <a:t>dbo.t1</a:t>
            </a:r>
          </a:p>
          <a:p>
            <a:pPr marL="0" indent="0">
              <a:buNone/>
            </a:pPr>
            <a:endParaRPr lang="en-US" sz="1800" dirty="0">
              <a:solidFill>
                <a:schemeClr val="accent2">
                  <a:lumMod val="75000"/>
                </a:schemeClr>
              </a:solidFill>
              <a:latin typeface="Consolas" panose="020B0609020204030204" pitchFamily="49" charset="0"/>
            </a:endParaRPr>
          </a:p>
          <a:p>
            <a:r>
              <a:rPr lang="en-US" sz="2400" dirty="0">
                <a:solidFill>
                  <a:srgbClr val="161616"/>
                </a:solidFill>
                <a:latin typeface="Segoe UI" panose="020B0502040204020203" pitchFamily="34" charset="0"/>
                <a:cs typeface="Segoe UI" panose="020B0502040204020203" pitchFamily="34" charset="0"/>
              </a:rPr>
              <a:t>Copies data between SQL Server tables using SQL Bulk Copy.</a:t>
            </a:r>
          </a:p>
          <a:p>
            <a:r>
              <a:rPr lang="en-US" sz="2400" dirty="0">
                <a:solidFill>
                  <a:srgbClr val="161616"/>
                </a:solidFill>
                <a:latin typeface="Segoe UI" panose="020B0502040204020203" pitchFamily="34" charset="0"/>
                <a:cs typeface="Segoe UI" panose="020B0502040204020203" pitchFamily="34" charset="0"/>
              </a:rPr>
              <a:t>Faster than </a:t>
            </a:r>
            <a:r>
              <a:rPr lang="en-US" sz="2400" dirty="0">
                <a:solidFill>
                  <a:schemeClr val="tx2">
                    <a:lumMod val="75000"/>
                    <a:lumOff val="25000"/>
                  </a:schemeClr>
                </a:solidFill>
                <a:latin typeface="Segoe UI" panose="020B0502040204020203" pitchFamily="34" charset="0"/>
                <a:cs typeface="Segoe UI" panose="020B0502040204020203" pitchFamily="34" charset="0"/>
              </a:rPr>
              <a:t>Write-</a:t>
            </a:r>
            <a:r>
              <a:rPr lang="en-US" sz="2400" dirty="0" err="1">
                <a:solidFill>
                  <a:schemeClr val="tx2">
                    <a:lumMod val="75000"/>
                    <a:lumOff val="25000"/>
                  </a:schemeClr>
                </a:solidFill>
                <a:latin typeface="Segoe UI" panose="020B0502040204020203" pitchFamily="34" charset="0"/>
                <a:cs typeface="Segoe UI" panose="020B0502040204020203" pitchFamily="34" charset="0"/>
              </a:rPr>
              <a:t>DbaDbTableData</a:t>
            </a:r>
            <a:endParaRPr lang="en-US" sz="2400" dirty="0">
              <a:solidFill>
                <a:schemeClr val="tx2">
                  <a:lumMod val="75000"/>
                  <a:lumOff val="25000"/>
                </a:schemeClr>
              </a:solidFill>
              <a:latin typeface="Segoe UI" panose="020B0502040204020203" pitchFamily="34" charset="0"/>
              <a:cs typeface="Segoe UI" panose="020B0502040204020203" pitchFamily="34" charset="0"/>
            </a:endParaRPr>
          </a:p>
          <a:p>
            <a:r>
              <a:rPr lang="en-US" sz="2400" dirty="0">
                <a:solidFill>
                  <a:srgbClr val="212529"/>
                </a:solidFill>
                <a:latin typeface="Segoe UI" panose="020B0502040204020203" pitchFamily="34" charset="0"/>
                <a:cs typeface="Segoe UI" panose="020B0502040204020203" pitchFamily="34" charset="0"/>
              </a:rPr>
              <a:t>L</a:t>
            </a:r>
            <a:r>
              <a:rPr lang="en-US" sz="2400" dirty="0">
                <a:solidFill>
                  <a:srgbClr val="161616"/>
                </a:solidFill>
                <a:latin typeface="Segoe UI" panose="020B0502040204020203" pitchFamily="34" charset="0"/>
                <a:cs typeface="Segoe UI" panose="020B0502040204020203" pitchFamily="34" charset="0"/>
              </a:rPr>
              <a:t>east resource-intensive way</a:t>
            </a:r>
          </a:p>
          <a:p>
            <a:r>
              <a:rPr lang="en-US" sz="2400" dirty="0">
                <a:solidFill>
                  <a:srgbClr val="161616"/>
                </a:solidFill>
                <a:latin typeface="Segoe UI" panose="020B0502040204020203" pitchFamily="34" charset="0"/>
                <a:cs typeface="Segoe UI" panose="020B0502040204020203" pitchFamily="34" charset="0"/>
              </a:rPr>
              <a:t>Does not buffer the contents in memory of the machine running commands </a:t>
            </a:r>
          </a:p>
          <a:p>
            <a:r>
              <a:rPr lang="en-US" sz="2400" dirty="0">
                <a:solidFill>
                  <a:srgbClr val="161616"/>
                </a:solidFill>
                <a:latin typeface="Segoe UI" panose="020B0502040204020203" pitchFamily="34" charset="0"/>
                <a:cs typeface="Segoe UI" panose="020B0502040204020203" pitchFamily="34" charset="0"/>
              </a:rPr>
              <a:t>By default, this operation will lock the destination table while running.</a:t>
            </a:r>
          </a:p>
          <a:p>
            <a:r>
              <a:rPr lang="en-US" sz="2400" dirty="0">
                <a:solidFill>
                  <a:srgbClr val="161616"/>
                </a:solidFill>
                <a:latin typeface="Segoe UI" panose="020B0502040204020203" pitchFamily="34" charset="0"/>
                <a:cs typeface="Segoe UI" panose="020B0502040204020203" pitchFamily="34" charset="0"/>
              </a:rPr>
              <a:t>Specify –</a:t>
            </a:r>
            <a:r>
              <a:rPr lang="en-US" sz="2400" dirty="0" err="1">
                <a:solidFill>
                  <a:srgbClr val="161616"/>
                </a:solidFill>
                <a:latin typeface="Segoe UI" panose="020B0502040204020203" pitchFamily="34" charset="0"/>
                <a:cs typeface="Segoe UI" panose="020B0502040204020203" pitchFamily="34" charset="0"/>
              </a:rPr>
              <a:t>NoTableLock</a:t>
            </a:r>
            <a:r>
              <a:rPr lang="en-US" sz="2400" dirty="0">
                <a:solidFill>
                  <a:srgbClr val="161616"/>
                </a:solidFill>
                <a:latin typeface="Segoe UI" panose="020B0502040204020203" pitchFamily="34" charset="0"/>
                <a:cs typeface="Segoe UI" panose="020B0502040204020203" pitchFamily="34" charset="0"/>
              </a:rPr>
              <a:t> if needed, but makes it slower</a:t>
            </a:r>
          </a:p>
          <a:p>
            <a:r>
              <a:rPr lang="en-US" sz="2400" dirty="0">
                <a:solidFill>
                  <a:srgbClr val="161616"/>
                </a:solidFill>
                <a:latin typeface="Segoe UI" panose="020B0502040204020203" pitchFamily="34" charset="0"/>
                <a:cs typeface="Segoe UI" panose="020B0502040204020203" pitchFamily="34" charset="0"/>
              </a:rPr>
              <a:t>Default batchsize = 50000</a:t>
            </a:r>
          </a:p>
          <a:p>
            <a:endParaRPr lang="en-US" b="0" i="0" dirty="0">
              <a:solidFill>
                <a:srgbClr val="212529"/>
              </a:solidFill>
              <a:effectLst/>
              <a:latin typeface="-apple-system"/>
            </a:endParaRP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62746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0BCC-D0E4-3637-8086-77854EC6F7C8}"/>
              </a:ext>
            </a:extLst>
          </p:cNvPr>
          <p:cNvSpPr>
            <a:spLocks noGrp="1"/>
          </p:cNvSpPr>
          <p:nvPr>
            <p:ph type="title"/>
          </p:nvPr>
        </p:nvSpPr>
        <p:spPr/>
        <p:txBody>
          <a:bodyPr/>
          <a:lstStyle/>
          <a:p>
            <a:r>
              <a:rPr lang="en-US" sz="4800" b="1" dirty="0">
                <a:solidFill>
                  <a:schemeClr val="accent2">
                    <a:lumMod val="75000"/>
                  </a:schemeClr>
                </a:solidFill>
              </a:rPr>
              <a:t>6.3 Script</a:t>
            </a:r>
          </a:p>
        </p:txBody>
      </p:sp>
      <p:sp>
        <p:nvSpPr>
          <p:cNvPr id="3" name="Content Placeholder 2">
            <a:extLst>
              <a:ext uri="{FF2B5EF4-FFF2-40B4-BE49-F238E27FC236}">
                <a16:creationId xmlns:a16="http://schemas.microsoft.com/office/drawing/2014/main" id="{C240F9A8-A110-24E9-B312-ACBEC90154DC}"/>
              </a:ext>
            </a:extLst>
          </p:cNvPr>
          <p:cNvSpPr>
            <a:spLocks noGrp="1"/>
          </p:cNvSpPr>
          <p:nvPr>
            <p:ph idx="1"/>
          </p:nvPr>
        </p:nvSpPr>
        <p:spPr/>
        <p:txBody>
          <a:bodyPr>
            <a:normAutofit fontScale="55000" lnSpcReduction="20000"/>
          </a:bodyPr>
          <a:lstStyle/>
          <a:p>
            <a:pPr marL="0" indent="0">
              <a:buNone/>
            </a:pPr>
            <a:r>
              <a:rPr lang="en-US" sz="3600" dirty="0">
                <a:solidFill>
                  <a:schemeClr val="tx2">
                    <a:lumMod val="75000"/>
                    <a:lumOff val="25000"/>
                  </a:schemeClr>
                </a:solidFill>
                <a:latin typeface="Segoe UI" panose="020B0502040204020203" pitchFamily="34" charset="0"/>
              </a:rPr>
              <a:t>$params </a:t>
            </a:r>
            <a:r>
              <a:rPr lang="en-US" sz="3600" dirty="0">
                <a:solidFill>
                  <a:srgbClr val="161616"/>
                </a:solidFill>
                <a:latin typeface="Segoe UI" panose="020B0502040204020203" pitchFamily="34" charset="0"/>
              </a:rPr>
              <a:t>= @{</a:t>
            </a:r>
          </a:p>
          <a:p>
            <a:pPr marL="0" indent="0">
              <a:buNone/>
            </a:pPr>
            <a:r>
              <a:rPr lang="en-US" sz="3600" dirty="0">
                <a:solidFill>
                  <a:srgbClr val="161616"/>
                </a:solidFill>
                <a:latin typeface="Segoe UI" panose="020B0502040204020203" pitchFamily="34" charset="0"/>
              </a:rPr>
              <a:t> </a:t>
            </a:r>
            <a:r>
              <a:rPr lang="en-US" sz="3600" dirty="0" err="1">
                <a:solidFill>
                  <a:srgbClr val="161616"/>
                </a:solidFill>
                <a:latin typeface="Segoe UI" panose="020B0502040204020203" pitchFamily="34" charset="0"/>
              </a:rPr>
              <a:t>SqlInstance</a:t>
            </a:r>
            <a:r>
              <a:rPr lang="en-US" sz="3600" dirty="0">
                <a:solidFill>
                  <a:srgbClr val="161616"/>
                </a:solidFill>
                <a:latin typeface="Segoe UI" panose="020B0502040204020203" pitchFamily="34" charset="0"/>
              </a:rPr>
              <a:t> = ‘Server1'</a:t>
            </a:r>
          </a:p>
          <a:p>
            <a:pPr marL="0" indent="0">
              <a:buNone/>
            </a:pPr>
            <a:r>
              <a:rPr lang="en-US" sz="3600" dirty="0">
                <a:solidFill>
                  <a:srgbClr val="161616"/>
                </a:solidFill>
                <a:latin typeface="Segoe UI" panose="020B0502040204020203" pitchFamily="34" charset="0"/>
              </a:rPr>
              <a:t> Destination = ‘Server2'</a:t>
            </a:r>
          </a:p>
          <a:p>
            <a:pPr marL="0" indent="0">
              <a:buNone/>
            </a:pPr>
            <a:r>
              <a:rPr lang="en-US" sz="3600" dirty="0">
                <a:solidFill>
                  <a:srgbClr val="161616"/>
                </a:solidFill>
                <a:latin typeface="Segoe UI" panose="020B0502040204020203" pitchFamily="34" charset="0"/>
              </a:rPr>
              <a:t> Database = 'AdventureWorks2017'</a:t>
            </a:r>
          </a:p>
          <a:p>
            <a:pPr marL="0" indent="0">
              <a:buNone/>
            </a:pPr>
            <a:r>
              <a:rPr lang="en-US" sz="3600" dirty="0">
                <a:solidFill>
                  <a:srgbClr val="161616"/>
                </a:solidFill>
                <a:latin typeface="Segoe UI" panose="020B0502040204020203" pitchFamily="34" charset="0"/>
              </a:rPr>
              <a:t> </a:t>
            </a:r>
            <a:r>
              <a:rPr lang="en-US" sz="3600" dirty="0" err="1">
                <a:solidFill>
                  <a:srgbClr val="161616"/>
                </a:solidFill>
                <a:latin typeface="Segoe UI" panose="020B0502040204020203" pitchFamily="34" charset="0"/>
              </a:rPr>
              <a:t>DestinationDatabase</a:t>
            </a:r>
            <a:r>
              <a:rPr lang="en-US" sz="3600" dirty="0">
                <a:solidFill>
                  <a:srgbClr val="161616"/>
                </a:solidFill>
                <a:latin typeface="Segoe UI" panose="020B0502040204020203" pitchFamily="34" charset="0"/>
              </a:rPr>
              <a:t> = 'AdventureWorks2017'</a:t>
            </a:r>
          </a:p>
          <a:p>
            <a:pPr marL="0" indent="0">
              <a:buNone/>
            </a:pPr>
            <a:r>
              <a:rPr lang="en-US" sz="3600" dirty="0">
                <a:solidFill>
                  <a:srgbClr val="161616"/>
                </a:solidFill>
                <a:latin typeface="Segoe UI" panose="020B0502040204020203" pitchFamily="34" charset="0"/>
              </a:rPr>
              <a:t> </a:t>
            </a:r>
            <a:r>
              <a:rPr lang="en-US" sz="3600" dirty="0" err="1">
                <a:solidFill>
                  <a:srgbClr val="161616"/>
                </a:solidFill>
                <a:latin typeface="Segoe UI" panose="020B0502040204020203" pitchFamily="34" charset="0"/>
              </a:rPr>
              <a:t>DestinationTable</a:t>
            </a:r>
            <a:r>
              <a:rPr lang="en-US" sz="3600" dirty="0">
                <a:solidFill>
                  <a:srgbClr val="161616"/>
                </a:solidFill>
                <a:latin typeface="Segoe UI" panose="020B0502040204020203" pitchFamily="34" charset="0"/>
              </a:rPr>
              <a:t> = '[AdventureWorks2017].[Person].[</a:t>
            </a:r>
            <a:r>
              <a:rPr lang="en-US" sz="3600" dirty="0" err="1">
                <a:solidFill>
                  <a:srgbClr val="161616"/>
                </a:solidFill>
                <a:latin typeface="Segoe UI" panose="020B0502040204020203" pitchFamily="34" charset="0"/>
              </a:rPr>
              <a:t>EmailPromotion</a:t>
            </a:r>
            <a:r>
              <a:rPr lang="en-US" sz="3600" dirty="0">
                <a:solidFill>
                  <a:srgbClr val="161616"/>
                </a:solidFill>
                <a:latin typeface="Segoe UI" panose="020B0502040204020203" pitchFamily="34" charset="0"/>
              </a:rPr>
              <a:t>]'</a:t>
            </a:r>
          </a:p>
          <a:p>
            <a:pPr marL="0" indent="0">
              <a:buNone/>
            </a:pPr>
            <a:r>
              <a:rPr lang="en-US" sz="3600" dirty="0">
                <a:solidFill>
                  <a:srgbClr val="161616"/>
                </a:solidFill>
                <a:latin typeface="Segoe UI" panose="020B0502040204020203" pitchFamily="34" charset="0"/>
              </a:rPr>
              <a:t> </a:t>
            </a:r>
            <a:r>
              <a:rPr lang="en-US" sz="3600" dirty="0" err="1">
                <a:solidFill>
                  <a:srgbClr val="161616"/>
                </a:solidFill>
                <a:latin typeface="Segoe UI" panose="020B0502040204020203" pitchFamily="34" charset="0"/>
              </a:rPr>
              <a:t>BatchSize</a:t>
            </a:r>
            <a:r>
              <a:rPr lang="en-US" sz="3600" dirty="0">
                <a:solidFill>
                  <a:srgbClr val="161616"/>
                </a:solidFill>
                <a:latin typeface="Segoe UI" panose="020B0502040204020203" pitchFamily="34" charset="0"/>
              </a:rPr>
              <a:t> = 10000</a:t>
            </a:r>
          </a:p>
          <a:p>
            <a:pPr marL="0" indent="0">
              <a:buNone/>
            </a:pPr>
            <a:r>
              <a:rPr lang="en-US" sz="3600" dirty="0">
                <a:solidFill>
                  <a:srgbClr val="161616"/>
                </a:solidFill>
                <a:latin typeface="Segoe UI" panose="020B0502040204020203" pitchFamily="34" charset="0"/>
              </a:rPr>
              <a:t> Table = '[</a:t>
            </a:r>
            <a:r>
              <a:rPr lang="en-US" sz="3600" dirty="0" err="1">
                <a:solidFill>
                  <a:srgbClr val="161616"/>
                </a:solidFill>
                <a:latin typeface="Segoe UI" panose="020B0502040204020203" pitchFamily="34" charset="0"/>
              </a:rPr>
              <a:t>OtherDb</a:t>
            </a:r>
            <a:r>
              <a:rPr lang="en-US" sz="3600" dirty="0">
                <a:solidFill>
                  <a:srgbClr val="161616"/>
                </a:solidFill>
                <a:latin typeface="Segoe UI" panose="020B0502040204020203" pitchFamily="34" charset="0"/>
              </a:rPr>
              <a:t>].[Person].[Person]'</a:t>
            </a:r>
          </a:p>
          <a:p>
            <a:pPr marL="0" indent="0">
              <a:buNone/>
            </a:pPr>
            <a:r>
              <a:rPr lang="en-US" sz="3600" dirty="0">
                <a:solidFill>
                  <a:srgbClr val="161616"/>
                </a:solidFill>
                <a:latin typeface="Segoe UI" panose="020B0502040204020203" pitchFamily="34" charset="0"/>
              </a:rPr>
              <a:t> Query = "SELECT * FROM [</a:t>
            </a:r>
            <a:r>
              <a:rPr lang="en-US" sz="3600" dirty="0" err="1">
                <a:solidFill>
                  <a:srgbClr val="161616"/>
                </a:solidFill>
                <a:latin typeface="Segoe UI" panose="020B0502040204020203" pitchFamily="34" charset="0"/>
              </a:rPr>
              <a:t>OtherDb</a:t>
            </a:r>
            <a:r>
              <a:rPr lang="en-US" sz="3600" dirty="0">
                <a:solidFill>
                  <a:srgbClr val="161616"/>
                </a:solidFill>
                <a:latin typeface="Segoe UI" panose="020B0502040204020203" pitchFamily="34" charset="0"/>
              </a:rPr>
              <a:t>].[Person].[Person] where </a:t>
            </a:r>
            <a:r>
              <a:rPr lang="en-US" sz="3600" dirty="0" err="1">
                <a:solidFill>
                  <a:srgbClr val="161616"/>
                </a:solidFill>
                <a:latin typeface="Segoe UI" panose="020B0502040204020203" pitchFamily="34" charset="0"/>
              </a:rPr>
              <a:t>EmailPromotion</a:t>
            </a:r>
            <a:r>
              <a:rPr lang="en-US" sz="3600" dirty="0">
                <a:solidFill>
                  <a:srgbClr val="161616"/>
                </a:solidFill>
                <a:latin typeface="Segoe UI" panose="020B0502040204020203" pitchFamily="34" charset="0"/>
              </a:rPr>
              <a:t> = 1"</a:t>
            </a:r>
          </a:p>
          <a:p>
            <a:pPr marL="0" indent="0">
              <a:buNone/>
            </a:pPr>
            <a:r>
              <a:rPr lang="en-US" sz="3600" dirty="0">
                <a:solidFill>
                  <a:srgbClr val="161616"/>
                </a:solidFill>
                <a:latin typeface="Segoe UI" panose="020B0502040204020203" pitchFamily="34" charset="0"/>
              </a:rPr>
              <a:t> }</a:t>
            </a:r>
          </a:p>
          <a:p>
            <a:pPr marL="0" indent="0">
              <a:buNone/>
            </a:pPr>
            <a:endParaRPr lang="en-US" sz="3600" dirty="0">
              <a:solidFill>
                <a:srgbClr val="161616"/>
              </a:solidFill>
              <a:latin typeface="Segoe UI" panose="020B0502040204020203" pitchFamily="34" charset="0"/>
            </a:endParaRPr>
          </a:p>
          <a:p>
            <a:pPr marL="0" indent="0">
              <a:buNone/>
            </a:pPr>
            <a:r>
              <a:rPr lang="en-US" sz="3600" dirty="0">
                <a:solidFill>
                  <a:schemeClr val="tx2">
                    <a:lumMod val="75000"/>
                    <a:lumOff val="25000"/>
                  </a:schemeClr>
                </a:solidFill>
                <a:latin typeface="Segoe UI" panose="020B0502040204020203" pitchFamily="34" charset="0"/>
              </a:rPr>
              <a:t>Copy-</a:t>
            </a:r>
            <a:r>
              <a:rPr lang="en-US" sz="3600" dirty="0" err="1">
                <a:solidFill>
                  <a:schemeClr val="tx2">
                    <a:lumMod val="75000"/>
                    <a:lumOff val="25000"/>
                  </a:schemeClr>
                </a:solidFill>
                <a:latin typeface="Segoe UI" panose="020B0502040204020203" pitchFamily="34" charset="0"/>
              </a:rPr>
              <a:t>DbaDbTableData</a:t>
            </a:r>
            <a:r>
              <a:rPr lang="en-US" sz="3600" dirty="0">
                <a:solidFill>
                  <a:schemeClr val="tx2">
                    <a:lumMod val="75000"/>
                    <a:lumOff val="25000"/>
                  </a:schemeClr>
                </a:solidFill>
                <a:latin typeface="Segoe UI" panose="020B0502040204020203" pitchFamily="34" charset="0"/>
              </a:rPr>
              <a:t> </a:t>
            </a:r>
            <a:r>
              <a:rPr lang="en-US" sz="3600" dirty="0">
                <a:solidFill>
                  <a:srgbClr val="161616"/>
                </a:solidFill>
                <a:latin typeface="Segoe UI" panose="020B0502040204020203" pitchFamily="34" charset="0"/>
              </a:rPr>
              <a:t>@params</a:t>
            </a:r>
          </a:p>
          <a:p>
            <a:endParaRPr lang="en-US" dirty="0"/>
          </a:p>
        </p:txBody>
      </p:sp>
    </p:spTree>
    <p:extLst>
      <p:ext uri="{BB962C8B-B14F-4D97-AF65-F5344CB8AC3E}">
        <p14:creationId xmlns:p14="http://schemas.microsoft.com/office/powerpoint/2010/main" val="41720497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CA6D-7581-D567-2618-D3062D4B2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2888A-3CB6-F080-0FDF-7475AD9AE01B}"/>
              </a:ext>
            </a:extLst>
          </p:cNvPr>
          <p:cNvSpPr>
            <a:spLocks noGrp="1"/>
          </p:cNvSpPr>
          <p:nvPr>
            <p:ph type="title"/>
          </p:nvPr>
        </p:nvSpPr>
        <p:spPr/>
        <p:txBody>
          <a:bodyPr>
            <a:normAutofit fontScale="90000"/>
          </a:bodyPr>
          <a:lstStyle/>
          <a:p>
            <a:br>
              <a:rPr lang="en-US" sz="2000" dirty="0"/>
            </a:br>
            <a:r>
              <a:rPr lang="en-US" sz="5300" b="1" dirty="0">
                <a:solidFill>
                  <a:schemeClr val="accent2">
                    <a:lumMod val="75000"/>
                  </a:schemeClr>
                </a:solidFill>
              </a:rPr>
              <a:t>6.4 Import-</a:t>
            </a:r>
            <a:r>
              <a:rPr lang="en-US" sz="5300" b="1" dirty="0" err="1">
                <a:solidFill>
                  <a:schemeClr val="accent2">
                    <a:lumMod val="75000"/>
                  </a:schemeClr>
                </a:solidFill>
              </a:rPr>
              <a:t>DbaCsv</a:t>
            </a:r>
            <a:br>
              <a:rPr lang="en-US" sz="2000" dirty="0">
                <a:solidFill>
                  <a:srgbClr val="161616"/>
                </a:solidFill>
                <a:latin typeface="Segoe UI" panose="020B0502040204020203" pitchFamily="34" charset="0"/>
              </a:rPr>
            </a:br>
            <a:endParaRPr lang="en-US" sz="5400" b="1" dirty="0">
              <a:solidFill>
                <a:schemeClr val="accent2">
                  <a:lumMod val="75000"/>
                </a:schemeClr>
              </a:solidFill>
            </a:endParaRPr>
          </a:p>
        </p:txBody>
      </p:sp>
      <p:sp>
        <p:nvSpPr>
          <p:cNvPr id="3" name="Content Placeholder 2">
            <a:extLst>
              <a:ext uri="{FF2B5EF4-FFF2-40B4-BE49-F238E27FC236}">
                <a16:creationId xmlns:a16="http://schemas.microsoft.com/office/drawing/2014/main" id="{B1E5DEFD-77B4-DF2A-E0EB-314ABD804521}"/>
              </a:ext>
            </a:extLst>
          </p:cNvPr>
          <p:cNvSpPr>
            <a:spLocks noGrp="1"/>
          </p:cNvSpPr>
          <p:nvPr>
            <p:ph idx="1"/>
          </p:nvPr>
        </p:nvSpPr>
        <p:spPr>
          <a:xfrm>
            <a:off x="838199" y="1825625"/>
            <a:ext cx="11098161" cy="4351338"/>
          </a:xfrm>
        </p:spPr>
        <p:txBody>
          <a:bodyPr/>
          <a:lstStyle/>
          <a:p>
            <a:pPr marL="0" indent="0">
              <a:buNone/>
            </a:pPr>
            <a:r>
              <a:rPr lang="en-US" sz="2000" b="0" i="0" dirty="0">
                <a:solidFill>
                  <a:srgbClr val="333333"/>
                </a:solidFill>
                <a:effectLst/>
                <a:latin typeface="Consolas" panose="020B0609020204030204" pitchFamily="49" charset="0"/>
              </a:rPr>
              <a:t>PS C:\&gt; </a:t>
            </a:r>
            <a:r>
              <a:rPr lang="en-US" sz="2000" b="0" i="0" dirty="0">
                <a:solidFill>
                  <a:schemeClr val="tx2">
                    <a:lumMod val="75000"/>
                    <a:lumOff val="25000"/>
                  </a:schemeClr>
                </a:solidFill>
                <a:effectLst/>
                <a:latin typeface="Consolas" panose="020B0609020204030204" pitchFamily="49" charset="0"/>
              </a:rPr>
              <a:t>Import-</a:t>
            </a:r>
            <a:r>
              <a:rPr lang="en-US" sz="2000" b="0" i="0" dirty="0" err="1">
                <a:solidFill>
                  <a:schemeClr val="tx2">
                    <a:lumMod val="75000"/>
                    <a:lumOff val="25000"/>
                  </a:schemeClr>
                </a:solidFill>
                <a:effectLst/>
                <a:latin typeface="Consolas" panose="020B0609020204030204" pitchFamily="49" charset="0"/>
              </a:rPr>
              <a:t>DbaCsv</a:t>
            </a:r>
            <a:r>
              <a:rPr lang="en-US" sz="2000" b="0" i="0" dirty="0">
                <a:solidFill>
                  <a:srgbClr val="333333"/>
                </a:solidFill>
                <a:effectLst/>
                <a:latin typeface="Consolas" panose="020B0609020204030204" pitchFamily="49" charset="0"/>
              </a:rPr>
              <a:t> -Path </a:t>
            </a:r>
            <a:r>
              <a:rPr lang="en-US" sz="2000" b="0" i="0" dirty="0">
                <a:solidFill>
                  <a:schemeClr val="accent2">
                    <a:lumMod val="75000"/>
                  </a:schemeClr>
                </a:solidFill>
                <a:effectLst/>
                <a:latin typeface="Consolas" panose="020B0609020204030204" pitchFamily="49" charset="0"/>
              </a:rPr>
              <a:t>C:\SourceFile.csv</a:t>
            </a:r>
            <a:r>
              <a:rPr lang="en-US" sz="2000" b="0" i="0" dirty="0">
                <a:solidFill>
                  <a:srgbClr val="333333"/>
                </a:solidFill>
                <a:effectLst/>
                <a:latin typeface="Consolas" panose="020B0609020204030204" pitchFamily="49" charset="0"/>
              </a:rPr>
              <a:t> -</a:t>
            </a:r>
            <a:r>
              <a:rPr lang="en-US" sz="2000" b="0" i="0" dirty="0" err="1">
                <a:solidFill>
                  <a:srgbClr val="333333"/>
                </a:solidFill>
                <a:effectLst/>
                <a:latin typeface="Consolas" panose="020B0609020204030204" pitchFamily="49" charset="0"/>
              </a:rPr>
              <a:t>SqlInstance</a:t>
            </a:r>
            <a:r>
              <a:rPr lang="en-US" sz="2000" b="0" i="0" dirty="0">
                <a:solidFill>
                  <a:srgbClr val="333333"/>
                </a:solidFill>
                <a:effectLst/>
                <a:latin typeface="Consolas" panose="020B0609020204030204" pitchFamily="49" charset="0"/>
              </a:rPr>
              <a:t> </a:t>
            </a:r>
            <a:r>
              <a:rPr lang="en-US" sz="2000" b="0" i="0" dirty="0">
                <a:solidFill>
                  <a:schemeClr val="accent2">
                    <a:lumMod val="75000"/>
                  </a:schemeClr>
                </a:solidFill>
                <a:effectLst/>
                <a:latin typeface="Consolas" panose="020B0609020204030204" pitchFamily="49" charset="0"/>
              </a:rPr>
              <a:t>sql1</a:t>
            </a:r>
            <a:r>
              <a:rPr lang="en-US" sz="2000" b="0" i="0" dirty="0">
                <a:solidFill>
                  <a:srgbClr val="333333"/>
                </a:solidFill>
                <a:effectLst/>
                <a:latin typeface="Consolas" panose="020B0609020204030204" pitchFamily="49" charset="0"/>
              </a:rPr>
              <a:t> -Database </a:t>
            </a:r>
            <a:r>
              <a:rPr lang="en-US" sz="2000" b="0" i="0" dirty="0" err="1">
                <a:solidFill>
                  <a:schemeClr val="accent2">
                    <a:lumMod val="75000"/>
                  </a:schemeClr>
                </a:solidFill>
                <a:effectLst/>
                <a:latin typeface="Consolas" panose="020B0609020204030204" pitchFamily="49" charset="0"/>
              </a:rPr>
              <a:t>mydb</a:t>
            </a:r>
            <a:endParaRPr lang="en-US" sz="2000" b="0" i="0" dirty="0">
              <a:solidFill>
                <a:schemeClr val="accent2">
                  <a:lumMod val="75000"/>
                </a:schemeClr>
              </a:solidFill>
              <a:effectLst/>
              <a:latin typeface="Consolas" panose="020B0609020204030204" pitchFamily="49" charset="0"/>
            </a:endParaRPr>
          </a:p>
          <a:p>
            <a:pPr marL="0" indent="0">
              <a:buNone/>
            </a:pPr>
            <a:endParaRPr lang="en-US" sz="2400" dirty="0">
              <a:solidFill>
                <a:schemeClr val="accent2">
                  <a:lumMod val="75000"/>
                </a:schemeClr>
              </a:solidFill>
              <a:latin typeface="Consolas" panose="020B0609020204030204" pitchFamily="49" charset="0"/>
            </a:endParaRPr>
          </a:p>
          <a:p>
            <a:r>
              <a:rPr lang="en-US" sz="2400" dirty="0">
                <a:solidFill>
                  <a:srgbClr val="161616"/>
                </a:solidFill>
                <a:latin typeface="Segoe UI" panose="020B0502040204020203" pitchFamily="34" charset="0"/>
              </a:rPr>
              <a:t>.NET's super fast </a:t>
            </a:r>
            <a:r>
              <a:rPr lang="en-US" sz="2400" dirty="0" err="1">
                <a:solidFill>
                  <a:srgbClr val="161616"/>
                </a:solidFill>
                <a:latin typeface="Segoe UI" panose="020B0502040204020203" pitchFamily="34" charset="0"/>
              </a:rPr>
              <a:t>SqlBulkCopy</a:t>
            </a:r>
            <a:r>
              <a:rPr lang="en-US" sz="2400" dirty="0">
                <a:solidFill>
                  <a:srgbClr val="161616"/>
                </a:solidFill>
                <a:latin typeface="Segoe UI" panose="020B0502040204020203" pitchFamily="34" charset="0"/>
              </a:rPr>
              <a:t> class to import CSV files into SQL Server.</a:t>
            </a:r>
          </a:p>
          <a:p>
            <a:r>
              <a:rPr lang="en-US" sz="2400" dirty="0">
                <a:solidFill>
                  <a:srgbClr val="161616"/>
                </a:solidFill>
                <a:latin typeface="Segoe UI" panose="020B0502040204020203" pitchFamily="34" charset="0"/>
              </a:rPr>
              <a:t>The entire import is performed within a transaction</a:t>
            </a:r>
          </a:p>
          <a:p>
            <a:r>
              <a:rPr lang="en-US" sz="2400" dirty="0">
                <a:solidFill>
                  <a:srgbClr val="161616"/>
                </a:solidFill>
                <a:latin typeface="Segoe UI" panose="020B0502040204020203" pitchFamily="34" charset="0"/>
              </a:rPr>
              <a:t>Default is row locks and does not lock the entire table </a:t>
            </a:r>
          </a:p>
          <a:p>
            <a:r>
              <a:rPr lang="en-US" sz="2400" dirty="0">
                <a:solidFill>
                  <a:srgbClr val="161616"/>
                </a:solidFill>
                <a:latin typeface="Segoe UI" panose="020B0502040204020203" pitchFamily="34" charset="0"/>
              </a:rPr>
              <a:t>Use –</a:t>
            </a:r>
            <a:r>
              <a:rPr lang="en-US" sz="2400" dirty="0" err="1">
                <a:solidFill>
                  <a:srgbClr val="161616"/>
                </a:solidFill>
                <a:latin typeface="Segoe UI" panose="020B0502040204020203" pitchFamily="34" charset="0"/>
              </a:rPr>
              <a:t>TableLock</a:t>
            </a:r>
            <a:r>
              <a:rPr lang="en-US" sz="2400" dirty="0">
                <a:solidFill>
                  <a:srgbClr val="161616"/>
                </a:solidFill>
                <a:latin typeface="Segoe UI" panose="020B0502040204020203" pitchFamily="34" charset="0"/>
              </a:rPr>
              <a:t> parameter to obtain Bulk Update Lock</a:t>
            </a:r>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48282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CB03-9207-CD9A-479A-C3ED1A9D9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96F52-D9A5-5D0E-CF42-753EE0416DE2}"/>
              </a:ext>
            </a:extLst>
          </p:cNvPr>
          <p:cNvSpPr>
            <a:spLocks noGrp="1"/>
          </p:cNvSpPr>
          <p:nvPr>
            <p:ph type="title"/>
          </p:nvPr>
        </p:nvSpPr>
        <p:spPr/>
        <p:txBody>
          <a:bodyPr>
            <a:normAutofit fontScale="90000"/>
          </a:bodyPr>
          <a:lstStyle/>
          <a:p>
            <a:br>
              <a:rPr lang="en-US" sz="2000" dirty="0"/>
            </a:br>
            <a:r>
              <a:rPr lang="en-US" sz="5300" b="1" dirty="0">
                <a:solidFill>
                  <a:schemeClr val="accent2">
                    <a:lumMod val="75000"/>
                  </a:schemeClr>
                </a:solidFill>
              </a:rPr>
              <a:t>Recap - dbatools</a:t>
            </a:r>
            <a:br>
              <a:rPr lang="en-US" sz="2000" dirty="0">
                <a:solidFill>
                  <a:srgbClr val="161616"/>
                </a:solidFill>
                <a:latin typeface="Segoe UI" panose="020B0502040204020203" pitchFamily="34" charset="0"/>
              </a:rPr>
            </a:br>
            <a:endParaRPr lang="en-US" sz="5400" b="1" dirty="0">
              <a:solidFill>
                <a:schemeClr val="accent2">
                  <a:lumMod val="75000"/>
                </a:schemeClr>
              </a:solidFill>
            </a:endParaRPr>
          </a:p>
        </p:txBody>
      </p:sp>
      <p:sp>
        <p:nvSpPr>
          <p:cNvPr id="3" name="Content Placeholder 2">
            <a:extLst>
              <a:ext uri="{FF2B5EF4-FFF2-40B4-BE49-F238E27FC236}">
                <a16:creationId xmlns:a16="http://schemas.microsoft.com/office/drawing/2014/main" id="{A3F617D8-082F-C3D3-8897-00BF6F0841FF}"/>
              </a:ext>
            </a:extLst>
          </p:cNvPr>
          <p:cNvSpPr>
            <a:spLocks noGrp="1"/>
          </p:cNvSpPr>
          <p:nvPr>
            <p:ph idx="1"/>
          </p:nvPr>
        </p:nvSpPr>
        <p:spPr>
          <a:xfrm>
            <a:off x="838199" y="1825625"/>
            <a:ext cx="11098161" cy="4351338"/>
          </a:xfrm>
        </p:spPr>
        <p:txBody>
          <a:bodyPr/>
          <a:lstStyle/>
          <a:p>
            <a:r>
              <a:rPr lang="en-US" sz="2400" dirty="0">
                <a:solidFill>
                  <a:srgbClr val="161616"/>
                </a:solidFill>
                <a:latin typeface="Segoe UI" panose="020B0502040204020203" pitchFamily="34" charset="0"/>
              </a:rPr>
              <a:t>Write-</a:t>
            </a:r>
            <a:r>
              <a:rPr lang="en-US" sz="2400" dirty="0" err="1">
                <a:solidFill>
                  <a:srgbClr val="161616"/>
                </a:solidFill>
                <a:latin typeface="Segoe UI" panose="020B0502040204020203" pitchFamily="34" charset="0"/>
              </a:rPr>
              <a:t>DbaDbTableData</a:t>
            </a:r>
            <a:endParaRPr lang="en-US" sz="2400" dirty="0">
              <a:solidFill>
                <a:srgbClr val="161616"/>
              </a:solidFill>
              <a:latin typeface="Segoe UI" panose="020B0502040204020203" pitchFamily="34" charset="0"/>
            </a:endParaRPr>
          </a:p>
          <a:p>
            <a:pPr lvl="1"/>
            <a:r>
              <a:rPr lang="en-US" sz="2000" dirty="0">
                <a:solidFill>
                  <a:srgbClr val="161616"/>
                </a:solidFill>
                <a:latin typeface="Segoe UI" panose="020B0502040204020203" pitchFamily="34" charset="0"/>
              </a:rPr>
              <a:t>From csv or table to table</a:t>
            </a:r>
          </a:p>
          <a:p>
            <a:r>
              <a:rPr lang="en-US" sz="2400" dirty="0">
                <a:solidFill>
                  <a:srgbClr val="161616"/>
                </a:solidFill>
                <a:latin typeface="Segoe UI" panose="020B0502040204020203" pitchFamily="34" charset="0"/>
              </a:rPr>
              <a:t>Copy-</a:t>
            </a:r>
            <a:r>
              <a:rPr lang="en-US" sz="2400" dirty="0" err="1">
                <a:solidFill>
                  <a:srgbClr val="161616"/>
                </a:solidFill>
                <a:latin typeface="Segoe UI" panose="020B0502040204020203" pitchFamily="34" charset="0"/>
              </a:rPr>
              <a:t>DbaDbTableData</a:t>
            </a:r>
            <a:endParaRPr lang="en-US" sz="2400" dirty="0">
              <a:solidFill>
                <a:srgbClr val="161616"/>
              </a:solidFill>
              <a:latin typeface="Segoe UI" panose="020B0502040204020203" pitchFamily="34" charset="0"/>
            </a:endParaRPr>
          </a:p>
          <a:p>
            <a:pPr lvl="1"/>
            <a:r>
              <a:rPr lang="en-US" sz="2000" dirty="0">
                <a:solidFill>
                  <a:srgbClr val="161616"/>
                </a:solidFill>
                <a:latin typeface="Segoe UI" panose="020B0502040204020203" pitchFamily="34" charset="0"/>
              </a:rPr>
              <a:t>Faster to copy data from one server to other</a:t>
            </a:r>
          </a:p>
          <a:p>
            <a:r>
              <a:rPr lang="en-US" sz="2400" dirty="0">
                <a:solidFill>
                  <a:srgbClr val="161616"/>
                </a:solidFill>
                <a:latin typeface="Segoe UI" panose="020B0502040204020203" pitchFamily="34" charset="0"/>
              </a:rPr>
              <a:t>Import-</a:t>
            </a:r>
            <a:r>
              <a:rPr lang="en-US" sz="2400" dirty="0" err="1">
                <a:solidFill>
                  <a:srgbClr val="161616"/>
                </a:solidFill>
                <a:latin typeface="Segoe UI" panose="020B0502040204020203" pitchFamily="34" charset="0"/>
              </a:rPr>
              <a:t>DbaCsv</a:t>
            </a:r>
            <a:endParaRPr lang="en-US" sz="2400" dirty="0">
              <a:solidFill>
                <a:srgbClr val="161616"/>
              </a:solidFill>
              <a:latin typeface="Segoe UI" panose="020B0502040204020203" pitchFamily="34" charset="0"/>
            </a:endParaRPr>
          </a:p>
          <a:p>
            <a:pPr lvl="1"/>
            <a:r>
              <a:rPr lang="en-US" sz="2000" dirty="0">
                <a:solidFill>
                  <a:srgbClr val="161616"/>
                </a:solidFill>
                <a:latin typeface="Segoe UI" panose="020B0502040204020203" pitchFamily="34" charset="0"/>
              </a:rPr>
              <a:t>Faster option to import from csv to table</a:t>
            </a:r>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254628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F7E5-72FC-EB2C-D172-7C7C8C157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BD3BB-212D-C03E-764B-E3357959F7C9}"/>
              </a:ext>
            </a:extLst>
          </p:cNvPr>
          <p:cNvSpPr>
            <a:spLocks noGrp="1"/>
          </p:cNvSpPr>
          <p:nvPr>
            <p:ph type="title"/>
          </p:nvPr>
        </p:nvSpPr>
        <p:spPr>
          <a:xfrm>
            <a:off x="926690" y="2766218"/>
            <a:ext cx="10515600" cy="1325563"/>
          </a:xfrm>
        </p:spPr>
        <p:txBody>
          <a:bodyPr>
            <a:normAutofit/>
          </a:bodyPr>
          <a:lstStyle/>
          <a:p>
            <a:r>
              <a:rPr lang="en-US" sz="4800" b="1" dirty="0">
                <a:solidFill>
                  <a:schemeClr val="accent2">
                    <a:lumMod val="75000"/>
                  </a:schemeClr>
                </a:solidFill>
              </a:rPr>
              <a:t>DEMO</a:t>
            </a:r>
          </a:p>
        </p:txBody>
      </p:sp>
      <p:sp>
        <p:nvSpPr>
          <p:cNvPr id="3" name="Content Placeholder 2">
            <a:extLst>
              <a:ext uri="{FF2B5EF4-FFF2-40B4-BE49-F238E27FC236}">
                <a16:creationId xmlns:a16="http://schemas.microsoft.com/office/drawing/2014/main" id="{7E74822D-176A-987C-0996-B6151E568A77}"/>
              </a:ext>
            </a:extLst>
          </p:cNvPr>
          <p:cNvSpPr>
            <a:spLocks noGrp="1"/>
          </p:cNvSpPr>
          <p:nvPr>
            <p:ph idx="1"/>
          </p:nvPr>
        </p:nvSpPr>
        <p:spPr/>
        <p:txBody>
          <a:bodyPr/>
          <a:lstStyle/>
          <a:p>
            <a:pPr marL="457200" lvl="1" indent="0">
              <a:buNone/>
            </a:pPr>
            <a:endParaRPr lang="en-US" dirty="0"/>
          </a:p>
          <a:p>
            <a:pPr lvl="1"/>
            <a:endParaRPr lang="en-US" dirty="0"/>
          </a:p>
        </p:txBody>
      </p:sp>
    </p:spTree>
    <p:extLst>
      <p:ext uri="{BB962C8B-B14F-4D97-AF65-F5344CB8AC3E}">
        <p14:creationId xmlns:p14="http://schemas.microsoft.com/office/powerpoint/2010/main" val="460806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9CAC-748B-DF2A-AFA7-3A956EB57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58BFC-8856-1E20-A296-7E9953C43C4C}"/>
              </a:ext>
            </a:extLst>
          </p:cNvPr>
          <p:cNvSpPr>
            <a:spLocks noGrp="1"/>
          </p:cNvSpPr>
          <p:nvPr>
            <p:ph type="title"/>
          </p:nvPr>
        </p:nvSpPr>
        <p:spPr/>
        <p:txBody>
          <a:bodyPr>
            <a:normAutofit/>
          </a:bodyPr>
          <a:lstStyle/>
          <a:p>
            <a:r>
              <a:rPr lang="en-US" sz="4800" b="1" dirty="0">
                <a:solidFill>
                  <a:schemeClr val="accent2">
                    <a:lumMod val="75000"/>
                  </a:schemeClr>
                </a:solidFill>
              </a:rPr>
              <a:t>7. Import and Export Wizard</a:t>
            </a:r>
          </a:p>
        </p:txBody>
      </p:sp>
      <p:sp>
        <p:nvSpPr>
          <p:cNvPr id="3" name="Content Placeholder 2">
            <a:extLst>
              <a:ext uri="{FF2B5EF4-FFF2-40B4-BE49-F238E27FC236}">
                <a16:creationId xmlns:a16="http://schemas.microsoft.com/office/drawing/2014/main" id="{DDDED1D8-F2E0-FC54-F4E6-360D83A1F497}"/>
              </a:ext>
            </a:extLst>
          </p:cNvPr>
          <p:cNvSpPr>
            <a:spLocks noGrp="1"/>
          </p:cNvSpPr>
          <p:nvPr>
            <p:ph idx="1"/>
          </p:nvPr>
        </p:nvSpPr>
        <p:spPr/>
        <p:txBody>
          <a:bodyPr>
            <a:normAutofit/>
          </a:bodyPr>
          <a:lstStyle/>
          <a:p>
            <a:r>
              <a:rPr lang="en-US" sz="2400" dirty="0">
                <a:solidFill>
                  <a:srgbClr val="161616"/>
                </a:solidFill>
                <a:latin typeface="Segoe UI" panose="020B0502040204020203" pitchFamily="34" charset="0"/>
              </a:rPr>
              <a:t>Regular insert like operation – fully logged and serial operation</a:t>
            </a:r>
          </a:p>
          <a:p>
            <a:r>
              <a:rPr lang="en-US" sz="2400" dirty="0">
                <a:solidFill>
                  <a:srgbClr val="161616"/>
                </a:solidFill>
                <a:latin typeface="Segoe UI" panose="020B0502040204020203" pitchFamily="34" charset="0"/>
              </a:rPr>
              <a:t>Ad-hoc loads from one server to another </a:t>
            </a:r>
          </a:p>
          <a:p>
            <a:r>
              <a:rPr lang="en-US" sz="2400" dirty="0">
                <a:solidFill>
                  <a:srgbClr val="161616"/>
                </a:solidFill>
                <a:latin typeface="Segoe UI" panose="020B0502040204020203" pitchFamily="34" charset="0"/>
              </a:rPr>
              <a:t>Save SSIS package if needed</a:t>
            </a:r>
          </a:p>
        </p:txBody>
      </p:sp>
    </p:spTree>
    <p:extLst>
      <p:ext uri="{BB962C8B-B14F-4D97-AF65-F5344CB8AC3E}">
        <p14:creationId xmlns:p14="http://schemas.microsoft.com/office/powerpoint/2010/main" val="2758094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07B3FB-2F2D-0115-76C9-967AD88E4DB6}"/>
              </a:ext>
            </a:extLst>
          </p:cNvPr>
          <p:cNvSpPr>
            <a:spLocks noGrp="1"/>
          </p:cNvSpPr>
          <p:nvPr>
            <p:ph type="title"/>
          </p:nvPr>
        </p:nvSpPr>
        <p:spPr>
          <a:xfrm>
            <a:off x="838200" y="576263"/>
            <a:ext cx="10515600" cy="2852737"/>
          </a:xfrm>
        </p:spPr>
        <p:txBody>
          <a:bodyPr/>
          <a:lstStyle/>
          <a:p>
            <a:pPr algn="ctr"/>
            <a:r>
              <a:rPr lang="en-US" sz="4800" b="1" dirty="0">
                <a:solidFill>
                  <a:schemeClr val="accent2">
                    <a:lumMod val="75000"/>
                  </a:schemeClr>
                </a:solidFill>
              </a:rPr>
              <a:t>Summary</a:t>
            </a:r>
          </a:p>
        </p:txBody>
      </p:sp>
    </p:spTree>
    <p:extLst>
      <p:ext uri="{BB962C8B-B14F-4D97-AF65-F5344CB8AC3E}">
        <p14:creationId xmlns:p14="http://schemas.microsoft.com/office/powerpoint/2010/main" val="2486366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A356-22E5-A2DF-4E33-9C70BE7A5298}"/>
              </a:ext>
            </a:extLst>
          </p:cNvPr>
          <p:cNvSpPr>
            <a:spLocks noGrp="1"/>
          </p:cNvSpPr>
          <p:nvPr>
            <p:ph type="title"/>
          </p:nvPr>
        </p:nvSpPr>
        <p:spPr/>
        <p:txBody>
          <a:bodyPr>
            <a:noAutofit/>
          </a:bodyPr>
          <a:lstStyle/>
          <a:p>
            <a:r>
              <a:rPr lang="en-US" sz="4000" b="1" dirty="0">
                <a:solidFill>
                  <a:schemeClr val="accent2">
                    <a:lumMod val="75000"/>
                  </a:schemeClr>
                </a:solidFill>
              </a:rPr>
              <a:t>Key Factors to Fast Load</a:t>
            </a:r>
          </a:p>
        </p:txBody>
      </p:sp>
      <p:sp>
        <p:nvSpPr>
          <p:cNvPr id="3" name="Content Placeholder 2">
            <a:extLst>
              <a:ext uri="{FF2B5EF4-FFF2-40B4-BE49-F238E27FC236}">
                <a16:creationId xmlns:a16="http://schemas.microsoft.com/office/drawing/2014/main" id="{3B5BBAB1-5EA1-5FD8-4BCF-66DAC9108D48}"/>
              </a:ext>
            </a:extLst>
          </p:cNvPr>
          <p:cNvSpPr>
            <a:spLocks noGrp="1"/>
          </p:cNvSpPr>
          <p:nvPr>
            <p:ph idx="1"/>
          </p:nvPr>
        </p:nvSpPr>
        <p:spPr/>
        <p:txBody>
          <a:bodyPr/>
          <a:lstStyle/>
          <a:p>
            <a:r>
              <a:rPr lang="en-US" dirty="0">
                <a:solidFill>
                  <a:srgbClr val="161616"/>
                </a:solidFill>
                <a:latin typeface="Segoe UI" panose="020B0502040204020203" pitchFamily="34" charset="0"/>
              </a:rPr>
              <a:t>Minimal logging </a:t>
            </a:r>
          </a:p>
          <a:p>
            <a:pPr lvl="1"/>
            <a:r>
              <a:rPr lang="en-US" dirty="0">
                <a:solidFill>
                  <a:srgbClr val="161616"/>
                </a:solidFill>
                <a:latin typeface="Segoe UI" panose="020B0502040204020203" pitchFamily="34" charset="0"/>
              </a:rPr>
              <a:t>Write less/nothing to logfile </a:t>
            </a:r>
          </a:p>
          <a:p>
            <a:r>
              <a:rPr lang="en-US" dirty="0">
                <a:solidFill>
                  <a:srgbClr val="161616"/>
                </a:solidFill>
                <a:latin typeface="Segoe UI" panose="020B0502040204020203" pitchFamily="34" charset="0"/>
              </a:rPr>
              <a:t>Parallel insertion</a:t>
            </a:r>
          </a:p>
          <a:p>
            <a:pPr lvl="1"/>
            <a:r>
              <a:rPr lang="en-US" dirty="0">
                <a:solidFill>
                  <a:srgbClr val="161616"/>
                </a:solidFill>
                <a:latin typeface="Segoe UI" panose="020B0502040204020203" pitchFamily="34" charset="0"/>
              </a:rPr>
              <a:t>Multiple threads insert data</a:t>
            </a:r>
          </a:p>
          <a:p>
            <a:r>
              <a:rPr lang="en-US" dirty="0">
                <a:solidFill>
                  <a:srgbClr val="161616"/>
                </a:solidFill>
                <a:latin typeface="Segoe UI" panose="020B0502040204020203" pitchFamily="34" charset="0"/>
              </a:rPr>
              <a:t>Bulk Update Lock </a:t>
            </a:r>
          </a:p>
          <a:p>
            <a:pPr lvl="1"/>
            <a:r>
              <a:rPr lang="en-US" dirty="0">
                <a:solidFill>
                  <a:srgbClr val="161616"/>
                </a:solidFill>
                <a:latin typeface="Segoe UI" panose="020B0502040204020203" pitchFamily="34" charset="0"/>
              </a:rPr>
              <a:t>Concurrent inserts</a:t>
            </a:r>
          </a:p>
          <a:p>
            <a:pPr lvl="1"/>
            <a:r>
              <a:rPr lang="en-US" dirty="0">
                <a:solidFill>
                  <a:srgbClr val="161616"/>
                </a:solidFill>
                <a:latin typeface="Segoe UI" panose="020B0502040204020203" pitchFamily="34" charset="0"/>
              </a:rPr>
              <a:t>Bcp, bulk insert</a:t>
            </a:r>
          </a:p>
          <a:p>
            <a:r>
              <a:rPr lang="en-US" dirty="0">
                <a:solidFill>
                  <a:srgbClr val="161616"/>
                </a:solidFill>
                <a:latin typeface="Segoe UI" panose="020B0502040204020203" pitchFamily="34" charset="0"/>
              </a:rPr>
              <a:t>Import or export ordered data for indexed tables</a:t>
            </a:r>
          </a:p>
        </p:txBody>
      </p:sp>
    </p:spTree>
    <p:extLst>
      <p:ext uri="{BB962C8B-B14F-4D97-AF65-F5344CB8AC3E}">
        <p14:creationId xmlns:p14="http://schemas.microsoft.com/office/powerpoint/2010/main" val="280991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CB74-98FB-C277-A772-FF41FB794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D21B6-2C9C-D86A-1CA1-9CDD23933E07}"/>
              </a:ext>
            </a:extLst>
          </p:cNvPr>
          <p:cNvSpPr>
            <a:spLocks noGrp="1"/>
          </p:cNvSpPr>
          <p:nvPr>
            <p:ph type="title"/>
          </p:nvPr>
        </p:nvSpPr>
        <p:spPr/>
        <p:txBody>
          <a:bodyPr>
            <a:noAutofit/>
          </a:bodyPr>
          <a:lstStyle/>
          <a:p>
            <a:r>
              <a:rPr lang="en-US" sz="4000" b="1" dirty="0">
                <a:solidFill>
                  <a:schemeClr val="accent2">
                    <a:lumMod val="75000"/>
                  </a:schemeClr>
                </a:solidFill>
              </a:rPr>
              <a:t>Locks</a:t>
            </a:r>
          </a:p>
        </p:txBody>
      </p:sp>
      <p:sp>
        <p:nvSpPr>
          <p:cNvPr id="3" name="Content Placeholder 2">
            <a:extLst>
              <a:ext uri="{FF2B5EF4-FFF2-40B4-BE49-F238E27FC236}">
                <a16:creationId xmlns:a16="http://schemas.microsoft.com/office/drawing/2014/main" id="{D10D4BBB-3BD7-62DE-61C0-DEF44FA1E0AE}"/>
              </a:ext>
            </a:extLst>
          </p:cNvPr>
          <p:cNvSpPr>
            <a:spLocks noGrp="1"/>
          </p:cNvSpPr>
          <p:nvPr>
            <p:ph idx="1"/>
          </p:nvPr>
        </p:nvSpPr>
        <p:spPr/>
        <p:txBody>
          <a:bodyPr/>
          <a:lstStyle/>
          <a:p>
            <a:r>
              <a:rPr lang="en-US" dirty="0">
                <a:solidFill>
                  <a:srgbClr val="161616"/>
                </a:solidFill>
                <a:latin typeface="Segoe UI" panose="020B0502040204020203" pitchFamily="34" charset="0"/>
              </a:rPr>
              <a:t>Exclusive(X) locks</a:t>
            </a:r>
          </a:p>
          <a:p>
            <a:pPr lvl="1"/>
            <a:r>
              <a:rPr lang="en-US" dirty="0">
                <a:solidFill>
                  <a:srgbClr val="161616"/>
                </a:solidFill>
                <a:latin typeface="Segoe UI" panose="020B0502040204020203" pitchFamily="34" charset="0"/>
              </a:rPr>
              <a:t>Only one insert at a time</a:t>
            </a:r>
          </a:p>
          <a:p>
            <a:pPr lvl="1"/>
            <a:r>
              <a:rPr lang="en-US" dirty="0">
                <a:solidFill>
                  <a:srgbClr val="161616"/>
                </a:solidFill>
                <a:latin typeface="Segoe UI" panose="020B0502040204020203" pitchFamily="34" charset="0"/>
              </a:rPr>
              <a:t>X lock not compatible with any lock</a:t>
            </a:r>
          </a:p>
          <a:p>
            <a:pPr lvl="1"/>
            <a:r>
              <a:rPr lang="en-US" dirty="0">
                <a:solidFill>
                  <a:srgbClr val="161616"/>
                </a:solidFill>
                <a:latin typeface="Segoe UI" panose="020B0502040204020203" pitchFamily="34" charset="0"/>
              </a:rPr>
              <a:t>Insert..Select</a:t>
            </a:r>
          </a:p>
          <a:p>
            <a:pPr lvl="1"/>
            <a:r>
              <a:rPr lang="en-US" dirty="0">
                <a:solidFill>
                  <a:srgbClr val="161616"/>
                </a:solidFill>
                <a:latin typeface="Segoe UI" panose="020B0502040204020203" pitchFamily="34" charset="0"/>
              </a:rPr>
              <a:t>Select..Into</a:t>
            </a:r>
          </a:p>
          <a:p>
            <a:r>
              <a:rPr lang="en-US" dirty="0">
                <a:solidFill>
                  <a:srgbClr val="161616"/>
                </a:solidFill>
                <a:latin typeface="Segoe UI" panose="020B0502040204020203" pitchFamily="34" charset="0"/>
              </a:rPr>
              <a:t>Bulk Update(BU) locks</a:t>
            </a:r>
          </a:p>
          <a:p>
            <a:pPr lvl="1"/>
            <a:r>
              <a:rPr lang="en-US" dirty="0">
                <a:solidFill>
                  <a:srgbClr val="161616"/>
                </a:solidFill>
                <a:latin typeface="Segoe UI" panose="020B0502040204020203" pitchFamily="34" charset="0"/>
              </a:rPr>
              <a:t>Concurrent inserts</a:t>
            </a:r>
          </a:p>
          <a:p>
            <a:pPr lvl="1"/>
            <a:r>
              <a:rPr lang="en-US" dirty="0">
                <a:solidFill>
                  <a:srgbClr val="161616"/>
                </a:solidFill>
                <a:latin typeface="Segoe UI" panose="020B0502040204020203" pitchFamily="34" charset="0"/>
              </a:rPr>
              <a:t>BU lock compatible with other BU locks</a:t>
            </a:r>
          </a:p>
          <a:p>
            <a:pPr lvl="1"/>
            <a:r>
              <a:rPr lang="en-US" dirty="0">
                <a:solidFill>
                  <a:srgbClr val="161616"/>
                </a:solidFill>
                <a:latin typeface="Segoe UI" panose="020B0502040204020203" pitchFamily="34" charset="0"/>
              </a:rPr>
              <a:t>bcp</a:t>
            </a:r>
          </a:p>
          <a:p>
            <a:pPr lvl="1"/>
            <a:r>
              <a:rPr lang="en-US" dirty="0">
                <a:solidFill>
                  <a:srgbClr val="161616"/>
                </a:solidFill>
                <a:latin typeface="Segoe UI" panose="020B0502040204020203" pitchFamily="34" charset="0"/>
              </a:rPr>
              <a:t>Bulk insert </a:t>
            </a:r>
          </a:p>
          <a:p>
            <a:pPr lvl="1"/>
            <a:endParaRPr lang="en-US" dirty="0">
              <a:solidFill>
                <a:srgbClr val="161616"/>
              </a:solidFill>
              <a:latin typeface="Segoe UI" panose="020B0502040204020203" pitchFamily="34" charset="0"/>
            </a:endParaRPr>
          </a:p>
          <a:p>
            <a:pPr lvl="1"/>
            <a:endParaRPr lang="en-US" dirty="0">
              <a:solidFill>
                <a:srgbClr val="161616"/>
              </a:solidFill>
              <a:latin typeface="Segoe UI" panose="020B0502040204020203" pitchFamily="34" charset="0"/>
            </a:endParaRPr>
          </a:p>
          <a:p>
            <a:endParaRPr lang="en-US" dirty="0">
              <a:solidFill>
                <a:srgbClr val="161616"/>
              </a:solidFill>
              <a:latin typeface="Segoe UI" panose="020B0502040204020203" pitchFamily="34" charset="0"/>
            </a:endParaRPr>
          </a:p>
        </p:txBody>
      </p:sp>
    </p:spTree>
    <p:extLst>
      <p:ext uri="{BB962C8B-B14F-4D97-AF65-F5344CB8AC3E}">
        <p14:creationId xmlns:p14="http://schemas.microsoft.com/office/powerpoint/2010/main" val="106277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B90F-7B66-13C4-CA0F-8F4329677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15C5F-99BD-8818-7462-1B9674DC87EB}"/>
              </a:ext>
            </a:extLst>
          </p:cNvPr>
          <p:cNvSpPr>
            <a:spLocks noGrp="1"/>
          </p:cNvSpPr>
          <p:nvPr>
            <p:ph type="title"/>
          </p:nvPr>
        </p:nvSpPr>
        <p:spPr>
          <a:xfrm>
            <a:off x="604284" y="142569"/>
            <a:ext cx="10515600" cy="1325563"/>
          </a:xfrm>
        </p:spPr>
        <p:txBody>
          <a:bodyPr>
            <a:normAutofit/>
          </a:bodyPr>
          <a:lstStyle/>
          <a:p>
            <a:r>
              <a:rPr lang="en-US" sz="4800" b="1" dirty="0">
                <a:solidFill>
                  <a:schemeClr val="accent2">
                    <a:lumMod val="75000"/>
                  </a:schemeClr>
                </a:solidFill>
              </a:rPr>
              <a:t> </a:t>
            </a:r>
            <a:r>
              <a:rPr lang="en-US" sz="4000" b="1" dirty="0">
                <a:solidFill>
                  <a:schemeClr val="accent2">
                    <a:lumMod val="75000"/>
                  </a:schemeClr>
                </a:solidFill>
              </a:rPr>
              <a:t>Load faster for FULL recovery model</a:t>
            </a:r>
          </a:p>
        </p:txBody>
      </p:sp>
      <p:sp>
        <p:nvSpPr>
          <p:cNvPr id="3" name="Content Placeholder 2">
            <a:extLst>
              <a:ext uri="{FF2B5EF4-FFF2-40B4-BE49-F238E27FC236}">
                <a16:creationId xmlns:a16="http://schemas.microsoft.com/office/drawing/2014/main" id="{7579C68F-B502-1D99-6D74-825AE2A58DFD}"/>
              </a:ext>
            </a:extLst>
          </p:cNvPr>
          <p:cNvSpPr>
            <a:spLocks noGrp="1"/>
          </p:cNvSpPr>
          <p:nvPr>
            <p:ph idx="1"/>
          </p:nvPr>
        </p:nvSpPr>
        <p:spPr>
          <a:xfrm>
            <a:off x="838200" y="1524000"/>
            <a:ext cx="10515600" cy="5191431"/>
          </a:xfrm>
        </p:spPr>
        <p:txBody>
          <a:bodyPr>
            <a:normAutofit fontScale="47500" lnSpcReduction="20000"/>
          </a:bodyPr>
          <a:lstStyle/>
          <a:p>
            <a:r>
              <a:rPr lang="en-US" sz="4200" dirty="0">
                <a:solidFill>
                  <a:srgbClr val="161616"/>
                </a:solidFill>
                <a:latin typeface="Segoe UI" panose="020B0502040204020203" pitchFamily="34" charset="0"/>
              </a:rPr>
              <a:t>Change recovery model</a:t>
            </a:r>
          </a:p>
          <a:p>
            <a:pPr lvl="1"/>
            <a:r>
              <a:rPr lang="en-US" sz="4200" dirty="0">
                <a:solidFill>
                  <a:srgbClr val="161616"/>
                </a:solidFill>
                <a:latin typeface="Segoe UI" panose="020B0502040204020203" pitchFamily="34" charset="0"/>
              </a:rPr>
              <a:t>If FULL, set to </a:t>
            </a:r>
            <a:r>
              <a:rPr lang="en-US" sz="4200" dirty="0" err="1">
                <a:solidFill>
                  <a:srgbClr val="161616"/>
                </a:solidFill>
                <a:latin typeface="Segoe UI" panose="020B0502040204020203" pitchFamily="34" charset="0"/>
              </a:rPr>
              <a:t>bulk_logged</a:t>
            </a:r>
            <a:r>
              <a:rPr lang="en-US" sz="4200" dirty="0">
                <a:solidFill>
                  <a:srgbClr val="161616"/>
                </a:solidFill>
                <a:latin typeface="Segoe UI" panose="020B0502040204020203" pitchFamily="34" charset="0"/>
              </a:rPr>
              <a:t> </a:t>
            </a:r>
          </a:p>
          <a:p>
            <a:pPr lvl="1"/>
            <a:r>
              <a:rPr lang="en-US" sz="4200" dirty="0">
                <a:solidFill>
                  <a:srgbClr val="161616"/>
                </a:solidFill>
                <a:latin typeface="Segoe UI" panose="020B0502040204020203" pitchFamily="34" charset="0"/>
              </a:rPr>
              <a:t>Perform insert</a:t>
            </a:r>
          </a:p>
          <a:p>
            <a:pPr lvl="1"/>
            <a:r>
              <a:rPr lang="en-US" sz="4200" dirty="0">
                <a:solidFill>
                  <a:srgbClr val="161616"/>
                </a:solidFill>
                <a:latin typeface="Segoe UI" panose="020B0502040204020203" pitchFamily="34" charset="0"/>
              </a:rPr>
              <a:t>Revert to FULL</a:t>
            </a:r>
          </a:p>
          <a:p>
            <a:pPr marL="0" indent="0">
              <a:buNone/>
            </a:pPr>
            <a:r>
              <a:rPr lang="en-US" sz="2900" dirty="0">
                <a:solidFill>
                  <a:srgbClr val="008000"/>
                </a:solidFill>
                <a:latin typeface="Consolas" panose="020B0609020204030204" pitchFamily="49" charset="0"/>
              </a:rPr>
              <a:t>-- Switch to BULK_LOGGED to perform minimal logging for bulk insert</a:t>
            </a:r>
            <a:endParaRPr lang="en-US" sz="2900" dirty="0">
              <a:solidFill>
                <a:srgbClr val="000000"/>
              </a:solidFill>
              <a:latin typeface="Consolas" panose="020B0609020204030204" pitchFamily="49" charset="0"/>
            </a:endParaRPr>
          </a:p>
          <a:p>
            <a:pPr marL="0" indent="0">
              <a:buNone/>
            </a:pPr>
            <a:r>
              <a:rPr lang="en-US" sz="2900" dirty="0">
                <a:solidFill>
                  <a:srgbClr val="0000FF"/>
                </a:solidFill>
                <a:latin typeface="Consolas" panose="020B0609020204030204" pitchFamily="49" charset="0"/>
              </a:rPr>
              <a:t>ALTER</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DATABASE</a:t>
            </a:r>
            <a:r>
              <a:rPr lang="en-US" sz="2900" dirty="0">
                <a:solidFill>
                  <a:srgbClr val="000000"/>
                </a:solidFill>
                <a:latin typeface="Consolas" panose="020B0609020204030204" pitchFamily="49" charset="0"/>
              </a:rPr>
              <a:t> DB </a:t>
            </a:r>
            <a:r>
              <a:rPr lang="en-US" sz="2900" dirty="0">
                <a:solidFill>
                  <a:srgbClr val="0000FF"/>
                </a:solidFill>
                <a:latin typeface="Consolas" panose="020B0609020204030204" pitchFamily="49" charset="0"/>
              </a:rPr>
              <a:t>SET</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RECOVERY</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BULK_LOGGED</a:t>
            </a:r>
            <a:r>
              <a:rPr lang="en-US" sz="2900" dirty="0">
                <a:solidFill>
                  <a:srgbClr val="808080"/>
                </a:solidFill>
                <a:latin typeface="Consolas" panose="020B0609020204030204" pitchFamily="49" charset="0"/>
              </a:rPr>
              <a:t>;</a:t>
            </a:r>
            <a:endParaRPr lang="en-US" sz="2900" dirty="0">
              <a:solidFill>
                <a:srgbClr val="000000"/>
              </a:solidFill>
              <a:latin typeface="Consolas" panose="020B0609020204030204" pitchFamily="49" charset="0"/>
            </a:endParaRPr>
          </a:p>
          <a:p>
            <a:pPr marL="0" indent="0">
              <a:buNone/>
            </a:pPr>
            <a:endParaRPr lang="en-US" sz="2900" dirty="0">
              <a:solidFill>
                <a:srgbClr val="000000"/>
              </a:solidFill>
              <a:latin typeface="Consolas" panose="020B0609020204030204" pitchFamily="49" charset="0"/>
            </a:endParaRPr>
          </a:p>
          <a:p>
            <a:pPr marL="0" indent="0">
              <a:buNone/>
            </a:pPr>
            <a:r>
              <a:rPr lang="en-US" sz="2900" dirty="0">
                <a:solidFill>
                  <a:srgbClr val="008000"/>
                </a:solidFill>
                <a:latin typeface="Consolas" panose="020B0609020204030204" pitchFamily="49" charset="0"/>
              </a:rPr>
              <a:t>-- Perform BULK INSERT after switching to BULK_LOGGED</a:t>
            </a:r>
            <a:endParaRPr lang="en-US" sz="2900" dirty="0">
              <a:solidFill>
                <a:srgbClr val="000000"/>
              </a:solidFill>
              <a:latin typeface="Consolas" panose="020B0609020204030204" pitchFamily="49" charset="0"/>
            </a:endParaRPr>
          </a:p>
          <a:p>
            <a:pPr marL="0" indent="0">
              <a:buNone/>
            </a:pPr>
            <a:r>
              <a:rPr lang="en-US" sz="2900" dirty="0">
                <a:solidFill>
                  <a:srgbClr val="0000FF"/>
                </a:solidFill>
                <a:latin typeface="Consolas" panose="020B0609020204030204" pitchFamily="49" charset="0"/>
              </a:rPr>
              <a:t>BULK</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INSERT</a:t>
            </a:r>
            <a:r>
              <a:rPr lang="en-US" sz="2900" dirty="0">
                <a:solidFill>
                  <a:srgbClr val="000000"/>
                </a:solidFill>
                <a:latin typeface="Consolas" panose="020B0609020204030204" pitchFamily="49" charset="0"/>
              </a:rPr>
              <a:t> </a:t>
            </a:r>
            <a:r>
              <a:rPr lang="en-US" sz="2900" dirty="0" err="1">
                <a:solidFill>
                  <a:srgbClr val="000000"/>
                </a:solidFill>
                <a:latin typeface="Consolas" panose="020B0609020204030204" pitchFamily="49" charset="0"/>
              </a:rPr>
              <a:t>dbo</a:t>
            </a:r>
            <a:r>
              <a:rPr lang="en-US" sz="2900" dirty="0" err="1">
                <a:solidFill>
                  <a:srgbClr val="808080"/>
                </a:solidFill>
                <a:latin typeface="Consolas" panose="020B0609020204030204" pitchFamily="49" charset="0"/>
              </a:rPr>
              <a:t>.</a:t>
            </a:r>
            <a:r>
              <a:rPr lang="en-US" sz="2900" dirty="0" err="1">
                <a:solidFill>
                  <a:srgbClr val="000000"/>
                </a:solidFill>
                <a:latin typeface="Consolas" panose="020B0609020204030204" pitchFamily="49" charset="0"/>
              </a:rPr>
              <a:t>Table</a:t>
            </a:r>
            <a:endParaRPr lang="en-US" sz="2900" dirty="0">
              <a:solidFill>
                <a:srgbClr val="000000"/>
              </a:solidFill>
              <a:latin typeface="Consolas" panose="020B0609020204030204" pitchFamily="49" charset="0"/>
            </a:endParaRPr>
          </a:p>
          <a:p>
            <a:pPr marL="0" indent="0">
              <a:buNone/>
            </a:pPr>
            <a:r>
              <a:rPr lang="en-US" sz="2900" dirty="0">
                <a:solidFill>
                  <a:srgbClr val="0000FF"/>
                </a:solidFill>
                <a:latin typeface="Consolas" panose="020B0609020204030204" pitchFamily="49" charset="0"/>
              </a:rPr>
              <a:t>FROM</a:t>
            </a:r>
            <a:r>
              <a:rPr lang="en-US" sz="2900" dirty="0">
                <a:solidFill>
                  <a:srgbClr val="000000"/>
                </a:solidFill>
                <a:latin typeface="Consolas" panose="020B0609020204030204" pitchFamily="49" charset="0"/>
              </a:rPr>
              <a:t> </a:t>
            </a:r>
            <a:r>
              <a:rPr lang="en-US" sz="2900" dirty="0">
                <a:solidFill>
                  <a:srgbClr val="FF0000"/>
                </a:solidFill>
                <a:latin typeface="Consolas" panose="020B0609020204030204" pitchFamily="49" charset="0"/>
              </a:rPr>
              <a:t>'C:\Data\SourceFile.dat'</a:t>
            </a:r>
            <a:endParaRPr lang="en-US" sz="2900" dirty="0">
              <a:solidFill>
                <a:srgbClr val="000000"/>
              </a:solidFill>
              <a:latin typeface="Consolas" panose="020B0609020204030204" pitchFamily="49" charset="0"/>
            </a:endParaRPr>
          </a:p>
          <a:p>
            <a:pPr marL="0" indent="0">
              <a:buNone/>
            </a:pPr>
            <a:r>
              <a:rPr lang="en-US" sz="2900" dirty="0">
                <a:solidFill>
                  <a:srgbClr val="0000FF"/>
                </a:solidFill>
                <a:latin typeface="Consolas" panose="020B0609020204030204" pitchFamily="49" charset="0"/>
              </a:rPr>
              <a:t>WITH </a:t>
            </a:r>
            <a:r>
              <a:rPr lang="en-US" sz="2900" dirty="0">
                <a:solidFill>
                  <a:srgbClr val="808080"/>
                </a:solidFill>
                <a:latin typeface="Consolas" panose="020B0609020204030204" pitchFamily="49" charset="0"/>
              </a:rPr>
              <a:t>(</a:t>
            </a:r>
            <a:endParaRPr lang="en-US" sz="2900" dirty="0">
              <a:solidFill>
                <a:srgbClr val="000000"/>
              </a:solidFill>
              <a:latin typeface="Consolas" panose="020B0609020204030204" pitchFamily="49" charset="0"/>
            </a:endParaRPr>
          </a:p>
          <a:p>
            <a:pPr marL="0" indent="0">
              <a:buNone/>
            </a:pP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FIELDTERMINATOR</a:t>
            </a:r>
            <a:r>
              <a:rPr lang="en-US" sz="2900" dirty="0">
                <a:solidFill>
                  <a:srgbClr val="000000"/>
                </a:solidFill>
                <a:latin typeface="Consolas" panose="020B0609020204030204" pitchFamily="49" charset="0"/>
              </a:rPr>
              <a:t> </a:t>
            </a:r>
            <a:r>
              <a:rPr lang="en-US" sz="2900" dirty="0">
                <a:solidFill>
                  <a:srgbClr val="808080"/>
                </a:solidFill>
                <a:latin typeface="Consolas" panose="020B0609020204030204" pitchFamily="49" charset="0"/>
              </a:rPr>
              <a:t>=</a:t>
            </a:r>
            <a:r>
              <a:rPr lang="en-US" sz="2900" dirty="0">
                <a:solidFill>
                  <a:srgbClr val="000000"/>
                </a:solidFill>
                <a:latin typeface="Consolas" panose="020B0609020204030204" pitchFamily="49" charset="0"/>
              </a:rPr>
              <a:t> </a:t>
            </a:r>
            <a:r>
              <a:rPr lang="en-US" sz="2900" dirty="0">
                <a:solidFill>
                  <a:srgbClr val="FF0000"/>
                </a:solidFill>
                <a:latin typeface="Consolas" panose="020B0609020204030204" pitchFamily="49" charset="0"/>
              </a:rPr>
              <a:t>','</a:t>
            </a:r>
            <a:r>
              <a:rPr lang="en-US" sz="2900" dirty="0">
                <a:solidFill>
                  <a:srgbClr val="808080"/>
                </a:solidFill>
                <a:latin typeface="Consolas" panose="020B0609020204030204" pitchFamily="49" charset="0"/>
              </a:rPr>
              <a:t>,</a:t>
            </a:r>
            <a:endParaRPr lang="en-US" sz="2900" dirty="0">
              <a:solidFill>
                <a:srgbClr val="000000"/>
              </a:solidFill>
              <a:latin typeface="Consolas" panose="020B0609020204030204" pitchFamily="49" charset="0"/>
            </a:endParaRPr>
          </a:p>
          <a:p>
            <a:pPr marL="0" indent="0">
              <a:buNone/>
            </a:pP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ROWTERMINATOR</a:t>
            </a:r>
            <a:r>
              <a:rPr lang="en-US" sz="2900" dirty="0">
                <a:solidFill>
                  <a:srgbClr val="000000"/>
                </a:solidFill>
                <a:latin typeface="Consolas" panose="020B0609020204030204" pitchFamily="49" charset="0"/>
              </a:rPr>
              <a:t> </a:t>
            </a:r>
            <a:r>
              <a:rPr lang="en-US" sz="2900" dirty="0">
                <a:solidFill>
                  <a:srgbClr val="808080"/>
                </a:solidFill>
                <a:latin typeface="Consolas" panose="020B0609020204030204" pitchFamily="49" charset="0"/>
              </a:rPr>
              <a:t>=</a:t>
            </a:r>
            <a:r>
              <a:rPr lang="en-US" sz="2900" dirty="0">
                <a:solidFill>
                  <a:srgbClr val="000000"/>
                </a:solidFill>
                <a:latin typeface="Consolas" panose="020B0609020204030204" pitchFamily="49" charset="0"/>
              </a:rPr>
              <a:t> </a:t>
            </a:r>
            <a:r>
              <a:rPr lang="en-US" sz="2900" dirty="0">
                <a:solidFill>
                  <a:srgbClr val="FF0000"/>
                </a:solidFill>
                <a:latin typeface="Consolas" panose="020B0609020204030204" pitchFamily="49" charset="0"/>
              </a:rPr>
              <a:t>'\n'</a:t>
            </a:r>
            <a:r>
              <a:rPr lang="en-US" sz="2900" dirty="0">
                <a:solidFill>
                  <a:srgbClr val="808080"/>
                </a:solidFill>
                <a:latin typeface="Consolas" panose="020B0609020204030204" pitchFamily="49" charset="0"/>
              </a:rPr>
              <a:t>,</a:t>
            </a:r>
            <a:endParaRPr lang="en-US" sz="2900" dirty="0">
              <a:solidFill>
                <a:srgbClr val="000000"/>
              </a:solidFill>
              <a:latin typeface="Consolas" panose="020B0609020204030204" pitchFamily="49" charset="0"/>
            </a:endParaRPr>
          </a:p>
          <a:p>
            <a:pPr marL="0" indent="0">
              <a:buNone/>
            </a:pP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TABLOCK</a:t>
            </a:r>
            <a:endParaRPr lang="en-US" sz="2900" dirty="0">
              <a:solidFill>
                <a:srgbClr val="000000"/>
              </a:solidFill>
              <a:latin typeface="Consolas" panose="020B0609020204030204" pitchFamily="49" charset="0"/>
            </a:endParaRPr>
          </a:p>
          <a:p>
            <a:pPr marL="0" indent="0">
              <a:buNone/>
            </a:pPr>
            <a:r>
              <a:rPr lang="en-US" sz="2900" dirty="0">
                <a:solidFill>
                  <a:srgbClr val="808080"/>
                </a:solidFill>
                <a:latin typeface="Consolas" panose="020B0609020204030204" pitchFamily="49" charset="0"/>
              </a:rPr>
              <a:t>);</a:t>
            </a:r>
            <a:endParaRPr lang="en-US" sz="2900" dirty="0">
              <a:solidFill>
                <a:srgbClr val="000000"/>
              </a:solidFill>
              <a:latin typeface="Consolas" panose="020B0609020204030204" pitchFamily="49" charset="0"/>
            </a:endParaRPr>
          </a:p>
          <a:p>
            <a:pPr marL="0" indent="0">
              <a:buNone/>
            </a:pPr>
            <a:endParaRPr lang="en-US" sz="2900" dirty="0">
              <a:solidFill>
                <a:srgbClr val="000000"/>
              </a:solidFill>
              <a:latin typeface="Consolas" panose="020B0609020204030204" pitchFamily="49" charset="0"/>
            </a:endParaRPr>
          </a:p>
          <a:p>
            <a:pPr marL="0" indent="0">
              <a:buNone/>
            </a:pPr>
            <a:r>
              <a:rPr lang="en-US" sz="2900" dirty="0">
                <a:solidFill>
                  <a:srgbClr val="008000"/>
                </a:solidFill>
                <a:latin typeface="Consolas" panose="020B0609020204030204" pitchFamily="49" charset="0"/>
              </a:rPr>
              <a:t>-- Revert to FULL recovery model after bulk insert</a:t>
            </a:r>
            <a:endParaRPr lang="en-US" sz="2900" dirty="0">
              <a:solidFill>
                <a:srgbClr val="000000"/>
              </a:solidFill>
              <a:latin typeface="Consolas" panose="020B0609020204030204" pitchFamily="49" charset="0"/>
            </a:endParaRPr>
          </a:p>
          <a:p>
            <a:pPr marL="0" indent="0">
              <a:buNone/>
            </a:pPr>
            <a:r>
              <a:rPr lang="en-US" sz="2900" dirty="0">
                <a:solidFill>
                  <a:srgbClr val="0000FF"/>
                </a:solidFill>
                <a:latin typeface="Consolas" panose="020B0609020204030204" pitchFamily="49" charset="0"/>
              </a:rPr>
              <a:t>ALTER</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DATABASE</a:t>
            </a:r>
            <a:r>
              <a:rPr lang="en-US" sz="2900" dirty="0">
                <a:solidFill>
                  <a:srgbClr val="000000"/>
                </a:solidFill>
                <a:latin typeface="Consolas" panose="020B0609020204030204" pitchFamily="49" charset="0"/>
              </a:rPr>
              <a:t> DB </a:t>
            </a:r>
            <a:r>
              <a:rPr lang="en-US" sz="2900" dirty="0">
                <a:solidFill>
                  <a:srgbClr val="0000FF"/>
                </a:solidFill>
                <a:latin typeface="Consolas" panose="020B0609020204030204" pitchFamily="49" charset="0"/>
              </a:rPr>
              <a:t>SET</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RECOVERY</a:t>
            </a:r>
            <a:r>
              <a:rPr lang="en-US" sz="2900" dirty="0">
                <a:solidFill>
                  <a:srgbClr val="000000"/>
                </a:solidFill>
                <a:latin typeface="Consolas" panose="020B0609020204030204" pitchFamily="49" charset="0"/>
              </a:rPr>
              <a:t> </a:t>
            </a:r>
            <a:r>
              <a:rPr lang="en-US" sz="2900" dirty="0">
                <a:solidFill>
                  <a:srgbClr val="0000FF"/>
                </a:solidFill>
                <a:latin typeface="Consolas" panose="020B0609020204030204" pitchFamily="49" charset="0"/>
              </a:rPr>
              <a:t>FULL</a:t>
            </a:r>
            <a:r>
              <a:rPr lang="en-US" sz="2900" dirty="0">
                <a:solidFill>
                  <a:srgbClr val="808080"/>
                </a:solidFill>
                <a:latin typeface="Consolas" panose="020B0609020204030204" pitchFamily="49" charset="0"/>
              </a:rPr>
              <a:t>;</a:t>
            </a:r>
            <a:endParaRPr lang="en-US" sz="2900" dirty="0"/>
          </a:p>
        </p:txBody>
      </p:sp>
    </p:spTree>
    <p:extLst>
      <p:ext uri="{BB962C8B-B14F-4D97-AF65-F5344CB8AC3E}">
        <p14:creationId xmlns:p14="http://schemas.microsoft.com/office/powerpoint/2010/main" val="16380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23D67-0514-19D0-C4CC-33308607E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6BBC9-F07C-70C6-E367-07C9C367B410}"/>
              </a:ext>
            </a:extLst>
          </p:cNvPr>
          <p:cNvSpPr>
            <a:spLocks noGrp="1"/>
          </p:cNvSpPr>
          <p:nvPr>
            <p:ph type="title"/>
          </p:nvPr>
        </p:nvSpPr>
        <p:spPr>
          <a:xfrm>
            <a:off x="912628" y="141842"/>
            <a:ext cx="10515600" cy="1325563"/>
          </a:xfrm>
        </p:spPr>
        <p:txBody>
          <a:bodyPr>
            <a:normAutofit/>
          </a:bodyPr>
          <a:lstStyle/>
          <a:p>
            <a:r>
              <a:rPr lang="en-US" sz="4000" b="1" dirty="0">
                <a:solidFill>
                  <a:schemeClr val="accent2">
                    <a:lumMod val="75000"/>
                  </a:schemeClr>
                </a:solidFill>
              </a:rPr>
              <a:t>Load faster for indexed tables</a:t>
            </a:r>
          </a:p>
        </p:txBody>
      </p:sp>
      <p:sp>
        <p:nvSpPr>
          <p:cNvPr id="3" name="Content Placeholder 2">
            <a:extLst>
              <a:ext uri="{FF2B5EF4-FFF2-40B4-BE49-F238E27FC236}">
                <a16:creationId xmlns:a16="http://schemas.microsoft.com/office/drawing/2014/main" id="{6C717216-5F17-E071-2C8D-A6FCFBAA9183}"/>
              </a:ext>
            </a:extLst>
          </p:cNvPr>
          <p:cNvSpPr>
            <a:spLocks noGrp="1"/>
          </p:cNvSpPr>
          <p:nvPr>
            <p:ph idx="1"/>
          </p:nvPr>
        </p:nvSpPr>
        <p:spPr>
          <a:xfrm>
            <a:off x="838200" y="1254642"/>
            <a:ext cx="10515600" cy="5238233"/>
          </a:xfrm>
        </p:spPr>
        <p:txBody>
          <a:bodyPr>
            <a:normAutofit fontScale="85000" lnSpcReduction="20000"/>
          </a:bodyPr>
          <a:lstStyle/>
          <a:p>
            <a:r>
              <a:rPr lang="en-US" sz="2400" dirty="0">
                <a:solidFill>
                  <a:srgbClr val="161616"/>
                </a:solidFill>
                <a:latin typeface="Segoe UI" panose="020B0502040204020203" pitchFamily="34" charset="0"/>
              </a:rPr>
              <a:t>For indexed tables</a:t>
            </a:r>
          </a:p>
          <a:p>
            <a:pPr lvl="1"/>
            <a:r>
              <a:rPr lang="en-US" dirty="0">
                <a:solidFill>
                  <a:srgbClr val="161616"/>
                </a:solidFill>
                <a:latin typeface="Segoe UI" panose="020B0502040204020203" pitchFamily="34" charset="0"/>
              </a:rPr>
              <a:t>Disable indexes</a:t>
            </a:r>
          </a:p>
          <a:p>
            <a:pPr lvl="1"/>
            <a:r>
              <a:rPr lang="en-US" dirty="0">
                <a:solidFill>
                  <a:srgbClr val="161616"/>
                </a:solidFill>
                <a:latin typeface="Segoe UI" panose="020B0502040204020203" pitchFamily="34" charset="0"/>
              </a:rPr>
              <a:t>Perform insert</a:t>
            </a:r>
          </a:p>
          <a:p>
            <a:pPr lvl="1"/>
            <a:r>
              <a:rPr lang="en-US" dirty="0">
                <a:solidFill>
                  <a:srgbClr val="161616"/>
                </a:solidFill>
                <a:latin typeface="Segoe UI" panose="020B0502040204020203" pitchFamily="34" charset="0"/>
              </a:rPr>
              <a:t>Enable indexes </a:t>
            </a:r>
          </a:p>
          <a:p>
            <a:pPr marL="0" indent="0">
              <a:buNone/>
            </a:pPr>
            <a:r>
              <a:rPr lang="en-US" sz="1800" dirty="0">
                <a:solidFill>
                  <a:srgbClr val="008000"/>
                </a:solidFill>
                <a:latin typeface="Consolas" panose="020B0609020204030204" pitchFamily="49" charset="0"/>
              </a:rPr>
              <a:t>-- Disable all indexes or Clustered index </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INDEX</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ALL</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Orders </a:t>
            </a:r>
            <a:r>
              <a:rPr lang="en-US" sz="1800" dirty="0">
                <a:solidFill>
                  <a:srgbClr val="0000FF"/>
                </a:solidFill>
                <a:latin typeface="Consolas" panose="020B0609020204030204" pitchFamily="49" charset="0"/>
              </a:rPr>
              <a:t>DISABLE</a:t>
            </a:r>
            <a:r>
              <a:rPr lang="en-US" sz="1800" dirty="0">
                <a:solidFill>
                  <a:srgbClr val="808080"/>
                </a:solidFill>
                <a:latin typeface="Consolas" panose="020B0609020204030204" pitchFamily="49" charset="0"/>
              </a:rPr>
              <a:t>;</a:t>
            </a:r>
          </a:p>
          <a:p>
            <a:pPr marL="0" indent="0">
              <a:buNone/>
            </a:pPr>
            <a:endParaRPr lang="en-US" sz="1800" dirty="0">
              <a:solidFill>
                <a:srgbClr val="808080"/>
              </a:solidFill>
              <a:latin typeface="Consolas" panose="020B0609020204030204" pitchFamily="49" charset="0"/>
            </a:endParaRPr>
          </a:p>
          <a:p>
            <a:pPr marL="0" indent="0">
              <a:buNone/>
            </a:pPr>
            <a:r>
              <a:rPr lang="en-US" sz="1800" dirty="0">
                <a:solidFill>
                  <a:srgbClr val="008000"/>
                </a:solidFill>
                <a:latin typeface="Consolas" panose="020B0609020204030204" pitchFamily="49" charset="0"/>
              </a:rPr>
              <a:t>-- Perform BULK INSERT after disabling indexes</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BULK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dbo</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Table</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'C:\Data\SourceFile.dat'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WITH </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FIELDTERMINATOR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ROWTERMINATOR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TABLOCK</a:t>
            </a:r>
            <a:endParaRPr lang="en-US" sz="18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a:t>
            </a:r>
          </a:p>
          <a:p>
            <a:pPr marL="0" indent="0">
              <a:buNone/>
            </a:pPr>
            <a:r>
              <a:rPr lang="en-US" sz="1800" dirty="0">
                <a:solidFill>
                  <a:srgbClr val="008000"/>
                </a:solidFill>
                <a:latin typeface="Consolas" panose="020B0609020204030204" pitchFamily="49" charset="0"/>
              </a:rPr>
              <a:t>-- Rebuild to enable all indexes</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INDEX</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ALL</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Orders </a:t>
            </a:r>
            <a:r>
              <a:rPr lang="en-US" sz="1800" dirty="0">
                <a:solidFill>
                  <a:srgbClr val="0000FF"/>
                </a:solidFill>
                <a:latin typeface="Consolas" panose="020B0609020204030204" pitchFamily="49" charset="0"/>
              </a:rPr>
              <a:t>REBUILD;</a:t>
            </a:r>
            <a:endParaRPr lang="en-US" dirty="0"/>
          </a:p>
        </p:txBody>
      </p:sp>
    </p:spTree>
    <p:extLst>
      <p:ext uri="{BB962C8B-B14F-4D97-AF65-F5344CB8AC3E}">
        <p14:creationId xmlns:p14="http://schemas.microsoft.com/office/powerpoint/2010/main" val="286767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B09C2-5AEE-66C8-368E-94642A356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E807E-51CF-1874-198A-0688F849EB50}"/>
              </a:ext>
            </a:extLst>
          </p:cNvPr>
          <p:cNvSpPr>
            <a:spLocks noGrp="1"/>
          </p:cNvSpPr>
          <p:nvPr>
            <p:ph type="title"/>
          </p:nvPr>
        </p:nvSpPr>
        <p:spPr/>
        <p:txBody>
          <a:bodyPr>
            <a:normAutofit/>
          </a:bodyPr>
          <a:lstStyle/>
          <a:p>
            <a:r>
              <a:rPr lang="en-US" b="1" dirty="0">
                <a:solidFill>
                  <a:schemeClr val="accent2">
                    <a:lumMod val="75000"/>
                  </a:schemeClr>
                </a:solidFill>
              </a:rPr>
              <a:t>Fast Load - By Method &amp; Optimization</a:t>
            </a:r>
            <a:br>
              <a:rPr lang="en-US" b="1" i="0" dirty="0">
                <a:solidFill>
                  <a:srgbClr val="161616"/>
                </a:solidFill>
                <a:effectLst/>
                <a:latin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F6551AFA-707B-F0F8-013D-934B88060373}"/>
              </a:ext>
            </a:extLst>
          </p:cNvPr>
          <p:cNvSpPr>
            <a:spLocks noGrp="1"/>
          </p:cNvSpPr>
          <p:nvPr>
            <p:ph idx="1"/>
          </p:nvPr>
        </p:nvSpPr>
        <p:spPr>
          <a:xfrm>
            <a:off x="838200" y="1465006"/>
            <a:ext cx="10515600" cy="4129549"/>
          </a:xfrm>
        </p:spPr>
        <p:txBody>
          <a:bodyPr>
            <a:normAutofit fontScale="92500" lnSpcReduction="20000"/>
          </a:bodyPr>
          <a:lstStyle/>
          <a:p>
            <a:pPr marL="0" indent="0">
              <a:buNone/>
            </a:pPr>
            <a:r>
              <a:rPr lang="en-US" sz="2600" dirty="0">
                <a:solidFill>
                  <a:schemeClr val="tx2">
                    <a:lumMod val="75000"/>
                    <a:lumOff val="25000"/>
                  </a:schemeClr>
                </a:solidFill>
                <a:latin typeface="Segoe UI" panose="020B0502040204020203" pitchFamily="34" charset="0"/>
                <a:cs typeface="Segoe UI" panose="020B0502040204020203" pitchFamily="34" charset="0"/>
              </a:rPr>
              <a:t>Insert..Select</a:t>
            </a:r>
          </a:p>
          <a:p>
            <a:r>
              <a:rPr lang="en-US" sz="2600" dirty="0">
                <a:latin typeface="Segoe UI" panose="020B0502040204020203" pitchFamily="34" charset="0"/>
                <a:cs typeface="Segoe UI" panose="020B0502040204020203" pitchFamily="34" charset="0"/>
              </a:rPr>
              <a:t>Add tablock hint for minimal logging and parallel operation</a:t>
            </a:r>
          </a:p>
          <a:p>
            <a:endParaRPr lang="en-US" sz="2600" dirty="0">
              <a:latin typeface="Segoe UI" panose="020B0502040204020203" pitchFamily="34" charset="0"/>
              <a:cs typeface="Segoe UI" panose="020B0502040204020203" pitchFamily="34" charset="0"/>
            </a:endParaRPr>
          </a:p>
          <a:p>
            <a:pPr marL="0" indent="0">
              <a:buNone/>
            </a:pPr>
            <a:r>
              <a:rPr lang="en-US" sz="2600" dirty="0">
                <a:solidFill>
                  <a:schemeClr val="tx2">
                    <a:lumMod val="75000"/>
                    <a:lumOff val="25000"/>
                  </a:schemeClr>
                </a:solidFill>
                <a:latin typeface="Segoe UI" panose="020B0502040204020203" pitchFamily="34" charset="0"/>
                <a:cs typeface="Segoe UI" panose="020B0502040204020203" pitchFamily="34" charset="0"/>
              </a:rPr>
              <a:t>Select..Into</a:t>
            </a:r>
          </a:p>
          <a:p>
            <a:r>
              <a:rPr lang="en-US" sz="2600" dirty="0">
                <a:latin typeface="Segoe UI" panose="020B0502040204020203" pitchFamily="34" charset="0"/>
                <a:cs typeface="Segoe UI" panose="020B0502040204020203" pitchFamily="34" charset="0"/>
              </a:rPr>
              <a:t>Already fast </a:t>
            </a:r>
          </a:p>
          <a:p>
            <a:pPr marL="0" indent="0">
              <a:buNone/>
            </a:pPr>
            <a:endParaRPr lang="en-US" sz="2600" dirty="0"/>
          </a:p>
          <a:p>
            <a:pPr marL="0" indent="0">
              <a:buNone/>
            </a:pPr>
            <a:r>
              <a:rPr lang="en-US" sz="2600" dirty="0">
                <a:solidFill>
                  <a:schemeClr val="tx2">
                    <a:lumMod val="75000"/>
                    <a:lumOff val="25000"/>
                  </a:schemeClr>
                </a:solidFill>
                <a:latin typeface="Segoe UI" panose="020B0502040204020203" pitchFamily="34" charset="0"/>
                <a:cs typeface="Segoe UI" panose="020B0502040204020203" pitchFamily="34" charset="0"/>
              </a:rPr>
              <a:t>Openrowset</a:t>
            </a:r>
          </a:p>
          <a:p>
            <a:r>
              <a:rPr lang="en-US" sz="2600" dirty="0">
                <a:latin typeface="Segoe UI" panose="020B0502040204020203" pitchFamily="34" charset="0"/>
                <a:cs typeface="Segoe UI" panose="020B0502040204020203" pitchFamily="34" charset="0"/>
              </a:rPr>
              <a:t>Add Bulk hint to load csv</a:t>
            </a:r>
          </a:p>
          <a:p>
            <a:r>
              <a:rPr lang="en-US" sz="2600" dirty="0">
                <a:latin typeface="Segoe UI" panose="020B0502040204020203" pitchFamily="34" charset="0"/>
                <a:cs typeface="Segoe UI" panose="020B0502040204020203" pitchFamily="34" charset="0"/>
              </a:rPr>
              <a:t>Use ORDER clause for indexed tables</a:t>
            </a:r>
          </a:p>
          <a:p>
            <a:r>
              <a:rPr lang="en-US" sz="2600" dirty="0">
                <a:latin typeface="Segoe UI" panose="020B0502040204020203" pitchFamily="34" charset="0"/>
                <a:cs typeface="Segoe UI" panose="020B0502040204020203" pitchFamily="34" charset="0"/>
              </a:rPr>
              <a:t>Use TABLOCK hint for heap tables</a:t>
            </a:r>
          </a:p>
          <a:p>
            <a:endParaRPr lang="en-US" dirty="0"/>
          </a:p>
          <a:p>
            <a:endParaRPr lang="en-US" dirty="0"/>
          </a:p>
          <a:p>
            <a:endParaRPr lang="en-US" dirty="0"/>
          </a:p>
        </p:txBody>
      </p:sp>
    </p:spTree>
    <p:extLst>
      <p:ext uri="{BB962C8B-B14F-4D97-AF65-F5344CB8AC3E}">
        <p14:creationId xmlns:p14="http://schemas.microsoft.com/office/powerpoint/2010/main" val="318844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3010E-10E8-4B11-144C-E4FB7A8B6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2720E-4D93-913D-206B-7BE15715D76E}"/>
              </a:ext>
            </a:extLst>
          </p:cNvPr>
          <p:cNvSpPr>
            <a:spLocks noGrp="1"/>
          </p:cNvSpPr>
          <p:nvPr>
            <p:ph type="title"/>
          </p:nvPr>
        </p:nvSpPr>
        <p:spPr/>
        <p:txBody>
          <a:bodyPr>
            <a:normAutofit/>
          </a:bodyPr>
          <a:lstStyle/>
          <a:p>
            <a:r>
              <a:rPr lang="en-US" b="1" dirty="0">
                <a:solidFill>
                  <a:schemeClr val="accent2">
                    <a:lumMod val="75000"/>
                  </a:schemeClr>
                </a:solidFill>
              </a:rPr>
              <a:t>Fast Load - By Method &amp; Optimization</a:t>
            </a:r>
            <a:br>
              <a:rPr lang="en-US" b="1" i="0" dirty="0">
                <a:solidFill>
                  <a:srgbClr val="161616"/>
                </a:solidFill>
                <a:effectLst/>
                <a:latin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61047B0F-2318-5EB5-7CF6-57E9DC981970}"/>
              </a:ext>
            </a:extLst>
          </p:cNvPr>
          <p:cNvSpPr>
            <a:spLocks noGrp="1"/>
          </p:cNvSpPr>
          <p:nvPr>
            <p:ph idx="1"/>
          </p:nvPr>
        </p:nvSpPr>
        <p:spPr>
          <a:xfrm>
            <a:off x="838200" y="1553497"/>
            <a:ext cx="10515600" cy="3755922"/>
          </a:xfrm>
        </p:spPr>
        <p:txBody>
          <a:bodyPr>
            <a:normAutofit fontScale="92500" lnSpcReduction="20000"/>
          </a:bodyPr>
          <a:lstStyle/>
          <a:p>
            <a:pPr marL="0" indent="0">
              <a:buNone/>
            </a:pPr>
            <a:r>
              <a:rPr lang="en-US" sz="2600" dirty="0">
                <a:solidFill>
                  <a:schemeClr val="tx2">
                    <a:lumMod val="75000"/>
                    <a:lumOff val="25000"/>
                  </a:schemeClr>
                </a:solidFill>
                <a:latin typeface="Segoe UI" panose="020B0502040204020203" pitchFamily="34" charset="0"/>
                <a:cs typeface="Segoe UI" panose="020B0502040204020203" pitchFamily="34" charset="0"/>
              </a:rPr>
              <a:t>Bulk Insert</a:t>
            </a:r>
          </a:p>
          <a:p>
            <a:r>
              <a:rPr lang="en-US" sz="2600" dirty="0">
                <a:latin typeface="Segoe UI" panose="020B0502040204020203" pitchFamily="34" charset="0"/>
                <a:cs typeface="Segoe UI" panose="020B0502040204020203" pitchFamily="34" charset="0"/>
              </a:rPr>
              <a:t>Use native format as source file</a:t>
            </a:r>
          </a:p>
          <a:p>
            <a:r>
              <a:rPr lang="en-US" sz="2600" dirty="0">
                <a:latin typeface="Segoe UI" panose="020B0502040204020203" pitchFamily="34" charset="0"/>
                <a:cs typeface="Segoe UI" panose="020B0502040204020203" pitchFamily="34" charset="0"/>
              </a:rPr>
              <a:t>Use ORDER clause for indexed tables</a:t>
            </a:r>
          </a:p>
          <a:p>
            <a:r>
              <a:rPr lang="en-US" sz="2600" dirty="0">
                <a:latin typeface="Segoe UI" panose="020B0502040204020203" pitchFamily="34" charset="0"/>
                <a:cs typeface="Segoe UI" panose="020B0502040204020203" pitchFamily="34" charset="0"/>
              </a:rPr>
              <a:t>Use TABLOCK hint for heap tables</a:t>
            </a:r>
          </a:p>
          <a:p>
            <a:endParaRPr lang="en-US" dirty="0">
              <a:latin typeface="Segoe UI" panose="020B0502040204020203" pitchFamily="34" charset="0"/>
              <a:cs typeface="Segoe UI" panose="020B0502040204020203" pitchFamily="34" charset="0"/>
            </a:endParaRPr>
          </a:p>
          <a:p>
            <a:pPr marL="0" indent="0">
              <a:buNone/>
            </a:pPr>
            <a:r>
              <a:rPr lang="en-US" sz="2600" dirty="0">
                <a:solidFill>
                  <a:schemeClr val="tx2">
                    <a:lumMod val="75000"/>
                    <a:lumOff val="25000"/>
                  </a:schemeClr>
                </a:solidFill>
                <a:latin typeface="Segoe UI" panose="020B0502040204020203" pitchFamily="34" charset="0"/>
                <a:cs typeface="Segoe UI" panose="020B0502040204020203" pitchFamily="34" charset="0"/>
              </a:rPr>
              <a:t>bcp</a:t>
            </a:r>
          </a:p>
          <a:p>
            <a:r>
              <a:rPr lang="en-US" sz="2600" dirty="0">
                <a:latin typeface="Segoe UI" panose="020B0502040204020203" pitchFamily="34" charset="0"/>
                <a:cs typeface="Segoe UI" panose="020B0502040204020203" pitchFamily="34" charset="0"/>
              </a:rPr>
              <a:t>Export using Native format and ‘queryout’ with ‘order by’ clause</a:t>
            </a:r>
          </a:p>
          <a:p>
            <a:r>
              <a:rPr lang="en-US" sz="2600" dirty="0">
                <a:latin typeface="Segoe UI" panose="020B0502040204020203" pitchFamily="34" charset="0"/>
                <a:cs typeface="Segoe UI" panose="020B0502040204020203" pitchFamily="34" charset="0"/>
              </a:rPr>
              <a:t>Import using formatted file and ORDER hint for clustered tables </a:t>
            </a:r>
          </a:p>
          <a:p>
            <a:r>
              <a:rPr lang="en-US" sz="2600" dirty="0">
                <a:latin typeface="Segoe UI" panose="020B0502040204020203" pitchFamily="34" charset="0"/>
                <a:cs typeface="Segoe UI" panose="020B0502040204020203" pitchFamily="34" charset="0"/>
              </a:rPr>
              <a:t>Use TABLOCK hint for heap tables</a:t>
            </a:r>
          </a:p>
          <a:p>
            <a:endParaRPr lang="en-US" dirty="0"/>
          </a:p>
          <a:p>
            <a:endParaRPr lang="en-US" dirty="0"/>
          </a:p>
          <a:p>
            <a:endParaRPr lang="en-US" dirty="0"/>
          </a:p>
        </p:txBody>
      </p:sp>
    </p:spTree>
    <p:extLst>
      <p:ext uri="{BB962C8B-B14F-4D97-AF65-F5344CB8AC3E}">
        <p14:creationId xmlns:p14="http://schemas.microsoft.com/office/powerpoint/2010/main" val="114989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14E2-74A7-0A63-4D67-5BB8FC8C2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A6746-4F39-7069-A226-E345382FDB51}"/>
              </a:ext>
            </a:extLst>
          </p:cNvPr>
          <p:cNvSpPr>
            <a:spLocks noGrp="1"/>
          </p:cNvSpPr>
          <p:nvPr>
            <p:ph type="title"/>
          </p:nvPr>
        </p:nvSpPr>
        <p:spPr/>
        <p:txBody>
          <a:bodyPr>
            <a:normAutofit/>
          </a:bodyPr>
          <a:lstStyle/>
          <a:p>
            <a:r>
              <a:rPr lang="en-US" b="1" dirty="0">
                <a:solidFill>
                  <a:schemeClr val="accent2">
                    <a:lumMod val="75000"/>
                  </a:schemeClr>
                </a:solidFill>
              </a:rPr>
              <a:t>Fast Load - By Method &amp; Optimization</a:t>
            </a:r>
            <a:br>
              <a:rPr lang="en-US" b="1" i="0" dirty="0">
                <a:solidFill>
                  <a:srgbClr val="161616"/>
                </a:solidFill>
                <a:effectLst/>
                <a:latin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41A7BB4E-3CC5-A86F-DA7E-7B46DCC0DE96}"/>
              </a:ext>
            </a:extLst>
          </p:cNvPr>
          <p:cNvSpPr>
            <a:spLocks noGrp="1"/>
          </p:cNvSpPr>
          <p:nvPr>
            <p:ph idx="1"/>
          </p:nvPr>
        </p:nvSpPr>
        <p:spPr>
          <a:xfrm>
            <a:off x="838200" y="1553497"/>
            <a:ext cx="10515600" cy="2094271"/>
          </a:xfrm>
        </p:spPr>
        <p:txBody>
          <a:bodyPr>
            <a:normAutofit fontScale="92500" lnSpcReduction="20000"/>
          </a:bodyPr>
          <a:lstStyle/>
          <a:p>
            <a:pPr marL="0" indent="0">
              <a:buNone/>
            </a:pPr>
            <a:r>
              <a:rPr lang="en-US" sz="3000" dirty="0">
                <a:solidFill>
                  <a:schemeClr val="tx2">
                    <a:lumMod val="75000"/>
                    <a:lumOff val="25000"/>
                  </a:schemeClr>
                </a:solidFill>
                <a:latin typeface="Segoe UI" panose="020B0502040204020203" pitchFamily="34" charset="0"/>
                <a:cs typeface="Segoe UI" panose="020B0502040204020203" pitchFamily="34" charset="0"/>
              </a:rPr>
              <a:t>dbatools</a:t>
            </a:r>
          </a:p>
          <a:p>
            <a:r>
              <a:rPr lang="en-US" sz="2600" dirty="0">
                <a:latin typeface="Segoe UI" panose="020B0502040204020203" pitchFamily="34" charset="0"/>
                <a:cs typeface="Segoe UI" panose="020B0502040204020203" pitchFamily="34" charset="0"/>
              </a:rPr>
              <a:t>Copy-</a:t>
            </a:r>
            <a:r>
              <a:rPr lang="en-US" sz="2600" dirty="0" err="1">
                <a:latin typeface="Segoe UI" panose="020B0502040204020203" pitchFamily="34" charset="0"/>
                <a:cs typeface="Segoe UI" panose="020B0502040204020203" pitchFamily="34" charset="0"/>
              </a:rPr>
              <a:t>DbaDbTableData</a:t>
            </a:r>
            <a:endParaRPr lang="en-US" sz="2600" dirty="0">
              <a:latin typeface="Segoe UI" panose="020B0502040204020203" pitchFamily="34" charset="0"/>
              <a:cs typeface="Segoe UI" panose="020B0502040204020203" pitchFamily="34" charset="0"/>
            </a:endParaRPr>
          </a:p>
          <a:p>
            <a:pPr marL="685800" lvl="2">
              <a:spcBef>
                <a:spcPts val="1000"/>
              </a:spcBef>
            </a:pPr>
            <a:r>
              <a:rPr lang="en-US" sz="2700" dirty="0">
                <a:latin typeface="Segoe UI" panose="020B0502040204020203" pitchFamily="34" charset="0"/>
                <a:cs typeface="Segoe UI" panose="020B0502040204020203" pitchFamily="34" charset="0"/>
              </a:rPr>
              <a:t>Faster to copy data from one server to other</a:t>
            </a:r>
          </a:p>
          <a:p>
            <a:r>
              <a:rPr lang="en-US" sz="2600" dirty="0">
                <a:latin typeface="Segoe UI" panose="020B0502040204020203" pitchFamily="34" charset="0"/>
                <a:cs typeface="Segoe UI" panose="020B0502040204020203" pitchFamily="34" charset="0"/>
              </a:rPr>
              <a:t>Import-</a:t>
            </a:r>
            <a:r>
              <a:rPr lang="en-US" sz="2600" dirty="0" err="1">
                <a:latin typeface="Segoe UI" panose="020B0502040204020203" pitchFamily="34" charset="0"/>
                <a:cs typeface="Segoe UI" panose="020B0502040204020203" pitchFamily="34" charset="0"/>
              </a:rPr>
              <a:t>DbaCsv</a:t>
            </a:r>
            <a:endParaRPr lang="en-US" sz="2600" dirty="0">
              <a:latin typeface="Segoe UI" panose="020B0502040204020203" pitchFamily="34" charset="0"/>
              <a:cs typeface="Segoe UI" panose="020B0502040204020203" pitchFamily="34" charset="0"/>
            </a:endParaRPr>
          </a:p>
          <a:p>
            <a:pPr marL="685800" lvl="2">
              <a:spcBef>
                <a:spcPts val="1000"/>
              </a:spcBef>
            </a:pPr>
            <a:r>
              <a:rPr lang="en-US" sz="2700" dirty="0">
                <a:latin typeface="Segoe UI" panose="020B0502040204020203" pitchFamily="34" charset="0"/>
                <a:cs typeface="Segoe UI" panose="020B0502040204020203" pitchFamily="34" charset="0"/>
              </a:rPr>
              <a:t>Faster option to import from csv to table</a:t>
            </a:r>
          </a:p>
          <a:p>
            <a:endParaRPr lang="en-US" dirty="0"/>
          </a:p>
          <a:p>
            <a:endParaRPr lang="en-US" dirty="0"/>
          </a:p>
        </p:txBody>
      </p:sp>
    </p:spTree>
    <p:extLst>
      <p:ext uri="{BB962C8B-B14F-4D97-AF65-F5344CB8AC3E}">
        <p14:creationId xmlns:p14="http://schemas.microsoft.com/office/powerpoint/2010/main" val="222805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B3B75-B936-2091-24A8-99DA9F7DB22E}"/>
              </a:ext>
            </a:extLst>
          </p:cNvPr>
          <p:cNvSpPr>
            <a:spLocks noGrp="1"/>
          </p:cNvSpPr>
          <p:nvPr>
            <p:ph type="title"/>
          </p:nvPr>
        </p:nvSpPr>
        <p:spPr>
          <a:xfrm>
            <a:off x="769374" y="139445"/>
            <a:ext cx="10515600" cy="1325563"/>
          </a:xfrm>
        </p:spPr>
        <p:txBody>
          <a:bodyPr>
            <a:normAutofit/>
          </a:bodyPr>
          <a:lstStyle/>
          <a:p>
            <a:r>
              <a:rPr lang="en-US" sz="4000" b="1" dirty="0">
                <a:solidFill>
                  <a:schemeClr val="accent2">
                    <a:lumMod val="75000"/>
                  </a:schemeClr>
                </a:solidFill>
              </a:rPr>
              <a:t>Fast Load – By Scenario</a:t>
            </a:r>
          </a:p>
        </p:txBody>
      </p:sp>
      <p:sp>
        <p:nvSpPr>
          <p:cNvPr id="3" name="Content Placeholder 2">
            <a:extLst>
              <a:ext uri="{FF2B5EF4-FFF2-40B4-BE49-F238E27FC236}">
                <a16:creationId xmlns:a16="http://schemas.microsoft.com/office/drawing/2014/main" id="{6217D93C-2ECC-85A6-E663-55D12A53E2B1}"/>
              </a:ext>
            </a:extLst>
          </p:cNvPr>
          <p:cNvSpPr>
            <a:spLocks noGrp="1"/>
          </p:cNvSpPr>
          <p:nvPr>
            <p:ph idx="1"/>
          </p:nvPr>
        </p:nvSpPr>
        <p:spPr>
          <a:xfrm>
            <a:off x="838200" y="1543666"/>
            <a:ext cx="10515600" cy="5083276"/>
          </a:xfrm>
        </p:spPr>
        <p:txBody>
          <a:bodyPr>
            <a:normAutofit fontScale="62500" lnSpcReduction="20000"/>
          </a:bodyPr>
          <a:lstStyle/>
          <a:p>
            <a:r>
              <a:rPr lang="en-US" sz="3100" dirty="0">
                <a:latin typeface="Segoe UI" panose="020B0502040204020203" pitchFamily="34" charset="0"/>
                <a:cs typeface="Segoe UI" panose="020B0502040204020203" pitchFamily="34" charset="0"/>
              </a:rPr>
              <a:t>From one table to another table in </a:t>
            </a:r>
            <a:r>
              <a:rPr lang="en-US" sz="3100" b="1" dirty="0">
                <a:latin typeface="Segoe UI" panose="020B0502040204020203" pitchFamily="34" charset="0"/>
                <a:cs typeface="Segoe UI" panose="020B0502040204020203" pitchFamily="34" charset="0"/>
              </a:rPr>
              <a:t>same</a:t>
            </a:r>
            <a:r>
              <a:rPr lang="en-US" sz="3100" dirty="0">
                <a:latin typeface="Segoe UI" panose="020B0502040204020203" pitchFamily="34" charset="0"/>
                <a:cs typeface="Segoe UI" panose="020B0502040204020203" pitchFamily="34" charset="0"/>
              </a:rPr>
              <a:t> server</a:t>
            </a:r>
          </a:p>
          <a:p>
            <a:pPr lvl="1"/>
            <a:r>
              <a:rPr lang="en-US" sz="3100" dirty="0">
                <a:solidFill>
                  <a:schemeClr val="tx2">
                    <a:lumMod val="75000"/>
                    <a:lumOff val="25000"/>
                  </a:schemeClr>
                </a:solidFill>
                <a:latin typeface="Segoe UI" panose="020B0502040204020203" pitchFamily="34" charset="0"/>
                <a:cs typeface="Segoe UI" panose="020B0502040204020203" pitchFamily="34" charset="0"/>
              </a:rPr>
              <a:t>Insert Into..with tablock</a:t>
            </a:r>
          </a:p>
          <a:p>
            <a:pPr lvl="1"/>
            <a:r>
              <a:rPr lang="en-US" sz="3100" dirty="0">
                <a:solidFill>
                  <a:schemeClr val="tx2">
                    <a:lumMod val="75000"/>
                    <a:lumOff val="25000"/>
                  </a:schemeClr>
                </a:solidFill>
                <a:latin typeface="Segoe UI" panose="020B0502040204020203" pitchFamily="34" charset="0"/>
                <a:cs typeface="Segoe UI" panose="020B0502040204020203" pitchFamily="34" charset="0"/>
              </a:rPr>
              <a:t>Select Into</a:t>
            </a:r>
          </a:p>
          <a:p>
            <a:pPr lvl="1"/>
            <a:r>
              <a:rPr lang="en-US" sz="3100" dirty="0">
                <a:solidFill>
                  <a:schemeClr val="tx2">
                    <a:lumMod val="75000"/>
                    <a:lumOff val="25000"/>
                  </a:schemeClr>
                </a:solidFill>
                <a:latin typeface="Segoe UI" panose="020B0502040204020203" pitchFamily="34" charset="0"/>
                <a:cs typeface="Segoe UI" panose="020B0502040204020203" pitchFamily="34" charset="0"/>
              </a:rPr>
              <a:t>dbatools</a:t>
            </a:r>
            <a:r>
              <a:rPr lang="en-US" sz="3000" dirty="0">
                <a:solidFill>
                  <a:schemeClr val="tx2">
                    <a:lumMod val="75000"/>
                    <a:lumOff val="25000"/>
                  </a:schemeClr>
                </a:solidFill>
                <a:latin typeface="Segoe UI" panose="020B0502040204020203" pitchFamily="34" charset="0"/>
                <a:cs typeface="Segoe UI" panose="020B0502040204020203" pitchFamily="34" charset="0"/>
              </a:rPr>
              <a:t>: Copy-</a:t>
            </a:r>
            <a:r>
              <a:rPr lang="en-US" sz="3000" dirty="0" err="1">
                <a:solidFill>
                  <a:schemeClr val="tx2">
                    <a:lumMod val="75000"/>
                    <a:lumOff val="25000"/>
                  </a:schemeClr>
                </a:solidFill>
                <a:latin typeface="Segoe UI" panose="020B0502040204020203" pitchFamily="34" charset="0"/>
                <a:cs typeface="Segoe UI" panose="020B0502040204020203" pitchFamily="34" charset="0"/>
              </a:rPr>
              <a:t>DbaDbTableData</a:t>
            </a:r>
            <a:endParaRPr lang="en-US" sz="3000" dirty="0">
              <a:solidFill>
                <a:schemeClr val="tx2">
                  <a:lumMod val="75000"/>
                  <a:lumOff val="25000"/>
                </a:schemeClr>
              </a:solidFill>
              <a:latin typeface="Segoe UI" panose="020B0502040204020203" pitchFamily="34" charset="0"/>
              <a:cs typeface="Segoe UI" panose="020B0502040204020203" pitchFamily="34" charset="0"/>
            </a:endParaRPr>
          </a:p>
          <a:p>
            <a:pPr lvl="1"/>
            <a:endParaRPr lang="en-US" sz="3100" dirty="0">
              <a:solidFill>
                <a:schemeClr val="tx2">
                  <a:lumMod val="75000"/>
                  <a:lumOff val="25000"/>
                </a:schemeClr>
              </a:solidFill>
              <a:latin typeface="Segoe UI" panose="020B0502040204020203" pitchFamily="34" charset="0"/>
              <a:cs typeface="Segoe UI" panose="020B0502040204020203" pitchFamily="34" charset="0"/>
            </a:endParaRPr>
          </a:p>
          <a:p>
            <a:pPr lvl="1"/>
            <a:endParaRPr lang="en-US" sz="3100" dirty="0">
              <a:latin typeface="Segoe UI" panose="020B0502040204020203" pitchFamily="34" charset="0"/>
              <a:cs typeface="Segoe UI" panose="020B0502040204020203" pitchFamily="34" charset="0"/>
            </a:endParaRPr>
          </a:p>
          <a:p>
            <a:r>
              <a:rPr lang="en-US" sz="3100" dirty="0">
                <a:latin typeface="Segoe UI" panose="020B0502040204020203" pitchFamily="34" charset="0"/>
                <a:cs typeface="Segoe UI" panose="020B0502040204020203" pitchFamily="34" charset="0"/>
              </a:rPr>
              <a:t>From one table to another table in </a:t>
            </a:r>
            <a:r>
              <a:rPr lang="en-US" sz="3100" b="1" dirty="0">
                <a:latin typeface="Segoe UI" panose="020B0502040204020203" pitchFamily="34" charset="0"/>
                <a:cs typeface="Segoe UI" panose="020B0502040204020203" pitchFamily="34" charset="0"/>
              </a:rPr>
              <a:t>different</a:t>
            </a:r>
            <a:r>
              <a:rPr lang="en-US" sz="3100" dirty="0">
                <a:latin typeface="Segoe UI" panose="020B0502040204020203" pitchFamily="34" charset="0"/>
                <a:cs typeface="Segoe UI" panose="020B0502040204020203" pitchFamily="34" charset="0"/>
              </a:rPr>
              <a:t> server</a:t>
            </a:r>
          </a:p>
          <a:p>
            <a:pPr lvl="1"/>
            <a:r>
              <a:rPr lang="en-US" sz="3000" dirty="0">
                <a:solidFill>
                  <a:schemeClr val="tx2">
                    <a:lumMod val="75000"/>
                    <a:lumOff val="25000"/>
                  </a:schemeClr>
                </a:solidFill>
                <a:latin typeface="Segoe UI" panose="020B0502040204020203" pitchFamily="34" charset="0"/>
                <a:cs typeface="Segoe UI" panose="020B0502040204020203" pitchFamily="34" charset="0"/>
              </a:rPr>
              <a:t>dbatools: Copy-</a:t>
            </a:r>
            <a:r>
              <a:rPr lang="en-US" sz="3000" dirty="0" err="1">
                <a:solidFill>
                  <a:schemeClr val="tx2">
                    <a:lumMod val="75000"/>
                    <a:lumOff val="25000"/>
                  </a:schemeClr>
                </a:solidFill>
                <a:latin typeface="Segoe UI" panose="020B0502040204020203" pitchFamily="34" charset="0"/>
                <a:cs typeface="Segoe UI" panose="020B0502040204020203" pitchFamily="34" charset="0"/>
              </a:rPr>
              <a:t>DbaDbTableData</a:t>
            </a:r>
            <a:endParaRPr lang="en-US" sz="3000" dirty="0">
              <a:solidFill>
                <a:schemeClr val="tx2">
                  <a:lumMod val="75000"/>
                  <a:lumOff val="25000"/>
                </a:schemeClr>
              </a:solidFill>
              <a:latin typeface="Segoe UI" panose="020B0502040204020203" pitchFamily="34" charset="0"/>
              <a:cs typeface="Segoe UI" panose="020B0502040204020203" pitchFamily="34" charset="0"/>
            </a:endParaRPr>
          </a:p>
          <a:p>
            <a:pPr lvl="1"/>
            <a:endParaRPr lang="en-US" sz="3100" dirty="0">
              <a:solidFill>
                <a:schemeClr val="tx2">
                  <a:lumMod val="75000"/>
                  <a:lumOff val="25000"/>
                </a:schemeClr>
              </a:solidFill>
              <a:latin typeface="Segoe UI" panose="020B0502040204020203" pitchFamily="34" charset="0"/>
              <a:cs typeface="Segoe UI" panose="020B0502040204020203" pitchFamily="34" charset="0"/>
            </a:endParaRPr>
          </a:p>
          <a:p>
            <a:pPr lvl="2"/>
            <a:endParaRPr lang="en-US" sz="3100" dirty="0">
              <a:latin typeface="Segoe UI" panose="020B0502040204020203" pitchFamily="34" charset="0"/>
              <a:cs typeface="Segoe UI" panose="020B0502040204020203" pitchFamily="34" charset="0"/>
            </a:endParaRPr>
          </a:p>
          <a:p>
            <a:r>
              <a:rPr lang="en-US" sz="3100" dirty="0">
                <a:latin typeface="Segoe UI" panose="020B0502040204020203" pitchFamily="34" charset="0"/>
                <a:cs typeface="Segoe UI" panose="020B0502040204020203" pitchFamily="34" charset="0"/>
              </a:rPr>
              <a:t>From file to table</a:t>
            </a:r>
          </a:p>
          <a:p>
            <a:pPr lvl="1"/>
            <a:r>
              <a:rPr lang="en-US" sz="3100" dirty="0">
                <a:solidFill>
                  <a:schemeClr val="tx2">
                    <a:lumMod val="75000"/>
                    <a:lumOff val="25000"/>
                  </a:schemeClr>
                </a:solidFill>
                <a:latin typeface="Segoe UI" panose="020B0502040204020203" pitchFamily="34" charset="0"/>
                <a:cs typeface="Segoe UI" panose="020B0502040204020203" pitchFamily="34" charset="0"/>
              </a:rPr>
              <a:t>Bulk Insert</a:t>
            </a:r>
          </a:p>
          <a:p>
            <a:pPr lvl="1"/>
            <a:r>
              <a:rPr lang="en-US" sz="3100" dirty="0">
                <a:solidFill>
                  <a:schemeClr val="tx2">
                    <a:lumMod val="75000"/>
                    <a:lumOff val="25000"/>
                  </a:schemeClr>
                </a:solidFill>
                <a:latin typeface="Segoe UI" panose="020B0502040204020203" pitchFamily="34" charset="0"/>
                <a:cs typeface="Segoe UI" panose="020B0502040204020203" pitchFamily="34" charset="0"/>
              </a:rPr>
              <a:t>Bcp</a:t>
            </a:r>
          </a:p>
          <a:p>
            <a:pPr lvl="1"/>
            <a:r>
              <a:rPr lang="en-US" sz="3200" dirty="0">
                <a:solidFill>
                  <a:schemeClr val="tx2">
                    <a:lumMod val="75000"/>
                    <a:lumOff val="25000"/>
                  </a:schemeClr>
                </a:solidFill>
                <a:latin typeface="Segoe UI" panose="020B0502040204020203" pitchFamily="34" charset="0"/>
                <a:cs typeface="Segoe UI" panose="020B0502040204020203" pitchFamily="34" charset="0"/>
              </a:rPr>
              <a:t>dbatools: Import-</a:t>
            </a:r>
            <a:r>
              <a:rPr lang="en-US" sz="3200" dirty="0" err="1">
                <a:solidFill>
                  <a:schemeClr val="tx2">
                    <a:lumMod val="75000"/>
                    <a:lumOff val="25000"/>
                  </a:schemeClr>
                </a:solidFill>
                <a:latin typeface="Segoe UI" panose="020B0502040204020203" pitchFamily="34" charset="0"/>
                <a:cs typeface="Segoe UI" panose="020B0502040204020203" pitchFamily="34" charset="0"/>
              </a:rPr>
              <a:t>DbaCsv</a:t>
            </a:r>
            <a:endParaRPr lang="en-US" sz="3100" dirty="0">
              <a:solidFill>
                <a:schemeClr val="tx2">
                  <a:lumMod val="75000"/>
                  <a:lumOff val="25000"/>
                </a:schemeClr>
              </a:solidFill>
              <a:latin typeface="Segoe UI" panose="020B0502040204020203" pitchFamily="34" charset="0"/>
              <a:cs typeface="Segoe UI" panose="020B0502040204020203" pitchFamily="34" charset="0"/>
            </a:endParaRPr>
          </a:p>
          <a:p>
            <a:pPr lvl="1"/>
            <a:endParaRPr lang="en-US" sz="3100" dirty="0">
              <a:latin typeface="Segoe UI" panose="020B0502040204020203" pitchFamily="34" charset="0"/>
              <a:cs typeface="Segoe UI" panose="020B0502040204020203" pitchFamily="34" charset="0"/>
            </a:endParaRPr>
          </a:p>
          <a:p>
            <a:r>
              <a:rPr lang="en-US" sz="3100" dirty="0">
                <a:latin typeface="Segoe UI" panose="020B0502040204020203" pitchFamily="34" charset="0"/>
                <a:cs typeface="Segoe UI" panose="020B0502040204020203" pitchFamily="34" charset="0"/>
              </a:rPr>
              <a:t>Ad-hoc load </a:t>
            </a:r>
          </a:p>
          <a:p>
            <a:pPr lvl="1"/>
            <a:r>
              <a:rPr lang="en-US" sz="3100" dirty="0">
                <a:solidFill>
                  <a:schemeClr val="tx2">
                    <a:lumMod val="75000"/>
                    <a:lumOff val="25000"/>
                  </a:schemeClr>
                </a:solidFill>
                <a:latin typeface="Segoe UI" panose="020B0502040204020203" pitchFamily="34" charset="0"/>
                <a:cs typeface="Segoe UI" panose="020B0502040204020203" pitchFamily="34" charset="0"/>
              </a:rPr>
              <a:t>Import/Export Wizard</a:t>
            </a:r>
          </a:p>
          <a:p>
            <a:pPr lvl="1"/>
            <a:endParaRPr lang="en-US" dirty="0"/>
          </a:p>
          <a:p>
            <a:pPr marL="914400" lvl="2" indent="0">
              <a:buNone/>
            </a:pPr>
            <a:endParaRPr lang="en-US" dirty="0"/>
          </a:p>
          <a:p>
            <a:pPr lvl="1"/>
            <a:endParaRPr lang="en-US" dirty="0"/>
          </a:p>
          <a:p>
            <a:pPr lvl="2"/>
            <a:endParaRPr lang="en-US" dirty="0"/>
          </a:p>
          <a:p>
            <a:pPr lvl="2"/>
            <a:endParaRPr lang="en-US" dirty="0"/>
          </a:p>
          <a:p>
            <a:pPr lvl="1"/>
            <a:endParaRPr lang="en-US" dirty="0"/>
          </a:p>
        </p:txBody>
      </p:sp>
    </p:spTree>
    <p:extLst>
      <p:ext uri="{BB962C8B-B14F-4D97-AF65-F5344CB8AC3E}">
        <p14:creationId xmlns:p14="http://schemas.microsoft.com/office/powerpoint/2010/main" val="2830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4425F32-0DC2-9AEA-78AE-1E138926C0DD}"/>
              </a:ext>
            </a:extLst>
          </p:cNvPr>
          <p:cNvGraphicFramePr>
            <a:graphicFrameLocks noGrp="1"/>
          </p:cNvGraphicFramePr>
          <p:nvPr>
            <p:ph idx="1"/>
            <p:extLst>
              <p:ext uri="{D42A27DB-BD31-4B8C-83A1-F6EECF244321}">
                <p14:modId xmlns:p14="http://schemas.microsoft.com/office/powerpoint/2010/main" val="1630974982"/>
              </p:ext>
            </p:extLst>
          </p:nvPr>
        </p:nvGraphicFramePr>
        <p:xfrm>
          <a:off x="439991" y="442452"/>
          <a:ext cx="11449669" cy="5362579"/>
        </p:xfrm>
        <a:graphic>
          <a:graphicData uri="http://schemas.openxmlformats.org/drawingml/2006/table">
            <a:tbl>
              <a:tblPr/>
              <a:tblGrid>
                <a:gridCol w="1548583">
                  <a:extLst>
                    <a:ext uri="{9D8B030D-6E8A-4147-A177-3AD203B41FA5}">
                      <a16:colId xmlns:a16="http://schemas.microsoft.com/office/drawing/2014/main" val="3725236637"/>
                    </a:ext>
                  </a:extLst>
                </a:gridCol>
                <a:gridCol w="1602658">
                  <a:extLst>
                    <a:ext uri="{9D8B030D-6E8A-4147-A177-3AD203B41FA5}">
                      <a16:colId xmlns:a16="http://schemas.microsoft.com/office/drawing/2014/main" val="3844343112"/>
                    </a:ext>
                  </a:extLst>
                </a:gridCol>
                <a:gridCol w="1755760">
                  <a:extLst>
                    <a:ext uri="{9D8B030D-6E8A-4147-A177-3AD203B41FA5}">
                      <a16:colId xmlns:a16="http://schemas.microsoft.com/office/drawing/2014/main" val="2847291282"/>
                    </a:ext>
                  </a:extLst>
                </a:gridCol>
                <a:gridCol w="1635667">
                  <a:extLst>
                    <a:ext uri="{9D8B030D-6E8A-4147-A177-3AD203B41FA5}">
                      <a16:colId xmlns:a16="http://schemas.microsoft.com/office/drawing/2014/main" val="3959213708"/>
                    </a:ext>
                  </a:extLst>
                </a:gridCol>
                <a:gridCol w="1635667">
                  <a:extLst>
                    <a:ext uri="{9D8B030D-6E8A-4147-A177-3AD203B41FA5}">
                      <a16:colId xmlns:a16="http://schemas.microsoft.com/office/drawing/2014/main" val="1015184301"/>
                    </a:ext>
                  </a:extLst>
                </a:gridCol>
                <a:gridCol w="1491693">
                  <a:extLst>
                    <a:ext uri="{9D8B030D-6E8A-4147-A177-3AD203B41FA5}">
                      <a16:colId xmlns:a16="http://schemas.microsoft.com/office/drawing/2014/main" val="3519008083"/>
                    </a:ext>
                  </a:extLst>
                </a:gridCol>
                <a:gridCol w="1779641">
                  <a:extLst>
                    <a:ext uri="{9D8B030D-6E8A-4147-A177-3AD203B41FA5}">
                      <a16:colId xmlns:a16="http://schemas.microsoft.com/office/drawing/2014/main" val="2487056938"/>
                    </a:ext>
                  </a:extLst>
                </a:gridCol>
              </a:tblGrid>
              <a:tr h="688233">
                <a:tc>
                  <a:txBody>
                    <a:bodyPr/>
                    <a:lstStyle/>
                    <a:p>
                      <a:pPr algn="l"/>
                      <a:r>
                        <a:rPr lang="en-US" sz="2000" b="1" dirty="0">
                          <a:solidFill>
                            <a:schemeClr val="accent2">
                              <a:lumMod val="75000"/>
                            </a:schemeClr>
                          </a:solidFill>
                          <a:effectLst/>
                        </a:rPr>
                        <a:t>Method</a:t>
                      </a:r>
                    </a:p>
                  </a:txBody>
                  <a:tcPr marL="51192" marR="51192" marT="25596" marB="25596" anchor="ctr">
                    <a:lnL>
                      <a:noFill/>
                    </a:lnL>
                    <a:lnR>
                      <a:noFill/>
                    </a:lnR>
                    <a:lnT>
                      <a:noFill/>
                    </a:lnT>
                    <a:lnB>
                      <a:noFill/>
                    </a:lnB>
                    <a:noFill/>
                  </a:tcPr>
                </a:tc>
                <a:tc>
                  <a:txBody>
                    <a:bodyPr/>
                    <a:lstStyle/>
                    <a:p>
                      <a:pPr algn="l"/>
                      <a:r>
                        <a:rPr lang="en-US" sz="2000" b="1" dirty="0">
                          <a:solidFill>
                            <a:schemeClr val="accent2">
                              <a:lumMod val="75000"/>
                            </a:schemeClr>
                          </a:solidFill>
                          <a:effectLst/>
                        </a:rPr>
                        <a:t>INSERT INTO</a:t>
                      </a:r>
                    </a:p>
                  </a:txBody>
                  <a:tcPr marL="51192" marR="51192" marT="25596" marB="25596" anchor="ctr">
                    <a:lnL>
                      <a:noFill/>
                    </a:lnL>
                    <a:lnR>
                      <a:noFill/>
                    </a:lnR>
                    <a:lnT>
                      <a:noFill/>
                    </a:lnT>
                    <a:lnB>
                      <a:noFill/>
                    </a:lnB>
                    <a:noFill/>
                  </a:tcPr>
                </a:tc>
                <a:tc>
                  <a:txBody>
                    <a:bodyPr/>
                    <a:lstStyle/>
                    <a:p>
                      <a:pPr algn="l"/>
                      <a:r>
                        <a:rPr lang="en-US" sz="2000" b="1">
                          <a:solidFill>
                            <a:schemeClr val="accent2">
                              <a:lumMod val="75000"/>
                            </a:schemeClr>
                          </a:solidFill>
                          <a:effectLst/>
                        </a:rPr>
                        <a:t>BULK INSERT</a:t>
                      </a:r>
                    </a:p>
                  </a:txBody>
                  <a:tcPr marL="51192" marR="51192" marT="25596" marB="25596" anchor="ctr">
                    <a:lnL>
                      <a:noFill/>
                    </a:lnL>
                    <a:lnR>
                      <a:noFill/>
                    </a:lnR>
                    <a:lnT>
                      <a:noFill/>
                    </a:lnT>
                    <a:lnB>
                      <a:noFill/>
                    </a:lnB>
                    <a:noFill/>
                  </a:tcPr>
                </a:tc>
                <a:tc>
                  <a:txBody>
                    <a:bodyPr/>
                    <a:lstStyle/>
                    <a:p>
                      <a:pPr algn="l"/>
                      <a:r>
                        <a:rPr lang="en-US" sz="2000" b="1" dirty="0">
                          <a:solidFill>
                            <a:schemeClr val="accent2">
                              <a:lumMod val="75000"/>
                            </a:schemeClr>
                          </a:solidFill>
                          <a:effectLst/>
                        </a:rPr>
                        <a:t>SELECT INTO</a:t>
                      </a:r>
                    </a:p>
                  </a:txBody>
                  <a:tcPr marL="51192" marR="51192" marT="25596" marB="25596" anchor="ctr">
                    <a:lnL>
                      <a:noFill/>
                    </a:lnL>
                    <a:lnR>
                      <a:noFill/>
                    </a:lnR>
                    <a:lnT>
                      <a:noFill/>
                    </a:lnT>
                    <a:lnB>
                      <a:noFill/>
                    </a:lnB>
                    <a:noFill/>
                  </a:tcPr>
                </a:tc>
                <a:tc>
                  <a:txBody>
                    <a:bodyPr/>
                    <a:lstStyle/>
                    <a:p>
                      <a:pPr algn="l"/>
                      <a:r>
                        <a:rPr lang="en-US" sz="2000" b="1">
                          <a:solidFill>
                            <a:schemeClr val="accent2">
                              <a:lumMod val="75000"/>
                            </a:schemeClr>
                          </a:solidFill>
                          <a:effectLst/>
                        </a:rPr>
                        <a:t>BCP Utility</a:t>
                      </a:r>
                    </a:p>
                  </a:txBody>
                  <a:tcPr marL="51192" marR="51192" marT="25596" marB="25596" anchor="ctr">
                    <a:lnL>
                      <a:noFill/>
                    </a:lnL>
                    <a:lnR>
                      <a:noFill/>
                    </a:lnR>
                    <a:lnT>
                      <a:noFill/>
                    </a:lnT>
                    <a:lnB>
                      <a:noFill/>
                    </a:lnB>
                    <a:noFill/>
                  </a:tcPr>
                </a:tc>
                <a:tc>
                  <a:txBody>
                    <a:bodyPr/>
                    <a:lstStyle/>
                    <a:p>
                      <a:pPr algn="l"/>
                      <a:r>
                        <a:rPr lang="en-US" sz="2000" b="1" dirty="0">
                          <a:solidFill>
                            <a:schemeClr val="accent2">
                              <a:lumMod val="75000"/>
                            </a:schemeClr>
                          </a:solidFill>
                          <a:effectLst/>
                        </a:rPr>
                        <a:t>dbatools</a:t>
                      </a:r>
                    </a:p>
                  </a:txBody>
                  <a:tcPr marL="51192" marR="51192" marT="25596" marB="25596" anchor="ctr">
                    <a:lnL>
                      <a:noFill/>
                    </a:lnL>
                    <a:lnR>
                      <a:noFill/>
                    </a:lnR>
                    <a:lnT>
                      <a:noFill/>
                    </a:lnT>
                    <a:lnB>
                      <a:noFill/>
                    </a:lnB>
                    <a:noFill/>
                  </a:tcPr>
                </a:tc>
                <a:tc>
                  <a:txBody>
                    <a:bodyPr/>
                    <a:lstStyle/>
                    <a:p>
                      <a:pPr algn="l"/>
                      <a:r>
                        <a:rPr lang="en-US" sz="2000" b="1" dirty="0">
                          <a:solidFill>
                            <a:schemeClr val="accent2">
                              <a:lumMod val="75000"/>
                            </a:schemeClr>
                          </a:solidFill>
                          <a:effectLst/>
                        </a:rPr>
                        <a:t>Import/Export Wizard</a:t>
                      </a:r>
                    </a:p>
                  </a:txBody>
                  <a:tcPr marL="51192" marR="51192" marT="25596" marB="25596" anchor="ctr">
                    <a:lnL>
                      <a:noFill/>
                    </a:lnL>
                    <a:lnR>
                      <a:noFill/>
                    </a:lnR>
                    <a:lnT>
                      <a:noFill/>
                    </a:lnT>
                    <a:lnB>
                      <a:noFill/>
                    </a:lnB>
                    <a:noFill/>
                  </a:tcPr>
                </a:tc>
                <a:extLst>
                  <a:ext uri="{0D108BD9-81ED-4DB2-BD59-A6C34878D82A}">
                    <a16:rowId xmlns:a16="http://schemas.microsoft.com/office/drawing/2014/main" val="2898607664"/>
                  </a:ext>
                </a:extLst>
              </a:tr>
              <a:tr h="685516">
                <a:tc>
                  <a:txBody>
                    <a:bodyPr/>
                    <a:lstStyle/>
                    <a:p>
                      <a:pPr algn="l"/>
                      <a:r>
                        <a:rPr lang="en-US" sz="1600" b="1" dirty="0">
                          <a:effectLst/>
                        </a:rPr>
                        <a:t>Use TABLOCK?</a:t>
                      </a:r>
                      <a:endParaRPr lang="en-US" sz="1600" dirty="0">
                        <a:effectLst/>
                      </a:endParaRPr>
                    </a:p>
                  </a:txBody>
                  <a:tcPr marL="51192" marR="51192" marT="25596" marB="25596"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Improves performance</a:t>
                      </a:r>
                    </a:p>
                  </a:txBody>
                  <a:tcPr marL="51192" marR="51192" marT="25596" marB="25596" anchor="ctr">
                    <a:lnL>
                      <a:noFill/>
                    </a:lnL>
                    <a:lnR>
                      <a:noFill/>
                    </a:lnR>
                    <a:lnT>
                      <a:noFill/>
                    </a:lnT>
                    <a:lnB>
                      <a:noFill/>
                    </a:lnB>
                    <a:noFill/>
                  </a:tcPr>
                </a:tc>
                <a:tc>
                  <a:txBody>
                    <a:bodyPr/>
                    <a:lstStyle/>
                    <a:p>
                      <a:pPr algn="l"/>
                      <a:r>
                        <a:rPr lang="en-US" sz="1600" dirty="0">
                          <a:effectLst/>
                        </a:rPr>
                        <a:t>Improves performance</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Improves performance</a:t>
                      </a:r>
                    </a:p>
                  </a:txBody>
                  <a:tcPr marL="51192" marR="51192" marT="25596" marB="25596" anchor="ctr">
                    <a:lnL>
                      <a:noFill/>
                    </a:lnL>
                    <a:lnR>
                      <a:noFill/>
                    </a:lnR>
                    <a:lnT>
                      <a:noFill/>
                    </a:lnT>
                    <a:lnB>
                      <a:noFill/>
                    </a:lnB>
                    <a:noFill/>
                  </a:tcPr>
                </a:tc>
                <a:tc>
                  <a:txBody>
                    <a:bodyPr/>
                    <a:lstStyle/>
                    <a:p>
                      <a:pPr algn="l"/>
                      <a:r>
                        <a:rPr lang="en-US" sz="1600" dirty="0">
                          <a:effectLst/>
                        </a:rPr>
                        <a:t>Default for Copy-Data</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extLst>
                  <a:ext uri="{0D108BD9-81ED-4DB2-BD59-A6C34878D82A}">
                    <a16:rowId xmlns:a16="http://schemas.microsoft.com/office/drawing/2014/main" val="3136231592"/>
                  </a:ext>
                </a:extLst>
              </a:tr>
              <a:tr h="561250">
                <a:tc>
                  <a:txBody>
                    <a:bodyPr/>
                    <a:lstStyle/>
                    <a:p>
                      <a:pPr algn="l"/>
                      <a:r>
                        <a:rPr lang="en-US" sz="1600" b="1" dirty="0">
                          <a:effectLst/>
                        </a:rPr>
                        <a:t>Concurrent Inserts</a:t>
                      </a:r>
                      <a:endParaRPr lang="en-US" sz="1600" dirty="0">
                        <a:effectLst/>
                      </a:endParaRP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 (with TABLOCK)</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 (with TABLOCK)</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extLst>
                  <a:ext uri="{0D108BD9-81ED-4DB2-BD59-A6C34878D82A}">
                    <a16:rowId xmlns:a16="http://schemas.microsoft.com/office/drawing/2014/main" val="4239649179"/>
                  </a:ext>
                </a:extLst>
              </a:tr>
              <a:tr h="685516">
                <a:tc>
                  <a:txBody>
                    <a:bodyPr/>
                    <a:lstStyle/>
                    <a:p>
                      <a:pPr algn="l"/>
                      <a:r>
                        <a:rPr lang="en-US" sz="1600" b="1" dirty="0">
                          <a:effectLst/>
                        </a:rPr>
                        <a:t>Batch Size Control</a:t>
                      </a:r>
                      <a:endParaRPr lang="en-US" sz="1600" dirty="0">
                        <a:effectLst/>
                      </a:endParaRP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extLst>
                  <a:ext uri="{0D108BD9-81ED-4DB2-BD59-A6C34878D82A}">
                    <a16:rowId xmlns:a16="http://schemas.microsoft.com/office/drawing/2014/main" val="1928229994"/>
                  </a:ext>
                </a:extLst>
              </a:tr>
              <a:tr h="685516">
                <a:tc>
                  <a:txBody>
                    <a:bodyPr/>
                    <a:lstStyle/>
                    <a:p>
                      <a:pPr algn="l"/>
                      <a:r>
                        <a:rPr lang="en-US" sz="1600" b="1">
                          <a:effectLst/>
                        </a:rPr>
                        <a:t>Supports Import &amp; Export</a:t>
                      </a:r>
                      <a:endParaRPr lang="en-US" sz="1600">
                        <a:effectLst/>
                      </a:endParaRPr>
                    </a:p>
                  </a:txBody>
                  <a:tcPr marL="51192" marR="51192" marT="25596" marB="25596" anchor="ctr">
                    <a:lnL>
                      <a:noFill/>
                    </a:lnL>
                    <a:lnR>
                      <a:noFill/>
                    </a:lnR>
                    <a:lnT>
                      <a:noFill/>
                    </a:lnT>
                    <a:lnB>
                      <a:noFill/>
                    </a:lnB>
                    <a:noFill/>
                  </a:tcPr>
                </a:tc>
                <a:tc>
                  <a:txBody>
                    <a:bodyPr/>
                    <a:lstStyle/>
                    <a:p>
                      <a:pPr algn="l"/>
                      <a:r>
                        <a:rPr lang="en-US" sz="1600">
                          <a:effectLst/>
                        </a:rPr>
                        <a:t>Insert only</a:t>
                      </a:r>
                    </a:p>
                  </a:txBody>
                  <a:tcPr marL="51192" marR="51192" marT="25596" marB="25596" anchor="ctr">
                    <a:lnL>
                      <a:noFill/>
                    </a:lnL>
                    <a:lnR>
                      <a:noFill/>
                    </a:lnR>
                    <a:lnT>
                      <a:noFill/>
                    </a:lnT>
                    <a:lnB>
                      <a:noFill/>
                    </a:lnB>
                    <a:noFill/>
                  </a:tcPr>
                </a:tc>
                <a:tc>
                  <a:txBody>
                    <a:bodyPr/>
                    <a:lstStyle/>
                    <a:p>
                      <a:pPr algn="l"/>
                      <a:r>
                        <a:rPr lang="en-US" sz="1600">
                          <a:effectLst/>
                        </a:rPr>
                        <a:t>Import only</a:t>
                      </a:r>
                    </a:p>
                  </a:txBody>
                  <a:tcPr marL="51192" marR="51192" marT="25596" marB="25596" anchor="ctr">
                    <a:lnL>
                      <a:noFill/>
                    </a:lnL>
                    <a:lnR>
                      <a:noFill/>
                    </a:lnR>
                    <a:lnT>
                      <a:noFill/>
                    </a:lnT>
                    <a:lnB>
                      <a:noFill/>
                    </a:lnB>
                    <a:noFill/>
                  </a:tcPr>
                </a:tc>
                <a:tc>
                  <a:txBody>
                    <a:bodyPr/>
                    <a:lstStyle/>
                    <a:p>
                      <a:pPr algn="l"/>
                      <a:r>
                        <a:rPr lang="en-US" sz="1600" dirty="0">
                          <a:effectLst/>
                        </a:rPr>
                        <a:t>Insert only</a:t>
                      </a:r>
                    </a:p>
                  </a:txBody>
                  <a:tcPr marL="51192" marR="51192" marT="25596" marB="25596" anchor="ctr">
                    <a:lnL>
                      <a:noFill/>
                    </a:lnL>
                    <a:lnR>
                      <a:noFill/>
                    </a:lnR>
                    <a:lnT>
                      <a:noFill/>
                    </a:lnT>
                    <a:lnB>
                      <a:noFill/>
                    </a:lnB>
                    <a:noFill/>
                  </a:tcPr>
                </a:tc>
                <a:tc>
                  <a:txBody>
                    <a:bodyPr/>
                    <a:lstStyle/>
                    <a:p>
                      <a:pPr algn="l"/>
                      <a:r>
                        <a:rPr lang="en-US" sz="1600">
                          <a:effectLst/>
                        </a:rPr>
                        <a:t>Both Import and Export</a:t>
                      </a:r>
                    </a:p>
                  </a:txBody>
                  <a:tcPr marL="51192" marR="51192" marT="25596" marB="25596" anchor="ctr">
                    <a:lnL>
                      <a:noFill/>
                    </a:lnL>
                    <a:lnR>
                      <a:noFill/>
                    </a:lnR>
                    <a:lnT>
                      <a:noFill/>
                    </a:lnT>
                    <a:lnB>
                      <a:noFill/>
                    </a:lnB>
                    <a:noFill/>
                  </a:tcPr>
                </a:tc>
                <a:tc>
                  <a:txBody>
                    <a:bodyPr/>
                    <a:lstStyle/>
                    <a:p>
                      <a:pPr algn="l"/>
                      <a:r>
                        <a:rPr lang="en-US" sz="1600" dirty="0">
                          <a:effectLst/>
                        </a:rPr>
                        <a:t>Both Import and Export</a:t>
                      </a:r>
                    </a:p>
                  </a:txBody>
                  <a:tcPr marL="51192" marR="51192" marT="25596" marB="25596" anchor="ctr">
                    <a:lnL>
                      <a:noFill/>
                    </a:lnL>
                    <a:lnR>
                      <a:noFill/>
                    </a:lnR>
                    <a:lnT>
                      <a:noFill/>
                    </a:lnT>
                    <a:lnB>
                      <a:noFill/>
                    </a:lnB>
                    <a:noFill/>
                  </a:tcPr>
                </a:tc>
                <a:tc>
                  <a:txBody>
                    <a:bodyPr/>
                    <a:lstStyle/>
                    <a:p>
                      <a:pPr algn="l"/>
                      <a:r>
                        <a:rPr lang="en-US" sz="1600" dirty="0">
                          <a:effectLst/>
                        </a:rPr>
                        <a:t>Both</a:t>
                      </a:r>
                    </a:p>
                  </a:txBody>
                  <a:tcPr marL="51192" marR="51192" marT="25596" marB="25596" anchor="ctr">
                    <a:lnL>
                      <a:noFill/>
                    </a:lnL>
                    <a:lnR>
                      <a:noFill/>
                    </a:lnR>
                    <a:lnT>
                      <a:noFill/>
                    </a:lnT>
                    <a:lnB>
                      <a:noFill/>
                    </a:lnB>
                    <a:noFill/>
                  </a:tcPr>
                </a:tc>
                <a:extLst>
                  <a:ext uri="{0D108BD9-81ED-4DB2-BD59-A6C34878D82A}">
                    <a16:rowId xmlns:a16="http://schemas.microsoft.com/office/drawing/2014/main" val="334380086"/>
                  </a:ext>
                </a:extLst>
              </a:tr>
              <a:tr h="685516">
                <a:tc>
                  <a:txBody>
                    <a:bodyPr/>
                    <a:lstStyle/>
                    <a:p>
                      <a:pPr algn="l"/>
                      <a:r>
                        <a:rPr lang="en-US" sz="1600" b="1" dirty="0">
                          <a:effectLst/>
                        </a:rPr>
                        <a:t>From/To CSV</a:t>
                      </a:r>
                      <a:endParaRPr lang="en-US" sz="1600" dirty="0">
                        <a:effectLst/>
                      </a:endParaRPr>
                    </a:p>
                  </a:txBody>
                  <a:tcPr marL="51192" marR="51192" marT="25596" marB="25596" anchor="ctr">
                    <a:lnL>
                      <a:noFill/>
                    </a:lnL>
                    <a:lnR>
                      <a:noFill/>
                    </a:lnR>
                    <a:lnT>
                      <a:noFill/>
                    </a:lnT>
                    <a:lnB>
                      <a:noFill/>
                    </a:lnB>
                    <a:noFill/>
                  </a:tcPr>
                </a:tc>
                <a:tc>
                  <a:txBody>
                    <a:bodyPr/>
                    <a:lstStyle/>
                    <a:p>
                      <a:pPr algn="l"/>
                      <a:r>
                        <a:rPr lang="en-US" sz="1600" dirty="0">
                          <a:effectLst/>
                        </a:rPr>
                        <a:t>No/No</a:t>
                      </a:r>
                    </a:p>
                  </a:txBody>
                  <a:tcPr marL="51192" marR="51192" marT="25596" marB="25596" anchor="ctr">
                    <a:lnL>
                      <a:noFill/>
                    </a:lnL>
                    <a:lnR>
                      <a:noFill/>
                    </a:lnR>
                    <a:lnT>
                      <a:noFill/>
                    </a:lnT>
                    <a:lnB>
                      <a:noFill/>
                    </a:lnB>
                    <a:noFill/>
                  </a:tcPr>
                </a:tc>
                <a:tc>
                  <a:txBody>
                    <a:bodyPr/>
                    <a:lstStyle/>
                    <a:p>
                      <a:pPr algn="l"/>
                      <a:r>
                        <a:rPr lang="en-US" sz="1600" dirty="0">
                          <a:effectLst/>
                        </a:rPr>
                        <a:t>Yes/No</a:t>
                      </a:r>
                    </a:p>
                  </a:txBody>
                  <a:tcPr marL="51192" marR="51192" marT="25596" marB="25596" anchor="ctr">
                    <a:lnL>
                      <a:noFill/>
                    </a:lnL>
                    <a:lnR>
                      <a:noFill/>
                    </a:lnR>
                    <a:lnT>
                      <a:noFill/>
                    </a:lnT>
                    <a:lnB>
                      <a:noFill/>
                    </a:lnB>
                    <a:noFill/>
                  </a:tcPr>
                </a:tc>
                <a:tc>
                  <a:txBody>
                    <a:bodyPr/>
                    <a:lstStyle/>
                    <a:p>
                      <a:pPr algn="l"/>
                      <a:r>
                        <a:rPr lang="en-US" sz="1600" dirty="0">
                          <a:effectLst/>
                        </a:rPr>
                        <a:t>No/No</a:t>
                      </a:r>
                    </a:p>
                  </a:txBody>
                  <a:tcPr marL="51192" marR="51192" marT="25596" marB="25596" anchor="ctr">
                    <a:lnL>
                      <a:noFill/>
                    </a:lnL>
                    <a:lnR>
                      <a:noFill/>
                    </a:lnR>
                    <a:lnT>
                      <a:noFill/>
                    </a:lnT>
                    <a:lnB>
                      <a:noFill/>
                    </a:lnB>
                    <a:noFill/>
                  </a:tcPr>
                </a:tc>
                <a:tc>
                  <a:txBody>
                    <a:bodyPr/>
                    <a:lstStyle/>
                    <a:p>
                      <a:pPr algn="l"/>
                      <a:r>
                        <a:rPr lang="en-US" sz="1600" dirty="0">
                          <a:effectLst/>
                        </a:rPr>
                        <a:t>Yes/Yes</a:t>
                      </a:r>
                    </a:p>
                  </a:txBody>
                  <a:tcPr marL="51192" marR="51192" marT="25596" marB="25596" anchor="ctr">
                    <a:lnL>
                      <a:noFill/>
                    </a:lnL>
                    <a:lnR>
                      <a:noFill/>
                    </a:lnR>
                    <a:lnT>
                      <a:noFill/>
                    </a:lnT>
                    <a:lnB>
                      <a:noFill/>
                    </a:lnB>
                    <a:noFill/>
                  </a:tcPr>
                </a:tc>
                <a:tc>
                  <a:txBody>
                    <a:bodyPr/>
                    <a:lstStyle/>
                    <a:p>
                      <a:pPr algn="l"/>
                      <a:r>
                        <a:rPr lang="en-US" sz="1600" dirty="0">
                          <a:effectLst/>
                        </a:rPr>
                        <a:t>Yes/Yes</a:t>
                      </a:r>
                    </a:p>
                  </a:txBody>
                  <a:tcPr marL="51192" marR="51192" marT="25596" marB="25596" anchor="ctr">
                    <a:lnL>
                      <a:noFill/>
                    </a:lnL>
                    <a:lnR>
                      <a:noFill/>
                    </a:lnR>
                    <a:lnT>
                      <a:noFill/>
                    </a:lnT>
                    <a:lnB>
                      <a:noFill/>
                    </a:lnB>
                    <a:noFill/>
                  </a:tcPr>
                </a:tc>
                <a:tc>
                  <a:txBody>
                    <a:bodyPr/>
                    <a:lstStyle/>
                    <a:p>
                      <a:pPr algn="l"/>
                      <a:r>
                        <a:rPr lang="en-US" sz="1600" dirty="0">
                          <a:effectLst/>
                        </a:rPr>
                        <a:t>Yes/Yes</a:t>
                      </a:r>
                    </a:p>
                  </a:txBody>
                  <a:tcPr marL="51192" marR="51192" marT="25596" marB="25596" anchor="ctr">
                    <a:lnL>
                      <a:noFill/>
                    </a:lnL>
                    <a:lnR>
                      <a:noFill/>
                    </a:lnR>
                    <a:lnT>
                      <a:noFill/>
                    </a:lnT>
                    <a:lnB>
                      <a:noFill/>
                    </a:lnB>
                    <a:noFill/>
                  </a:tcPr>
                </a:tc>
                <a:extLst>
                  <a:ext uri="{0D108BD9-81ED-4DB2-BD59-A6C34878D82A}">
                    <a16:rowId xmlns:a16="http://schemas.microsoft.com/office/drawing/2014/main" val="391246639"/>
                  </a:ext>
                </a:extLst>
              </a:tr>
              <a:tr h="685516">
                <a:tc>
                  <a:txBody>
                    <a:bodyPr/>
                    <a:lstStyle/>
                    <a:p>
                      <a:pPr algn="l"/>
                      <a:r>
                        <a:rPr lang="en-US" sz="1600" b="1" dirty="0">
                          <a:effectLst/>
                        </a:rPr>
                        <a:t>Bulk Load from SQL to SQL</a:t>
                      </a:r>
                      <a:endParaRPr lang="en-US" sz="1600" dirty="0">
                        <a:effectLst/>
                      </a:endParaRP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a:effectLst/>
                        </a:rPr>
                        <a:t>Yes</a:t>
                      </a:r>
                    </a:p>
                  </a:txBody>
                  <a:tcPr marL="51192" marR="51192" marT="25596" marB="25596" anchor="ctr">
                    <a:lnL>
                      <a:noFill/>
                    </a:lnL>
                    <a:lnR>
                      <a:noFill/>
                    </a:lnR>
                    <a:lnT>
                      <a:noFill/>
                    </a:lnT>
                    <a:lnB>
                      <a:noFill/>
                    </a:lnB>
                    <a:noFill/>
                  </a:tcPr>
                </a:tc>
                <a:tc>
                  <a:txBody>
                    <a:bodyPr/>
                    <a:lstStyle/>
                    <a:p>
                      <a:pPr algn="l"/>
                      <a:r>
                        <a:rPr lang="en-US" sz="1600" dirty="0">
                          <a:effectLst/>
                        </a:rPr>
                        <a:t>Yes but smaller loads</a:t>
                      </a:r>
                    </a:p>
                  </a:txBody>
                  <a:tcPr marL="51192" marR="51192" marT="25596" marB="25596" anchor="ctr">
                    <a:lnL>
                      <a:noFill/>
                    </a:lnL>
                    <a:lnR>
                      <a:noFill/>
                    </a:lnR>
                    <a:lnT>
                      <a:noFill/>
                    </a:lnT>
                    <a:lnB>
                      <a:noFill/>
                    </a:lnB>
                    <a:noFill/>
                  </a:tcPr>
                </a:tc>
                <a:extLst>
                  <a:ext uri="{0D108BD9-81ED-4DB2-BD59-A6C34878D82A}">
                    <a16:rowId xmlns:a16="http://schemas.microsoft.com/office/drawing/2014/main" val="3900073621"/>
                  </a:ext>
                </a:extLst>
              </a:tr>
              <a:tr h="68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Bulk Load from File to SQL</a:t>
                      </a:r>
                      <a:endParaRPr lang="en-US" sz="1600" dirty="0">
                        <a:effectLst/>
                      </a:endParaRP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dirty="0">
                          <a:effectLst/>
                        </a:rPr>
                        <a:t>No</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algn="l"/>
                      <a:r>
                        <a:rPr lang="en-US" sz="1600" dirty="0">
                          <a:effectLst/>
                        </a:rPr>
                        <a:t>Yes</a:t>
                      </a:r>
                    </a:p>
                  </a:txBody>
                  <a:tcPr marL="51192" marR="51192" marT="25596" marB="25596"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Yes but smaller loads</a:t>
                      </a:r>
                    </a:p>
                  </a:txBody>
                  <a:tcPr marL="51192" marR="51192" marT="25596" marB="25596" anchor="ctr">
                    <a:lnL>
                      <a:noFill/>
                    </a:lnL>
                    <a:lnR>
                      <a:noFill/>
                    </a:lnR>
                    <a:lnT>
                      <a:noFill/>
                    </a:lnT>
                    <a:lnB>
                      <a:noFill/>
                    </a:lnB>
                    <a:noFill/>
                  </a:tcPr>
                </a:tc>
                <a:extLst>
                  <a:ext uri="{0D108BD9-81ED-4DB2-BD59-A6C34878D82A}">
                    <a16:rowId xmlns:a16="http://schemas.microsoft.com/office/drawing/2014/main" val="3961418156"/>
                  </a:ext>
                </a:extLst>
              </a:tr>
            </a:tbl>
          </a:graphicData>
        </a:graphic>
      </p:graphicFrame>
    </p:spTree>
    <p:extLst>
      <p:ext uri="{BB962C8B-B14F-4D97-AF65-F5344CB8AC3E}">
        <p14:creationId xmlns:p14="http://schemas.microsoft.com/office/powerpoint/2010/main" val="366161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B75E9-760F-2C26-4914-FFFC997FF29E}"/>
              </a:ext>
            </a:extLst>
          </p:cNvPr>
          <p:cNvSpPr>
            <a:spLocks noGrp="1"/>
          </p:cNvSpPr>
          <p:nvPr>
            <p:ph type="title"/>
          </p:nvPr>
        </p:nvSpPr>
        <p:spPr/>
        <p:txBody>
          <a:bodyPr>
            <a:normAutofit/>
          </a:bodyPr>
          <a:lstStyle/>
          <a:p>
            <a:r>
              <a:rPr lang="en-US" sz="4800" b="1" dirty="0">
                <a:solidFill>
                  <a:schemeClr val="accent2">
                    <a:lumMod val="75000"/>
                  </a:schemeClr>
                </a:solidFill>
              </a:rPr>
              <a:t>Resources</a:t>
            </a:r>
          </a:p>
        </p:txBody>
      </p:sp>
      <p:sp>
        <p:nvSpPr>
          <p:cNvPr id="3" name="Content Placeholder 2">
            <a:extLst>
              <a:ext uri="{FF2B5EF4-FFF2-40B4-BE49-F238E27FC236}">
                <a16:creationId xmlns:a16="http://schemas.microsoft.com/office/drawing/2014/main" id="{68E65FAB-C754-3F7B-E094-5F1736B6B2EE}"/>
              </a:ext>
            </a:extLst>
          </p:cNvPr>
          <p:cNvSpPr>
            <a:spLocks noGrp="1"/>
          </p:cNvSpPr>
          <p:nvPr>
            <p:ph idx="1"/>
          </p:nvPr>
        </p:nvSpPr>
        <p:spPr/>
        <p:txBody>
          <a:bodyPr>
            <a:normAutofit fontScale="85000" lnSpcReduction="20000"/>
          </a:bodyPr>
          <a:lstStyle/>
          <a:p>
            <a:r>
              <a:rPr lang="en-US" dirty="0">
                <a:hlinkClick r:id="rId2"/>
              </a:rPr>
              <a:t>The Data Loading Performance Guide | Microsoft Learn</a:t>
            </a:r>
            <a:endParaRPr lang="en-US" dirty="0"/>
          </a:p>
          <a:p>
            <a:r>
              <a:rPr lang="en-US" dirty="0">
                <a:hlinkClick r:id="rId3"/>
              </a:rPr>
              <a:t>https://gohigh.substack.com/p/insert-with-tablock-hint-faster?r=vmpc0</a:t>
            </a:r>
            <a:endParaRPr lang="en-US" dirty="0"/>
          </a:p>
          <a:p>
            <a:r>
              <a:rPr lang="en-US" dirty="0">
                <a:hlinkClick r:id="rId4"/>
              </a:rPr>
              <a:t>https://gohigh.substack.com/p/insert-with-tablock-hint-tables-with?r=vmpc0</a:t>
            </a:r>
            <a:endParaRPr lang="en-US" dirty="0"/>
          </a:p>
          <a:p>
            <a:r>
              <a:rPr lang="en-US" dirty="0">
                <a:hlinkClick r:id="rId5"/>
              </a:rPr>
              <a:t>https://learn.microsoft.com/en-us/sql/t-sql/statements/insert-transact-sql?view=sql-server-ver16#using-insert-intoselect-to-bulk-import-data-with-minimal-logging-and-parallelism</a:t>
            </a:r>
            <a:endParaRPr lang="en-US" dirty="0"/>
          </a:p>
          <a:p>
            <a:r>
              <a:rPr lang="en-US" dirty="0">
                <a:hlinkClick r:id="rId6"/>
              </a:rPr>
              <a:t>https://learn.microsoft.com/en-us/previous-versions/sql/sql-server-2008-r2/ms190203(v=sql.105)</a:t>
            </a:r>
            <a:endParaRPr lang="en-US" dirty="0"/>
          </a:p>
          <a:p>
            <a:r>
              <a:rPr lang="en-US" dirty="0">
                <a:hlinkClick r:id="rId7"/>
              </a:rPr>
              <a:t>https://learn.microsoft.com/en-us/previous-versions/sql/sql-server-2008-r2/ms191244(v=sql.105)</a:t>
            </a:r>
            <a:endParaRPr lang="en-US" dirty="0"/>
          </a:p>
          <a:p>
            <a:r>
              <a:rPr lang="en-US" dirty="0">
                <a:hlinkClick r:id="rId2"/>
              </a:rPr>
              <a:t>https://learn.microsoft.com/en-us/previous-versions/sql/sql-server-2008/dd425070(v=sql.100)?redirectedfrom=MSDN</a:t>
            </a:r>
            <a:endParaRPr lang="en-US" dirty="0"/>
          </a:p>
          <a:p>
            <a:endParaRPr lang="en-US" dirty="0"/>
          </a:p>
          <a:p>
            <a:endParaRPr lang="en-US" dirty="0"/>
          </a:p>
        </p:txBody>
      </p:sp>
    </p:spTree>
    <p:extLst>
      <p:ext uri="{BB962C8B-B14F-4D97-AF65-F5344CB8AC3E}">
        <p14:creationId xmlns:p14="http://schemas.microsoft.com/office/powerpoint/2010/main" val="38022711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873971-3A7C-8C15-3B6D-21E68DA1CA4D}"/>
              </a:ext>
            </a:extLst>
          </p:cNvPr>
          <p:cNvSpPr>
            <a:spLocks noGrp="1"/>
          </p:cNvSpPr>
          <p:nvPr>
            <p:ph idx="1"/>
          </p:nvPr>
        </p:nvSpPr>
        <p:spPr>
          <a:xfrm>
            <a:off x="838200" y="226142"/>
            <a:ext cx="10515600" cy="5950821"/>
          </a:xfrm>
        </p:spPr>
        <p:txBody>
          <a:bodyPr/>
          <a:lstStyle/>
          <a:p>
            <a:pPr marL="0" indent="0">
              <a:buNone/>
            </a:pPr>
            <a:endParaRPr lang="en-US" sz="4400" b="1" dirty="0">
              <a:solidFill>
                <a:schemeClr val="accent2"/>
              </a:solidFill>
              <a:latin typeface="+mj-lt"/>
              <a:ea typeface="+mj-ea"/>
              <a:cs typeface="+mj-cs"/>
            </a:endParaRPr>
          </a:p>
          <a:p>
            <a:pPr marL="0" indent="0">
              <a:buNone/>
            </a:pPr>
            <a:r>
              <a:rPr lang="en-US" sz="5400" b="1" dirty="0">
                <a:solidFill>
                  <a:schemeClr val="accent2">
                    <a:lumMod val="75000"/>
                  </a:schemeClr>
                </a:solidFill>
                <a:latin typeface="+mj-lt"/>
                <a:ea typeface="+mj-ea"/>
                <a:cs typeface="+mj-cs"/>
              </a:rPr>
              <a:t>Questions?</a:t>
            </a:r>
          </a:p>
          <a:p>
            <a:pPr marL="0" indent="0">
              <a:buNone/>
            </a:pPr>
            <a:endParaRPr lang="en-US" sz="5400" dirty="0"/>
          </a:p>
          <a:p>
            <a:pPr marL="0" indent="0">
              <a:buNone/>
            </a:pPr>
            <a:r>
              <a:rPr lang="en-US" sz="5400" b="1" dirty="0">
                <a:solidFill>
                  <a:schemeClr val="accent2">
                    <a:lumMod val="75000"/>
                  </a:schemeClr>
                </a:solidFill>
                <a:latin typeface="+mj-lt"/>
                <a:ea typeface="+mj-ea"/>
                <a:cs typeface="+mj-cs"/>
              </a:rPr>
              <a:t>Thank</a:t>
            </a:r>
            <a:r>
              <a:rPr lang="en-US" sz="5400" dirty="0">
                <a:solidFill>
                  <a:schemeClr val="accent2">
                    <a:lumMod val="75000"/>
                  </a:schemeClr>
                </a:solidFill>
              </a:rPr>
              <a:t> </a:t>
            </a:r>
            <a:r>
              <a:rPr lang="en-US" sz="5400" b="1" dirty="0">
                <a:solidFill>
                  <a:schemeClr val="accent2">
                    <a:lumMod val="75000"/>
                  </a:schemeClr>
                </a:solidFill>
                <a:latin typeface="+mj-lt"/>
                <a:ea typeface="+mj-ea"/>
                <a:cs typeface="+mj-cs"/>
              </a:rPr>
              <a:t>you!</a:t>
            </a:r>
          </a:p>
          <a:p>
            <a:pPr marL="0" indent="0">
              <a:buNone/>
            </a:pPr>
            <a:endParaRPr lang="en-US" sz="4400" b="1" dirty="0">
              <a:solidFill>
                <a:schemeClr val="accent2"/>
              </a:solidFill>
              <a:latin typeface="+mj-lt"/>
              <a:ea typeface="+mj-ea"/>
              <a:cs typeface="+mj-cs"/>
            </a:endParaRPr>
          </a:p>
          <a:p>
            <a:pPr marL="0" indent="0">
              <a:buNone/>
            </a:pPr>
            <a:endParaRPr lang="en-US" dirty="0">
              <a:solidFill>
                <a:schemeClr val="accent2"/>
              </a:solidFill>
              <a:latin typeface="+mj-lt"/>
              <a:ea typeface="+mj-ea"/>
              <a:cs typeface="+mj-cs"/>
            </a:endParaRPr>
          </a:p>
        </p:txBody>
      </p:sp>
      <p:sp>
        <p:nvSpPr>
          <p:cNvPr id="10" name="Content Placeholder 3">
            <a:extLst>
              <a:ext uri="{FF2B5EF4-FFF2-40B4-BE49-F238E27FC236}">
                <a16:creationId xmlns:a16="http://schemas.microsoft.com/office/drawing/2014/main" id="{72C38208-668E-DF61-BEA2-2F58D72662F2}"/>
              </a:ext>
            </a:extLst>
          </p:cNvPr>
          <p:cNvSpPr txBox="1">
            <a:spLocks/>
          </p:cNvSpPr>
          <p:nvPr/>
        </p:nvSpPr>
        <p:spPr>
          <a:xfrm>
            <a:off x="1001769" y="3201552"/>
            <a:ext cx="8275841" cy="28590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0" lvl="1" indent="0">
              <a:spcBef>
                <a:spcPts val="1000"/>
              </a:spcBef>
              <a:buNone/>
            </a:pPr>
            <a:r>
              <a:rPr lang="fr-FR" sz="2800" dirty="0">
                <a:solidFill>
                  <a:schemeClr val="accent2">
                    <a:lumMod val="75000"/>
                  </a:schemeClr>
                </a:solidFill>
              </a:rPr>
              <a:t> </a:t>
            </a:r>
            <a:r>
              <a:rPr lang="fr-FR" sz="2800" dirty="0">
                <a:solidFill>
                  <a:schemeClr val="accent2"/>
                </a:solidFill>
                <a:latin typeface="+mj-lt"/>
                <a:ea typeface="+mj-ea"/>
                <a:cs typeface="+mj-cs"/>
                <a:hlinkClick r:id="rId2" action="ppaction://hlinkfile">
                  <a:extLst>
                    <a:ext uri="{A12FA001-AC4F-418D-AE19-62706E023703}">
                      <ahyp:hlinkClr xmlns:ahyp="http://schemas.microsoft.com/office/drawing/2018/hyperlinkcolor" val="tx"/>
                    </a:ext>
                  </a:extLst>
                </a:hlinkClick>
              </a:rPr>
              <a:t>gohigh.substack.com</a:t>
            </a:r>
            <a:endParaRPr lang="fr-FR" sz="2800" dirty="0">
              <a:solidFill>
                <a:schemeClr val="accent2"/>
              </a:solidFill>
              <a:latin typeface="+mj-lt"/>
              <a:ea typeface="+mj-ea"/>
              <a:cs typeface="+mj-cs"/>
            </a:endParaRPr>
          </a:p>
          <a:p>
            <a:pPr marL="0" lvl="1" indent="0">
              <a:spcBef>
                <a:spcPts val="1000"/>
              </a:spcBef>
              <a:buNone/>
            </a:pPr>
            <a:r>
              <a:rPr lang="fr-FR" sz="2800" dirty="0">
                <a:solidFill>
                  <a:schemeClr val="accent2"/>
                </a:solidFill>
                <a:latin typeface="+mj-lt"/>
                <a:ea typeface="+mj-ea"/>
                <a:cs typeface="+mj-cs"/>
              </a:rPr>
              <a:t> </a:t>
            </a:r>
            <a:r>
              <a:rPr lang="fr-FR" sz="2800" dirty="0">
                <a:solidFill>
                  <a:schemeClr val="accent2"/>
                </a:solidFill>
                <a:latin typeface="+mj-lt"/>
                <a:ea typeface="+mj-ea"/>
                <a:cs typeface="+mj-cs"/>
                <a:hlinkClick r:id="rId3" action="ppaction://hlinkfile">
                  <a:extLst>
                    <a:ext uri="{A12FA001-AC4F-418D-AE19-62706E023703}">
                      <ahyp:hlinkClr xmlns:ahyp="http://schemas.microsoft.com/office/drawing/2018/hyperlinkcolor" val="tx"/>
                    </a:ext>
                  </a:extLst>
                </a:hlinkClick>
              </a:rPr>
              <a:t>linkedin.com/in/haripriya-naidu1215/</a:t>
            </a:r>
            <a:endParaRPr lang="fr-FR" sz="2800" dirty="0">
              <a:solidFill>
                <a:schemeClr val="accent2"/>
              </a:solidFill>
              <a:latin typeface="+mj-lt"/>
              <a:ea typeface="+mj-ea"/>
              <a:cs typeface="+mj-cs"/>
            </a:endParaRPr>
          </a:p>
          <a:p>
            <a:pPr marL="0" lvl="1" indent="0">
              <a:spcBef>
                <a:spcPts val="1000"/>
              </a:spcBef>
              <a:buNone/>
            </a:pPr>
            <a:r>
              <a:rPr lang="fr-FR" sz="2800" dirty="0">
                <a:solidFill>
                  <a:schemeClr val="accent2"/>
                </a:solidFill>
                <a:latin typeface="+mj-lt"/>
                <a:ea typeface="+mj-ea"/>
                <a:cs typeface="+mj-cs"/>
              </a:rPr>
              <a:t> </a:t>
            </a:r>
            <a:r>
              <a:rPr lang="fr-FR" sz="2800" dirty="0">
                <a:solidFill>
                  <a:schemeClr val="accent2"/>
                </a:solidFill>
                <a:latin typeface="+mj-lt"/>
                <a:ea typeface="+mj-ea"/>
                <a:cs typeface="+mj-cs"/>
                <a:hlinkClick r:id="rId4">
                  <a:extLst>
                    <a:ext uri="{A12FA001-AC4F-418D-AE19-62706E023703}">
                      <ahyp:hlinkClr xmlns:ahyp="http://schemas.microsoft.com/office/drawing/2018/hyperlinkcolor" val="tx"/>
                    </a:ext>
                  </a:extLst>
                </a:hlinkClick>
              </a:rPr>
              <a:t>github.com/haripriyasb/</a:t>
            </a:r>
            <a:r>
              <a:rPr lang="fr-FR" sz="2800" dirty="0" err="1">
                <a:solidFill>
                  <a:schemeClr val="accent2"/>
                </a:solidFill>
                <a:latin typeface="+mj-lt"/>
                <a:ea typeface="+mj-ea"/>
                <a:cs typeface="+mj-cs"/>
                <a:hlinkClick r:id="rId4">
                  <a:extLst>
                    <a:ext uri="{A12FA001-AC4F-418D-AE19-62706E023703}">
                      <ahyp:hlinkClr xmlns:ahyp="http://schemas.microsoft.com/office/drawing/2018/hyperlinkcolor" val="tx"/>
                    </a:ext>
                  </a:extLst>
                </a:hlinkClick>
              </a:rPr>
              <a:t>LoadDataFaster</a:t>
            </a:r>
            <a:endParaRPr lang="en-US" sz="2800" dirty="0">
              <a:solidFill>
                <a:schemeClr val="accent2"/>
              </a:solidFill>
              <a:latin typeface="+mj-lt"/>
              <a:ea typeface="+mj-ea"/>
              <a:cs typeface="+mj-cs"/>
            </a:endParaRPr>
          </a:p>
          <a:p>
            <a:endParaRPr lang="en-US" dirty="0"/>
          </a:p>
        </p:txBody>
      </p:sp>
      <p:pic>
        <p:nvPicPr>
          <p:cNvPr id="12" name="Picture 11">
            <a:extLst>
              <a:ext uri="{FF2B5EF4-FFF2-40B4-BE49-F238E27FC236}">
                <a16:creationId xmlns:a16="http://schemas.microsoft.com/office/drawing/2014/main" id="{7BF5D268-D3E2-1A84-BA9E-7CD22BE15DE6}"/>
              </a:ext>
            </a:extLst>
          </p:cNvPr>
          <p:cNvPicPr>
            <a:picLocks noChangeAspect="1"/>
          </p:cNvPicPr>
          <p:nvPr/>
        </p:nvPicPr>
        <p:blipFill>
          <a:blip r:embed="rId5"/>
          <a:stretch>
            <a:fillRect/>
          </a:stretch>
        </p:blipFill>
        <p:spPr>
          <a:xfrm>
            <a:off x="834527" y="5057328"/>
            <a:ext cx="254517" cy="259260"/>
          </a:xfrm>
          <a:prstGeom prst="rect">
            <a:avLst/>
          </a:prstGeom>
        </p:spPr>
      </p:pic>
      <p:pic>
        <p:nvPicPr>
          <p:cNvPr id="14" name="Picture 13">
            <a:extLst>
              <a:ext uri="{FF2B5EF4-FFF2-40B4-BE49-F238E27FC236}">
                <a16:creationId xmlns:a16="http://schemas.microsoft.com/office/drawing/2014/main" id="{53AAC5AB-8F49-D904-CFC9-40A28C33D810}"/>
              </a:ext>
            </a:extLst>
          </p:cNvPr>
          <p:cNvPicPr>
            <a:picLocks noChangeAspect="1"/>
          </p:cNvPicPr>
          <p:nvPr/>
        </p:nvPicPr>
        <p:blipFill>
          <a:blip r:embed="rId6"/>
          <a:stretch>
            <a:fillRect/>
          </a:stretch>
        </p:blipFill>
        <p:spPr>
          <a:xfrm>
            <a:off x="813648" y="5487514"/>
            <a:ext cx="284071" cy="259261"/>
          </a:xfrm>
          <a:prstGeom prst="rect">
            <a:avLst/>
          </a:prstGeom>
        </p:spPr>
      </p:pic>
      <p:pic>
        <p:nvPicPr>
          <p:cNvPr id="15" name="Picture 14">
            <a:extLst>
              <a:ext uri="{FF2B5EF4-FFF2-40B4-BE49-F238E27FC236}">
                <a16:creationId xmlns:a16="http://schemas.microsoft.com/office/drawing/2014/main" id="{8279D312-5956-9439-4D62-E024DDD1C6D3}"/>
              </a:ext>
            </a:extLst>
          </p:cNvPr>
          <p:cNvPicPr>
            <a:picLocks noChangeAspect="1"/>
          </p:cNvPicPr>
          <p:nvPr/>
        </p:nvPicPr>
        <p:blipFill>
          <a:blip r:embed="rId7"/>
          <a:stretch>
            <a:fillRect/>
          </a:stretch>
        </p:blipFill>
        <p:spPr>
          <a:xfrm>
            <a:off x="813648" y="4557735"/>
            <a:ext cx="254517" cy="259260"/>
          </a:xfrm>
          <a:prstGeom prst="rect">
            <a:avLst/>
          </a:prstGeom>
        </p:spPr>
      </p:pic>
    </p:spTree>
    <p:extLst>
      <p:ext uri="{BB962C8B-B14F-4D97-AF65-F5344CB8AC3E}">
        <p14:creationId xmlns:p14="http://schemas.microsoft.com/office/powerpoint/2010/main" val="27842111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C5C80-D781-0E7C-E739-3F125DCECBA5}"/>
              </a:ext>
            </a:extLst>
          </p:cNvPr>
          <p:cNvSpPr>
            <a:spLocks noGrp="1"/>
          </p:cNvSpPr>
          <p:nvPr>
            <p:ph type="title"/>
          </p:nvPr>
        </p:nvSpPr>
        <p:spPr/>
        <p:txBody>
          <a:bodyPr>
            <a:normAutofit fontScale="90000"/>
          </a:bodyPr>
          <a:lstStyle/>
          <a:p>
            <a:r>
              <a:rPr lang="en-US" sz="5300" b="1" dirty="0">
                <a:solidFill>
                  <a:schemeClr val="accent2">
                    <a:lumMod val="75000"/>
                  </a:schemeClr>
                </a:solidFill>
              </a:rPr>
              <a:t>Write Your Own Bulk Load Method </a:t>
            </a:r>
            <a:br>
              <a:rPr lang="en-US" b="1" i="0" dirty="0">
                <a:solidFill>
                  <a:srgbClr val="161616"/>
                </a:solidFill>
                <a:effectLst/>
                <a:latin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E07DBA60-2BB1-268B-ADA5-B4BE206F8A5C}"/>
              </a:ext>
            </a:extLst>
          </p:cNvPr>
          <p:cNvSpPr>
            <a:spLocks noGrp="1"/>
          </p:cNvSpPr>
          <p:nvPr>
            <p:ph idx="1"/>
          </p:nvPr>
        </p:nvSpPr>
        <p:spPr/>
        <p:txBody>
          <a:bodyPr/>
          <a:lstStyle/>
          <a:p>
            <a:pPr algn="l"/>
            <a:r>
              <a:rPr lang="en-US" dirty="0">
                <a:solidFill>
                  <a:srgbClr val="161616"/>
                </a:solidFill>
                <a:latin typeface="Segoe UI" panose="020B0502040204020203" pitchFamily="34" charset="0"/>
              </a:rPr>
              <a:t>ODBC, OLE DB, .NET and DB-library for SQL Server all allow you to write your own bulk load method.</a:t>
            </a:r>
          </a:p>
          <a:p>
            <a:endParaRPr lang="en-US" dirty="0"/>
          </a:p>
        </p:txBody>
      </p:sp>
    </p:spTree>
    <p:extLst>
      <p:ext uri="{BB962C8B-B14F-4D97-AF65-F5344CB8AC3E}">
        <p14:creationId xmlns:p14="http://schemas.microsoft.com/office/powerpoint/2010/main" val="2547542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41B9B83-9A46-E1DF-E3DC-DE5A95DD0444}"/>
              </a:ext>
            </a:extLst>
          </p:cNvPr>
          <p:cNvGraphicFramePr>
            <a:graphicFrameLocks noGrp="1"/>
          </p:cNvGraphicFramePr>
          <p:nvPr>
            <p:ph idx="1"/>
            <p:extLst>
              <p:ext uri="{D42A27DB-BD31-4B8C-83A1-F6EECF244321}">
                <p14:modId xmlns:p14="http://schemas.microsoft.com/office/powerpoint/2010/main" val="2894606427"/>
              </p:ext>
            </p:extLst>
          </p:nvPr>
        </p:nvGraphicFramePr>
        <p:xfrm>
          <a:off x="750014" y="750014"/>
          <a:ext cx="10840092" cy="5351776"/>
        </p:xfrm>
        <a:graphic>
          <a:graphicData uri="http://schemas.openxmlformats.org/drawingml/2006/table">
            <a:tbl>
              <a:tblPr firstRow="1" bandRow="1"/>
              <a:tblGrid>
                <a:gridCol w="5420046">
                  <a:extLst>
                    <a:ext uri="{9D8B030D-6E8A-4147-A177-3AD203B41FA5}">
                      <a16:colId xmlns:a16="http://schemas.microsoft.com/office/drawing/2014/main" val="838272600"/>
                    </a:ext>
                  </a:extLst>
                </a:gridCol>
                <a:gridCol w="5420046">
                  <a:extLst>
                    <a:ext uri="{9D8B030D-6E8A-4147-A177-3AD203B41FA5}">
                      <a16:colId xmlns:a16="http://schemas.microsoft.com/office/drawing/2014/main" val="2177942868"/>
                    </a:ext>
                  </a:extLst>
                </a:gridCol>
              </a:tblGrid>
              <a:tr h="772336">
                <a:tc>
                  <a:txBody>
                    <a:bodyPr/>
                    <a:lstStyle/>
                    <a:p>
                      <a:r>
                        <a:rPr lang="en-US" sz="4000" b="1" dirty="0">
                          <a:solidFill>
                            <a:schemeClr val="accent2">
                              <a:lumMod val="75000"/>
                            </a:schemeClr>
                          </a:solidFill>
                        </a:rPr>
                        <a:t>Scenario</a:t>
                      </a:r>
                    </a:p>
                  </a:txBody>
                  <a:tcPr anchor="ctr"/>
                </a:tc>
                <a:tc>
                  <a:txBody>
                    <a:bodyPr/>
                    <a:lstStyle/>
                    <a:p>
                      <a:r>
                        <a:rPr lang="en-US" sz="4000" b="1" dirty="0">
                          <a:solidFill>
                            <a:schemeClr val="accent2">
                              <a:lumMod val="75000"/>
                            </a:schemeClr>
                          </a:solidFill>
                        </a:rPr>
                        <a:t>Best Method</a:t>
                      </a:r>
                    </a:p>
                  </a:txBody>
                  <a:tcPr anchor="ctr"/>
                </a:tc>
                <a:extLst>
                  <a:ext uri="{0D108BD9-81ED-4DB2-BD59-A6C34878D82A}">
                    <a16:rowId xmlns:a16="http://schemas.microsoft.com/office/drawing/2014/main" val="3523528017"/>
                  </a:ext>
                </a:extLst>
              </a:tr>
              <a:tr h="726912">
                <a:tc>
                  <a:txBody>
                    <a:bodyPr/>
                    <a:lstStyle/>
                    <a:p>
                      <a:r>
                        <a:rPr lang="en-US" sz="2800" kern="1200" dirty="0">
                          <a:solidFill>
                            <a:srgbClr val="161616"/>
                          </a:solidFill>
                          <a:latin typeface="Segoe UI" panose="020B0502040204020203" pitchFamily="34" charset="0"/>
                          <a:ea typeface="+mn-ea"/>
                          <a:cs typeface="+mn-cs"/>
                        </a:rPr>
                        <a:t>Small inserts, fully logged</a:t>
                      </a:r>
                    </a:p>
                  </a:txBody>
                  <a:tcPr anchor="ctr"/>
                </a:tc>
                <a:tc>
                  <a:txBody>
                    <a:bodyPr/>
                    <a:lstStyle/>
                    <a:p>
                      <a:r>
                        <a:rPr lang="en-US" sz="2800" kern="1200" dirty="0">
                          <a:solidFill>
                            <a:srgbClr val="161616"/>
                          </a:solidFill>
                          <a:latin typeface="Segoe UI" panose="020B0502040204020203" pitchFamily="34" charset="0"/>
                          <a:ea typeface="+mn-ea"/>
                          <a:cs typeface="+mn-cs"/>
                        </a:rPr>
                        <a:t>INSERT INTO</a:t>
                      </a:r>
                    </a:p>
                  </a:txBody>
                  <a:tcPr anchor="ctr"/>
                </a:tc>
                <a:extLst>
                  <a:ext uri="{0D108BD9-81ED-4DB2-BD59-A6C34878D82A}">
                    <a16:rowId xmlns:a16="http://schemas.microsoft.com/office/drawing/2014/main" val="1705160451"/>
                  </a:ext>
                </a:extLst>
              </a:tr>
              <a:tr h="726912">
                <a:tc>
                  <a:txBody>
                    <a:bodyPr/>
                    <a:lstStyle/>
                    <a:p>
                      <a:r>
                        <a:rPr lang="en-US" sz="2800" kern="1200" dirty="0">
                          <a:solidFill>
                            <a:srgbClr val="161616"/>
                          </a:solidFill>
                          <a:latin typeface="Segoe UI" panose="020B0502040204020203" pitchFamily="34" charset="0"/>
                          <a:ea typeface="+mn-ea"/>
                          <a:cs typeface="+mn-cs"/>
                        </a:rPr>
                        <a:t>Large file load, minimal logging</a:t>
                      </a:r>
                    </a:p>
                  </a:txBody>
                  <a:tcPr anchor="ctr"/>
                </a:tc>
                <a:tc>
                  <a:txBody>
                    <a:bodyPr/>
                    <a:lstStyle/>
                    <a:p>
                      <a:r>
                        <a:rPr lang="en-US" sz="2800" kern="1200" dirty="0">
                          <a:solidFill>
                            <a:srgbClr val="161616"/>
                          </a:solidFill>
                          <a:latin typeface="Segoe UI" panose="020B0502040204020203" pitchFamily="34" charset="0"/>
                          <a:ea typeface="+mn-ea"/>
                          <a:cs typeface="+mn-cs"/>
                        </a:rPr>
                        <a:t>BULK INSERT</a:t>
                      </a:r>
                    </a:p>
                  </a:txBody>
                  <a:tcPr/>
                </a:tc>
                <a:extLst>
                  <a:ext uri="{0D108BD9-81ED-4DB2-BD59-A6C34878D82A}">
                    <a16:rowId xmlns:a16="http://schemas.microsoft.com/office/drawing/2014/main" val="235989567"/>
                  </a:ext>
                </a:extLst>
              </a:tr>
              <a:tr h="726912">
                <a:tc>
                  <a:txBody>
                    <a:bodyPr/>
                    <a:lstStyle/>
                    <a:p>
                      <a:r>
                        <a:rPr lang="en-US" sz="2800" kern="1200" dirty="0">
                          <a:solidFill>
                            <a:srgbClr val="161616"/>
                          </a:solidFill>
                          <a:latin typeface="Segoe UI" panose="020B0502040204020203" pitchFamily="34" charset="0"/>
                          <a:ea typeface="+mn-ea"/>
                          <a:cs typeface="+mn-cs"/>
                        </a:rPr>
                        <a:t>Create + Load new table fast</a:t>
                      </a:r>
                    </a:p>
                  </a:txBody>
                  <a:tcPr/>
                </a:tc>
                <a:tc>
                  <a:txBody>
                    <a:bodyPr/>
                    <a:lstStyle/>
                    <a:p>
                      <a:r>
                        <a:rPr lang="en-US" sz="2800" kern="1200" dirty="0">
                          <a:solidFill>
                            <a:srgbClr val="161616"/>
                          </a:solidFill>
                          <a:latin typeface="Segoe UI" panose="020B0502040204020203" pitchFamily="34" charset="0"/>
                          <a:ea typeface="+mn-ea"/>
                          <a:cs typeface="+mn-cs"/>
                        </a:rPr>
                        <a:t>SELECT INTO</a:t>
                      </a:r>
                    </a:p>
                  </a:txBody>
                  <a:tcPr/>
                </a:tc>
                <a:extLst>
                  <a:ext uri="{0D108BD9-81ED-4DB2-BD59-A6C34878D82A}">
                    <a16:rowId xmlns:a16="http://schemas.microsoft.com/office/drawing/2014/main" val="2690636585"/>
                  </a:ext>
                </a:extLst>
              </a:tr>
              <a:tr h="726912">
                <a:tc>
                  <a:txBody>
                    <a:bodyPr/>
                    <a:lstStyle/>
                    <a:p>
                      <a:r>
                        <a:rPr lang="en-US" sz="2800" kern="1200" dirty="0">
                          <a:solidFill>
                            <a:srgbClr val="161616"/>
                          </a:solidFill>
                          <a:latin typeface="Segoe UI" panose="020B0502040204020203" pitchFamily="34" charset="0"/>
                          <a:ea typeface="+mn-ea"/>
                          <a:cs typeface="+mn-cs"/>
                        </a:rPr>
                        <a:t>CLI fast export/import</a:t>
                      </a:r>
                    </a:p>
                  </a:txBody>
                  <a:tcPr/>
                </a:tc>
                <a:tc>
                  <a:txBody>
                    <a:bodyPr/>
                    <a:lstStyle/>
                    <a:p>
                      <a:r>
                        <a:rPr lang="en-US" sz="2800" kern="1200" dirty="0">
                          <a:solidFill>
                            <a:srgbClr val="161616"/>
                          </a:solidFill>
                          <a:latin typeface="Segoe UI" panose="020B0502040204020203" pitchFamily="34" charset="0"/>
                          <a:ea typeface="+mn-ea"/>
                          <a:cs typeface="+mn-cs"/>
                        </a:rPr>
                        <a:t>bcp</a:t>
                      </a:r>
                    </a:p>
                  </a:txBody>
                  <a:tcPr/>
                </a:tc>
                <a:extLst>
                  <a:ext uri="{0D108BD9-81ED-4DB2-BD59-A6C34878D82A}">
                    <a16:rowId xmlns:a16="http://schemas.microsoft.com/office/drawing/2014/main" val="1913758075"/>
                  </a:ext>
                </a:extLst>
              </a:tr>
              <a:tr h="726912">
                <a:tc>
                  <a:txBody>
                    <a:bodyPr/>
                    <a:lstStyle/>
                    <a:p>
                      <a:r>
                        <a:rPr lang="en-US" sz="2800" kern="1200" dirty="0">
                          <a:solidFill>
                            <a:srgbClr val="161616"/>
                          </a:solidFill>
                          <a:latin typeface="Segoe UI" panose="020B0502040204020203" pitchFamily="34" charset="0"/>
                          <a:ea typeface="+mn-ea"/>
                          <a:cs typeface="+mn-cs"/>
                        </a:rPr>
                        <a:t>Automated, reliable copies</a:t>
                      </a:r>
                    </a:p>
                  </a:txBody>
                  <a:tcPr/>
                </a:tc>
                <a:tc>
                  <a:txBody>
                    <a:bodyPr/>
                    <a:lstStyle/>
                    <a:p>
                      <a:r>
                        <a:rPr lang="en-US" sz="2800" kern="1200" dirty="0">
                          <a:solidFill>
                            <a:srgbClr val="161616"/>
                          </a:solidFill>
                          <a:latin typeface="Segoe UI" panose="020B0502040204020203" pitchFamily="34" charset="0"/>
                          <a:ea typeface="+mn-ea"/>
                          <a:cs typeface="+mn-cs"/>
                        </a:rPr>
                        <a:t>dbatools</a:t>
                      </a:r>
                    </a:p>
                  </a:txBody>
                  <a:tcPr/>
                </a:tc>
                <a:extLst>
                  <a:ext uri="{0D108BD9-81ED-4DB2-BD59-A6C34878D82A}">
                    <a16:rowId xmlns:a16="http://schemas.microsoft.com/office/drawing/2014/main" val="3439510623"/>
                  </a:ext>
                </a:extLst>
              </a:tr>
              <a:tr h="726912">
                <a:tc>
                  <a:txBody>
                    <a:bodyPr/>
                    <a:lstStyle/>
                    <a:p>
                      <a:r>
                        <a:rPr lang="en-US" sz="2800" kern="1200" dirty="0">
                          <a:solidFill>
                            <a:srgbClr val="161616"/>
                          </a:solidFill>
                          <a:latin typeface="Segoe UI" panose="020B0502040204020203" pitchFamily="34" charset="0"/>
                          <a:ea typeface="+mn-ea"/>
                          <a:cs typeface="+mn-cs"/>
                        </a:rPr>
                        <a:t>Quick ad-hoc import/export (GUI)</a:t>
                      </a:r>
                    </a:p>
                  </a:txBody>
                  <a:tcPr/>
                </a:tc>
                <a:tc>
                  <a:txBody>
                    <a:bodyPr/>
                    <a:lstStyle/>
                    <a:p>
                      <a:r>
                        <a:rPr lang="en-US" sz="2800" kern="1200" dirty="0">
                          <a:solidFill>
                            <a:srgbClr val="161616"/>
                          </a:solidFill>
                          <a:latin typeface="Segoe UI" panose="020B0502040204020203" pitchFamily="34" charset="0"/>
                          <a:ea typeface="+mn-ea"/>
                          <a:cs typeface="+mn-cs"/>
                        </a:rPr>
                        <a:t>Import/Export Wizard</a:t>
                      </a:r>
                    </a:p>
                  </a:txBody>
                  <a:tcPr/>
                </a:tc>
                <a:extLst>
                  <a:ext uri="{0D108BD9-81ED-4DB2-BD59-A6C34878D82A}">
                    <a16:rowId xmlns:a16="http://schemas.microsoft.com/office/drawing/2014/main" val="4007011942"/>
                  </a:ext>
                </a:extLst>
              </a:tr>
            </a:tbl>
          </a:graphicData>
        </a:graphic>
      </p:graphicFrame>
    </p:spTree>
    <p:extLst>
      <p:ext uri="{BB962C8B-B14F-4D97-AF65-F5344CB8AC3E}">
        <p14:creationId xmlns:p14="http://schemas.microsoft.com/office/powerpoint/2010/main" val="14157396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ECA41C-F99A-8095-3036-82E7F35FF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4C584-911E-13AA-9B0F-E19890022D0E}"/>
              </a:ext>
            </a:extLst>
          </p:cNvPr>
          <p:cNvSpPr>
            <a:spLocks noGrp="1"/>
          </p:cNvSpPr>
          <p:nvPr>
            <p:ph type="title"/>
          </p:nvPr>
        </p:nvSpPr>
        <p:spPr/>
        <p:txBody>
          <a:bodyPr>
            <a:normAutofit/>
          </a:bodyPr>
          <a:lstStyle/>
          <a:p>
            <a:r>
              <a:rPr lang="en-US" sz="4800" b="1" dirty="0">
                <a:solidFill>
                  <a:schemeClr val="accent2">
                    <a:lumMod val="75000"/>
                  </a:schemeClr>
                </a:solidFill>
              </a:rPr>
              <a:t>Error Handling</a:t>
            </a:r>
          </a:p>
        </p:txBody>
      </p:sp>
      <p:sp>
        <p:nvSpPr>
          <p:cNvPr id="3" name="Content Placeholder 2">
            <a:extLst>
              <a:ext uri="{FF2B5EF4-FFF2-40B4-BE49-F238E27FC236}">
                <a16:creationId xmlns:a16="http://schemas.microsoft.com/office/drawing/2014/main" id="{DFC3359C-C20E-CB92-1AE3-1F9BB5152EB4}"/>
              </a:ext>
            </a:extLst>
          </p:cNvPr>
          <p:cNvSpPr>
            <a:spLocks noGrp="1"/>
          </p:cNvSpPr>
          <p:nvPr>
            <p:ph idx="1"/>
          </p:nvPr>
        </p:nvSpPr>
        <p:spPr/>
        <p:txBody>
          <a:bodyPr>
            <a:normAutofit fontScale="55000" lnSpcReduction="20000"/>
          </a:bodyPr>
          <a:lstStyle/>
          <a:p>
            <a:r>
              <a:rPr lang="en-US" sz="3600" dirty="0">
                <a:solidFill>
                  <a:srgbClr val="161616"/>
                </a:solidFill>
                <a:latin typeface="Segoe UI" panose="020B0502040204020203" pitchFamily="34" charset="0"/>
              </a:rPr>
              <a:t>You can implement error handling for the INSERT statement by specifying the statement in a TRY...CATCH construct.</a:t>
            </a:r>
          </a:p>
          <a:p>
            <a:r>
              <a:rPr lang="en-US" sz="3600" dirty="0">
                <a:solidFill>
                  <a:srgbClr val="161616"/>
                </a:solidFill>
                <a:latin typeface="Segoe UI" panose="020B0502040204020203" pitchFamily="34" charset="0"/>
              </a:rPr>
              <a:t>If an INSERT statement violates a constraint or rule, or if it has a value incompatible with the data type of the column, the statement fails and an error message is returned.</a:t>
            </a:r>
          </a:p>
          <a:p>
            <a:r>
              <a:rPr lang="en-US" sz="3600" dirty="0">
                <a:solidFill>
                  <a:srgbClr val="161616"/>
                </a:solidFill>
                <a:latin typeface="Segoe UI" panose="020B0502040204020203" pitchFamily="34" charset="0"/>
              </a:rPr>
              <a:t>If INSERT is loading multiple rows with SELECT or EXECUTE, any violation of a rule or constraint that occurs from the values being loaded causes the statement to be stopped, and no rows are loaded.</a:t>
            </a:r>
          </a:p>
          <a:p>
            <a:r>
              <a:rPr lang="en-US" sz="3600" dirty="0">
                <a:solidFill>
                  <a:srgbClr val="161616"/>
                </a:solidFill>
                <a:latin typeface="Segoe UI" panose="020B0502040204020203" pitchFamily="34" charset="0"/>
              </a:rPr>
              <a:t>When an INSERT statement encounters an arithmetic error (overflow, divide by zero, or a domain error) occurring during expression evaluation, the Database Engine handles these errors as if SET ARITHABORT is set to ON. The batch is stopped, and an error message is returned. During expression evaluation when SET ARITHABORT and SET ANSI_WARNINGS are OFF, if an INSERT, DELETE or UPDATE statement encounters an arithmetic error, overflow, divide-by-zero, or a domain error, SQL Server inserts or updates a NULL value. If the target column is not nullable, the insert or update action fails and the user receives an error.</a:t>
            </a:r>
          </a:p>
          <a:p>
            <a:pPr marL="457200" lvl="1" indent="0">
              <a:buNone/>
            </a:pPr>
            <a:endParaRPr lang="en-US" dirty="0"/>
          </a:p>
          <a:p>
            <a:pPr lvl="1"/>
            <a:endParaRPr lang="en-US" dirty="0"/>
          </a:p>
        </p:txBody>
      </p:sp>
    </p:spTree>
    <p:extLst>
      <p:ext uri="{BB962C8B-B14F-4D97-AF65-F5344CB8AC3E}">
        <p14:creationId xmlns:p14="http://schemas.microsoft.com/office/powerpoint/2010/main" val="34362107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8DBCC2-A25A-E310-9BE4-5B7597DEB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92D07-415D-BE55-AE00-94F9058E04EA}"/>
              </a:ext>
            </a:extLst>
          </p:cNvPr>
          <p:cNvSpPr>
            <a:spLocks noGrp="1"/>
          </p:cNvSpPr>
          <p:nvPr>
            <p:ph type="title"/>
          </p:nvPr>
        </p:nvSpPr>
        <p:spPr/>
        <p:txBody>
          <a:bodyPr>
            <a:normAutofit/>
          </a:bodyPr>
          <a:lstStyle/>
          <a:p>
            <a:pPr algn="l">
              <a:spcBef>
                <a:spcPts val="2400"/>
              </a:spcBef>
              <a:spcAft>
                <a:spcPts val="900"/>
              </a:spcAft>
            </a:pPr>
            <a:r>
              <a:rPr lang="en-US" sz="4800" b="1" dirty="0">
                <a:solidFill>
                  <a:schemeClr val="accent2">
                    <a:lumMod val="75000"/>
                  </a:schemeClr>
                </a:solidFill>
              </a:rPr>
              <a:t>Limitations and Restrictions</a:t>
            </a:r>
          </a:p>
        </p:txBody>
      </p:sp>
      <p:sp>
        <p:nvSpPr>
          <p:cNvPr id="3" name="Content Placeholder 2">
            <a:extLst>
              <a:ext uri="{FF2B5EF4-FFF2-40B4-BE49-F238E27FC236}">
                <a16:creationId xmlns:a16="http://schemas.microsoft.com/office/drawing/2014/main" id="{C0AFA3F1-8B72-6722-9BA9-C7B89335B496}"/>
              </a:ext>
            </a:extLst>
          </p:cNvPr>
          <p:cNvSpPr>
            <a:spLocks noGrp="1"/>
          </p:cNvSpPr>
          <p:nvPr>
            <p:ph idx="1"/>
          </p:nvPr>
        </p:nvSpPr>
        <p:spPr/>
        <p:txBody>
          <a:bodyPr>
            <a:normAutofit fontScale="70000" lnSpcReduction="20000"/>
          </a:bodyPr>
          <a:lstStyle/>
          <a:p>
            <a:pPr algn="l">
              <a:buNone/>
            </a:pPr>
            <a:r>
              <a:rPr lang="en-US" sz="3300" dirty="0">
                <a:solidFill>
                  <a:srgbClr val="161616"/>
                </a:solidFill>
                <a:latin typeface="Segoe UI" panose="020B0502040204020203" pitchFamily="34" charset="0"/>
              </a:rPr>
              <a:t>When you insert values into remote tables and not all values for all columns are specified, you must identify the columns to which the specified values are to be inserted.</a:t>
            </a:r>
          </a:p>
          <a:p>
            <a:pPr algn="l">
              <a:buNone/>
            </a:pPr>
            <a:r>
              <a:rPr lang="en-US" sz="3300" dirty="0">
                <a:solidFill>
                  <a:srgbClr val="161616"/>
                </a:solidFill>
                <a:latin typeface="Segoe UI" panose="020B0502040204020203" pitchFamily="34" charset="0"/>
              </a:rPr>
              <a:t>When TOP is used with INSERT the referenced rows are not arranged in any order and the ORDER BY clause can not be directly specified in this statements. If you need to use TOP to insert rows in a meaningful chronological order, you must use TOP together with an ORDER BY clause that is specified in a </a:t>
            </a:r>
            <a:r>
              <a:rPr lang="en-US" sz="3300" dirty="0" err="1">
                <a:solidFill>
                  <a:srgbClr val="161616"/>
                </a:solidFill>
                <a:latin typeface="Segoe UI" panose="020B0502040204020203" pitchFamily="34" charset="0"/>
              </a:rPr>
              <a:t>subselect</a:t>
            </a:r>
            <a:r>
              <a:rPr lang="en-US" sz="3300" dirty="0">
                <a:solidFill>
                  <a:srgbClr val="161616"/>
                </a:solidFill>
                <a:latin typeface="Segoe UI" panose="020B0502040204020203" pitchFamily="34" charset="0"/>
              </a:rPr>
              <a:t> statement. See the Examples section that follows in this topic.</a:t>
            </a:r>
          </a:p>
          <a:p>
            <a:pPr algn="l">
              <a:buNone/>
            </a:pPr>
            <a:r>
              <a:rPr lang="en-US" sz="3300" dirty="0">
                <a:solidFill>
                  <a:srgbClr val="161616"/>
                </a:solidFill>
                <a:latin typeface="Segoe UI" panose="020B0502040204020203" pitchFamily="34" charset="0"/>
              </a:rPr>
              <a:t>INSERT queries that use SELECT with ORDER BY to populate rows guarantees how identity values are computed but not the order in which the rows are inserted.</a:t>
            </a:r>
          </a:p>
          <a:p>
            <a:pPr algn="l"/>
            <a:r>
              <a:rPr lang="en-US" sz="3300" dirty="0">
                <a:solidFill>
                  <a:srgbClr val="161616"/>
                </a:solidFill>
                <a:latin typeface="Segoe UI" panose="020B0502040204020203" pitchFamily="34" charset="0"/>
              </a:rPr>
              <a:t>In Parallel Data Warehouse, the ORDER BY clause is invalid in VIEWS, CREATE TABLE AS SELECT, INSERT SELECT, inline functions, derived tables, subqueries and common table expressions, unless TOP is also specified.</a:t>
            </a:r>
          </a:p>
          <a:p>
            <a:pPr marL="457200" lvl="1" indent="0">
              <a:buNone/>
            </a:pPr>
            <a:endParaRPr lang="en-US" dirty="0"/>
          </a:p>
          <a:p>
            <a:pPr lvl="1"/>
            <a:endParaRPr lang="en-US" dirty="0"/>
          </a:p>
        </p:txBody>
      </p:sp>
    </p:spTree>
    <p:extLst>
      <p:ext uri="{BB962C8B-B14F-4D97-AF65-F5344CB8AC3E}">
        <p14:creationId xmlns:p14="http://schemas.microsoft.com/office/powerpoint/2010/main" val="706576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AE5B1C-CA1E-57F3-C48C-A4B831A06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C3E5F-6787-24FE-549C-6011FC17EF93}"/>
              </a:ext>
            </a:extLst>
          </p:cNvPr>
          <p:cNvSpPr>
            <a:spLocks noGrp="1"/>
          </p:cNvSpPr>
          <p:nvPr>
            <p:ph type="title"/>
          </p:nvPr>
        </p:nvSpPr>
        <p:spPr/>
        <p:txBody>
          <a:bodyPr>
            <a:normAutofit/>
          </a:bodyPr>
          <a:lstStyle/>
          <a:p>
            <a:r>
              <a:rPr lang="en-US" sz="4800" b="1" dirty="0">
                <a:solidFill>
                  <a:schemeClr val="accent2">
                    <a:lumMod val="75000"/>
                  </a:schemeClr>
                </a:solidFill>
              </a:rPr>
              <a:t>Logging Behavior</a:t>
            </a:r>
          </a:p>
        </p:txBody>
      </p:sp>
      <p:sp>
        <p:nvSpPr>
          <p:cNvPr id="3" name="Content Placeholder 2">
            <a:extLst>
              <a:ext uri="{FF2B5EF4-FFF2-40B4-BE49-F238E27FC236}">
                <a16:creationId xmlns:a16="http://schemas.microsoft.com/office/drawing/2014/main" id="{7E035BF9-6DD0-1410-2987-85EDC9C5ABC2}"/>
              </a:ext>
            </a:extLst>
          </p:cNvPr>
          <p:cNvSpPr>
            <a:spLocks noGrp="1"/>
          </p:cNvSpPr>
          <p:nvPr>
            <p:ph idx="1"/>
          </p:nvPr>
        </p:nvSpPr>
        <p:spPr/>
        <p:txBody>
          <a:bodyPr>
            <a:normAutofit/>
          </a:bodyPr>
          <a:lstStyle/>
          <a:p>
            <a:pPr marL="457200" lvl="1" indent="0">
              <a:buNone/>
            </a:pPr>
            <a:r>
              <a:rPr lang="en-US" sz="2800" dirty="0">
                <a:solidFill>
                  <a:srgbClr val="161616"/>
                </a:solidFill>
                <a:latin typeface="Segoe UI" panose="020B0502040204020203" pitchFamily="34" charset="0"/>
              </a:rPr>
              <a:t>The INSERT statement is always fully logged except when using the OPENROWSET function with the BULK keyword or when using INSERT INTO &lt;</a:t>
            </a:r>
            <a:r>
              <a:rPr lang="en-US" sz="2800" dirty="0" err="1">
                <a:solidFill>
                  <a:srgbClr val="161616"/>
                </a:solidFill>
                <a:latin typeface="Segoe UI" panose="020B0502040204020203" pitchFamily="34" charset="0"/>
              </a:rPr>
              <a:t>target_table</a:t>
            </a:r>
            <a:r>
              <a:rPr lang="en-US" sz="2800" dirty="0">
                <a:solidFill>
                  <a:srgbClr val="161616"/>
                </a:solidFill>
                <a:latin typeface="Segoe UI" panose="020B0502040204020203" pitchFamily="34" charset="0"/>
              </a:rPr>
              <a:t>&gt; SELECT &lt;columns&gt; FROM &lt;</a:t>
            </a:r>
            <a:r>
              <a:rPr lang="en-US" sz="2800" dirty="0" err="1">
                <a:solidFill>
                  <a:srgbClr val="161616"/>
                </a:solidFill>
                <a:latin typeface="Segoe UI" panose="020B0502040204020203" pitchFamily="34" charset="0"/>
              </a:rPr>
              <a:t>source_table</a:t>
            </a:r>
            <a:r>
              <a:rPr lang="en-US" sz="2800" dirty="0">
                <a:solidFill>
                  <a:srgbClr val="161616"/>
                </a:solidFill>
                <a:latin typeface="Segoe UI" panose="020B0502040204020203" pitchFamily="34" charset="0"/>
              </a:rPr>
              <a:t>&gt;. These operations can be minimally logged. For more information, see the section "Best Practices for Bulk Loading Data" earlier in this topic. </a:t>
            </a:r>
          </a:p>
          <a:p>
            <a:pPr lvl="1"/>
            <a:endParaRPr lang="en-US" dirty="0"/>
          </a:p>
        </p:txBody>
      </p:sp>
    </p:spTree>
    <p:extLst>
      <p:ext uri="{BB962C8B-B14F-4D97-AF65-F5344CB8AC3E}">
        <p14:creationId xmlns:p14="http://schemas.microsoft.com/office/powerpoint/2010/main" val="1003823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36226</TotalTime>
  <Words>3375</Words>
  <Application>Microsoft Office PowerPoint</Application>
  <PresentationFormat>Widescreen</PresentationFormat>
  <Paragraphs>618</Paragraphs>
  <Slides>62</Slides>
  <Notes>3</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-apple-system</vt:lpstr>
      <vt:lpstr>Aptos</vt:lpstr>
      <vt:lpstr>Aptos Display</vt:lpstr>
      <vt:lpstr>Arial</vt:lpstr>
      <vt:lpstr>Consolas</vt:lpstr>
      <vt:lpstr>inherit</vt:lpstr>
      <vt:lpstr>Roboto</vt:lpstr>
      <vt:lpstr>Roboto Mono</vt:lpstr>
      <vt:lpstr>Segoe UI</vt:lpstr>
      <vt:lpstr>Office Theme</vt:lpstr>
      <vt:lpstr>Load Data Faster into SQL Server Tables</vt:lpstr>
      <vt:lpstr>Haripriya Naidu</vt:lpstr>
      <vt:lpstr>Agenda</vt:lpstr>
      <vt:lpstr>What is the problem I’m solving</vt:lpstr>
      <vt:lpstr>What is Bulk Data</vt:lpstr>
      <vt:lpstr>Why It's Slow and How to Speed It Up</vt:lpstr>
      <vt:lpstr>Methods to Load Data</vt:lpstr>
      <vt:lpstr>1. Insert..Select</vt:lpstr>
      <vt:lpstr>1.1 Insert..Select with Tablock</vt:lpstr>
      <vt:lpstr>What is TABLOCK hint </vt:lpstr>
      <vt:lpstr>When to use TABLOCK</vt:lpstr>
      <vt:lpstr>Benefits of TABLOCK hint</vt:lpstr>
      <vt:lpstr>Benefits of TABLOCK hint</vt:lpstr>
      <vt:lpstr>Locking behavior</vt:lpstr>
      <vt:lpstr>Scenarios to use Tablock</vt:lpstr>
      <vt:lpstr>When NOT to use TABLOCK</vt:lpstr>
      <vt:lpstr>Recap – Insert..Select</vt:lpstr>
      <vt:lpstr>2. Select into </vt:lpstr>
      <vt:lpstr>3.1 Insert..Select - Openrowset</vt:lpstr>
      <vt:lpstr>3.2 Openrowset - Bulk hint</vt:lpstr>
      <vt:lpstr>3.3 Openrowset – Order clause</vt:lpstr>
      <vt:lpstr>Quick tip - Order clause</vt:lpstr>
      <vt:lpstr>3.4 Openrowset – Tablock</vt:lpstr>
      <vt:lpstr>Recap - Openrowset</vt:lpstr>
      <vt:lpstr>DEMO</vt:lpstr>
      <vt:lpstr>4. Bulk Insert</vt:lpstr>
      <vt:lpstr>4.1 Bulk Insert - Tablock</vt:lpstr>
      <vt:lpstr>4.2 Bulk Insert – Native format</vt:lpstr>
      <vt:lpstr>4.3 Bulk Insert – Indexed tables</vt:lpstr>
      <vt:lpstr>Recap- Bulk Insert</vt:lpstr>
      <vt:lpstr>Quick Note - Insert Bulk</vt:lpstr>
      <vt:lpstr>5. bcp </vt:lpstr>
      <vt:lpstr>5.1 bcp – Native Format</vt:lpstr>
      <vt:lpstr>5.2 bcp – Order to Export</vt:lpstr>
      <vt:lpstr>5.3 bcp – Order to Import</vt:lpstr>
      <vt:lpstr>5.4 bcp - Tablock hint</vt:lpstr>
      <vt:lpstr>Recap - bcp</vt:lpstr>
      <vt:lpstr>6. dbatools</vt:lpstr>
      <vt:lpstr>6.1 Write-DbaDbTableData </vt:lpstr>
      <vt:lpstr>6.2 Copy-DbaDbTableData </vt:lpstr>
      <vt:lpstr>6.3 Script</vt:lpstr>
      <vt:lpstr> 6.4 Import-DbaCsv </vt:lpstr>
      <vt:lpstr> Recap - dbatools </vt:lpstr>
      <vt:lpstr>DEMO</vt:lpstr>
      <vt:lpstr>7. Import and Export Wizard</vt:lpstr>
      <vt:lpstr>Summary</vt:lpstr>
      <vt:lpstr>Key Factors to Fast Load</vt:lpstr>
      <vt:lpstr>Locks</vt:lpstr>
      <vt:lpstr> Load faster for FULL recovery model</vt:lpstr>
      <vt:lpstr>Load faster for indexed tables</vt:lpstr>
      <vt:lpstr>Fast Load - By Method &amp; Optimization </vt:lpstr>
      <vt:lpstr>Fast Load - By Method &amp; Optimization </vt:lpstr>
      <vt:lpstr>Fast Load - By Method &amp; Optimization </vt:lpstr>
      <vt:lpstr>Fast Load – By Scenario</vt:lpstr>
      <vt:lpstr>PowerPoint Presentation</vt:lpstr>
      <vt:lpstr>Resources</vt:lpstr>
      <vt:lpstr>PowerPoint Presentation</vt:lpstr>
      <vt:lpstr>Write Your Own Bulk Load Method  </vt:lpstr>
      <vt:lpstr>PowerPoint Presentation</vt:lpstr>
      <vt:lpstr>Error Handling</vt:lpstr>
      <vt:lpstr>Limitations and Restrictions</vt:lpstr>
      <vt:lpstr>Logging Behavior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Haripriya Naidu</dc:creator>
  <cp:lastModifiedBy>Haripriya Naidu</cp:lastModifiedBy>
  <cp:revision>702</cp:revision>
  <dcterms:created xsi:type="dcterms:W3CDTF">2025-01-17T16:46:44Z</dcterms:created>
  <dcterms:modified xsi:type="dcterms:W3CDTF">2025-05-06T18:23:14Z</dcterms:modified>
</cp:coreProperties>
</file>